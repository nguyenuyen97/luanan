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7"/>
  </p:sldMasterIdLst>
  <p:notesMasterIdLst>
    <p:notesMasterId r:id="rId24"/>
  </p:notesMasterIdLst>
  <p:sldIdLst>
    <p:sldId id="1985" r:id="rId8"/>
    <p:sldId id="2111" r:id="rId9"/>
    <p:sldId id="2044" r:id="rId10"/>
    <p:sldId id="2058" r:id="rId11"/>
    <p:sldId id="2304" r:id="rId12"/>
    <p:sldId id="2102" r:id="rId13"/>
    <p:sldId id="2297" r:id="rId14"/>
    <p:sldId id="2339" r:id="rId15"/>
    <p:sldId id="2343" r:id="rId16"/>
    <p:sldId id="2344" r:id="rId17"/>
    <p:sldId id="2316" r:id="rId18"/>
    <p:sldId id="1677" r:id="rId19"/>
    <p:sldId id="2342" r:id="rId20"/>
    <p:sldId id="2086" r:id="rId21"/>
    <p:sldId id="2331" r:id="rId22"/>
    <p:sldId id="270"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24E5293-0A1D-4E84-AAA9-24E5D08F3C66}">
          <p14:sldIdLst>
            <p14:sldId id="1985"/>
            <p14:sldId id="2111"/>
            <p14:sldId id="2044"/>
            <p14:sldId id="2058"/>
            <p14:sldId id="2304"/>
            <p14:sldId id="2102"/>
            <p14:sldId id="2297"/>
            <p14:sldId id="2339"/>
            <p14:sldId id="2343"/>
            <p14:sldId id="2344"/>
            <p14:sldId id="2316"/>
            <p14:sldId id="1677"/>
            <p14:sldId id="2342"/>
            <p14:sldId id="2086"/>
            <p14:sldId id="2331"/>
            <p14:sldId id="27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7985F01-579C-EF6E-823D-B2E2DE6981E4}" name="KOZLUK Tomasz, ECO/FO" initials="TK" userId="S::Tomasz.KOZLUK@oecd.org::a2b3a4d0-29b2-4709-8cae-7618d2437f4c" providerId="AD"/>
  <p188:author id="{C62DC658-44D1-55AF-0F93-D5A33D0144A2}" name="OPINSKY Molly, ECO/FO" initials="MO" userId="S::Molly.OPINSKY@oecd.org::c9c0752f-6572-48c8-bafd-b6a60af30ddf" providerId="AD"/>
  <p188:author id="{FCC00D5A-9FFB-D407-B867-5E1BA252E269}" name="GARCIA SOTO Natalia Andrea, ECO/FO" initials="NG" userId="S::NataliaAndrea.GARCIASOTO@oecd.org::bc3aab5d-8a1f-4d6f-9992-e581083791b3" providerId="AD"/>
  <p188:author id="{6B6F4F63-8E57-0364-2015-31DF1683AC0F}" name="CASTLE Cassie, ECO/FO" initials="CC" userId="S::Cassie.CASTLE@oecd.org::c49c2c97-4eb2-4698-80e6-b6d41e7d0daa" providerId="AD"/>
  <p188:author id="{D42F5873-0718-9945-C03D-D2B0501254F7}" name="BETSCHKA Laura, ECO/FO" initials="LB" userId="S::Laura.BETSCHKA@oecd.org::f0acc324-3a95-448a-84ee-8ae868665561" providerId="AD"/>
  <p188:author id="{EF061ECD-62A6-CA9E-4DCE-3FAA633CE170}" name="MIYAHARA Takashi, ECO/FO" initials="TM" userId="S::Takashi.MIYAHARA@oecd.org::f595feb8-58a5-4584-8b12-0be2d12e37ad" providerId="AD"/>
  <p188:author id="{819816CE-D55E-B78F-C03D-8E1C03FAE0B8}" name="SHIN Young-Hyun, ECO/FO" initials="YS" userId="S::Young-Hyun.SHIN@oecd.org::b151cdfe-2595-4a8c-9ca9-552809afddb0" providerId="AD"/>
  <p188:author id="{1609AFD5-3C40-EF0B-0307-DF3669D68B69}" name="SIVAKUMAR Nivetha, ECO/FO" initials="NS" userId="S::Nivetha.SIVAKUMAR@oecd.org::da45dd76-edcd-4de1-a454-5c33445139dc" providerId="AD"/>
  <p188:author id="{D550B8DF-70B3-3A61-9D71-68A9F32B8F52}" name="GLANVILLE Max, ECO/FO" initials="MG" userId="S::Max.GLANVILLE@oecd.org::47628c7d-a7e8-4927-9d22-6c34103202dc" providerId="AD"/>
  <p188:author id="{C0492AF9-F466-1369-F5AE-9377027A3C40}" name="DLUGOSCH Dennis, ECO/FO" initials="DD" userId="S::Dennis.DLUGOSCH@oecd.org::037b27bb-6307-4eed-857d-0b79c63a5b7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365D1"/>
    <a:srgbClr val="305480"/>
    <a:srgbClr val="006600"/>
    <a:srgbClr val="008000"/>
    <a:srgbClr val="009900"/>
    <a:srgbClr val="647D33"/>
    <a:srgbClr val="492062"/>
    <a:srgbClr val="376091"/>
    <a:srgbClr val="CC00CC"/>
    <a:srgbClr val="C000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94404" autoAdjust="0"/>
  </p:normalViewPr>
  <p:slideViewPr>
    <p:cSldViewPr snapToGrid="0">
      <p:cViewPr varScale="1">
        <p:scale>
          <a:sx n="104" d="100"/>
          <a:sy n="104" d="100"/>
        </p:scale>
        <p:origin x="984" y="114"/>
      </p:cViewPr>
      <p:guideLst/>
    </p:cSldViewPr>
  </p:slideViewPr>
  <p:outlineViewPr>
    <p:cViewPr>
      <p:scale>
        <a:sx n="33" d="100"/>
        <a:sy n="33" d="100"/>
      </p:scale>
      <p:origin x="0" y="-57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1.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4.xml"/><Relationship Id="rId24" Type="http://schemas.openxmlformats.org/officeDocument/2006/relationships/notesMaster" Target="notesMasters/notesMaster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56A5DD-29E9-466C-829A-4D4205054F3E}" type="datetimeFigureOut">
              <a:rPr lang="en-GB" smtClean="0"/>
              <a:t>02/06/2026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75C6C-A4EB-41AF-88BB-C317638284E2}" type="slidenum">
              <a:rPr lang="en-GB" smtClean="0"/>
              <a:t>‹#›</a:t>
            </a:fld>
            <a:endParaRPr lang="en-GB"/>
          </a:p>
        </p:txBody>
      </p:sp>
    </p:spTree>
    <p:extLst>
      <p:ext uri="{BB962C8B-B14F-4D97-AF65-F5344CB8AC3E}">
        <p14:creationId xmlns:p14="http://schemas.microsoft.com/office/powerpoint/2010/main" val="1910774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7475C6C-A4EB-41AF-88BB-C317638284E2}" type="slidenum">
              <a:rPr lang="en-GB" smtClean="0"/>
              <a:t>1</a:t>
            </a:fld>
            <a:endParaRPr lang="en-GB"/>
          </a:p>
        </p:txBody>
      </p:sp>
    </p:spTree>
    <p:extLst>
      <p:ext uri="{BB962C8B-B14F-4D97-AF65-F5344CB8AC3E}">
        <p14:creationId xmlns:p14="http://schemas.microsoft.com/office/powerpoint/2010/main" val="3067739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97475C6C-A4EB-41AF-88BB-C317638284E2}" type="slidenum">
              <a:rPr lang="en-GB" smtClean="0"/>
              <a:t>2</a:t>
            </a:fld>
            <a:endParaRPr lang="en-GB"/>
          </a:p>
        </p:txBody>
      </p:sp>
    </p:spTree>
    <p:extLst>
      <p:ext uri="{BB962C8B-B14F-4D97-AF65-F5344CB8AC3E}">
        <p14:creationId xmlns:p14="http://schemas.microsoft.com/office/powerpoint/2010/main" val="1002978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97475C6C-A4EB-41AF-88BB-C317638284E2}" type="slidenum">
              <a:rPr lang="en-GB" smtClean="0"/>
              <a:t>3</a:t>
            </a:fld>
            <a:endParaRPr lang="en-GB"/>
          </a:p>
        </p:txBody>
      </p:sp>
    </p:spTree>
    <p:extLst>
      <p:ext uri="{BB962C8B-B14F-4D97-AF65-F5344CB8AC3E}">
        <p14:creationId xmlns:p14="http://schemas.microsoft.com/office/powerpoint/2010/main" val="1183504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475C6C-A4EB-41AF-88BB-C317638284E2}" type="slidenum">
              <a:rPr lang="en-GB" smtClean="0"/>
              <a:t>4</a:t>
            </a:fld>
            <a:endParaRPr lang="en-GB"/>
          </a:p>
        </p:txBody>
      </p:sp>
    </p:spTree>
    <p:extLst>
      <p:ext uri="{BB962C8B-B14F-4D97-AF65-F5344CB8AC3E}">
        <p14:creationId xmlns:p14="http://schemas.microsoft.com/office/powerpoint/2010/main" val="1814241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97475C6C-A4EB-41AF-88BB-C317638284E2}" type="slidenum">
              <a:rPr lang="en-GB" smtClean="0"/>
              <a:t>5</a:t>
            </a:fld>
            <a:endParaRPr lang="en-GB"/>
          </a:p>
        </p:txBody>
      </p:sp>
    </p:spTree>
    <p:extLst>
      <p:ext uri="{BB962C8B-B14F-4D97-AF65-F5344CB8AC3E}">
        <p14:creationId xmlns:p14="http://schemas.microsoft.com/office/powerpoint/2010/main" val="3387977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97475C6C-A4EB-41AF-88BB-C317638284E2}" type="slidenum">
              <a:rPr lang="en-GB" smtClean="0"/>
              <a:t>6</a:t>
            </a:fld>
            <a:endParaRPr lang="en-GB"/>
          </a:p>
        </p:txBody>
      </p:sp>
    </p:spTree>
    <p:extLst>
      <p:ext uri="{BB962C8B-B14F-4D97-AF65-F5344CB8AC3E}">
        <p14:creationId xmlns:p14="http://schemas.microsoft.com/office/powerpoint/2010/main" val="3286835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F2D17-3417-C14E-DDF4-EB09FE1EB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86390-7ED0-BA98-743D-7EE9C018A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C5F15D-3B58-370D-2922-3866C00CCF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D7177B-EB9E-34B7-62A7-FB6F4EB40CCB}"/>
              </a:ext>
            </a:extLst>
          </p:cNvPr>
          <p:cNvSpPr>
            <a:spLocks noGrp="1"/>
          </p:cNvSpPr>
          <p:nvPr>
            <p:ph type="sldNum" sz="quarter" idx="5"/>
          </p:nvPr>
        </p:nvSpPr>
        <p:spPr/>
        <p:txBody>
          <a:bodyPr/>
          <a:lstStyle/>
          <a:p>
            <a:fld id="{97475C6C-A4EB-41AF-88BB-C317638284E2}" type="slidenum">
              <a:rPr lang="en-GB" smtClean="0"/>
              <a:t>7</a:t>
            </a:fld>
            <a:endParaRPr lang="en-GB"/>
          </a:p>
        </p:txBody>
      </p:sp>
    </p:spTree>
    <p:extLst>
      <p:ext uri="{BB962C8B-B14F-4D97-AF65-F5344CB8AC3E}">
        <p14:creationId xmlns:p14="http://schemas.microsoft.com/office/powerpoint/2010/main" val="21939761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F8452-FFF8-62AC-AC35-4B03BBBF41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423665-447E-2552-2FAA-2F7DD86A8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B885E-E212-4578-6246-2C9E71BDC5EE}"/>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4E511D3F-6A61-43B0-6A1E-AECE2B92DDB6}"/>
              </a:ext>
            </a:extLst>
          </p:cNvPr>
          <p:cNvSpPr>
            <a:spLocks noGrp="1"/>
          </p:cNvSpPr>
          <p:nvPr>
            <p:ph type="sldNum" sz="quarter" idx="5"/>
          </p:nvPr>
        </p:nvSpPr>
        <p:spPr/>
        <p:txBody>
          <a:bodyPr/>
          <a:lstStyle/>
          <a:p>
            <a:fld id="{97475C6C-A4EB-41AF-88BB-C317638284E2}" type="slidenum">
              <a:rPr lang="en-GB" smtClean="0"/>
              <a:t>8</a:t>
            </a:fld>
            <a:endParaRPr lang="en-GB"/>
          </a:p>
        </p:txBody>
      </p:sp>
    </p:spTree>
    <p:extLst>
      <p:ext uri="{BB962C8B-B14F-4D97-AF65-F5344CB8AC3E}">
        <p14:creationId xmlns:p14="http://schemas.microsoft.com/office/powerpoint/2010/main" val="34000318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97475C6C-A4EB-41AF-88BB-C317638284E2}" type="slidenum">
              <a:rPr lang="en-GB" smtClean="0"/>
              <a:t>9</a:t>
            </a:fld>
            <a:endParaRPr lang="en-GB"/>
          </a:p>
        </p:txBody>
      </p:sp>
    </p:spTree>
    <p:extLst>
      <p:ext uri="{BB962C8B-B14F-4D97-AF65-F5344CB8AC3E}">
        <p14:creationId xmlns:p14="http://schemas.microsoft.com/office/powerpoint/2010/main" val="2908844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87B6A-44EE-B8D4-1F82-D5FBA9CBA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7652B-0869-F8F8-C9CF-D85BB653D3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28BB32-332B-4C51-DFCB-30F918F25FEF}"/>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C01539AB-F982-A897-8E25-5F9B113306ED}"/>
              </a:ext>
            </a:extLst>
          </p:cNvPr>
          <p:cNvSpPr>
            <a:spLocks noGrp="1"/>
          </p:cNvSpPr>
          <p:nvPr>
            <p:ph type="sldNum" sz="quarter" idx="5"/>
          </p:nvPr>
        </p:nvSpPr>
        <p:spPr/>
        <p:txBody>
          <a:bodyPr/>
          <a:lstStyle/>
          <a:p>
            <a:fld id="{97475C6C-A4EB-41AF-88BB-C317638284E2}" type="slidenum">
              <a:rPr lang="en-GB" smtClean="0"/>
              <a:t>10</a:t>
            </a:fld>
            <a:endParaRPr lang="en-GB"/>
          </a:p>
        </p:txBody>
      </p:sp>
    </p:spTree>
    <p:extLst>
      <p:ext uri="{BB962C8B-B14F-4D97-AF65-F5344CB8AC3E}">
        <p14:creationId xmlns:p14="http://schemas.microsoft.com/office/powerpoint/2010/main" val="1783480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7F217-6F9B-1784-4024-7CB8B8E2D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A44B75-1BD7-19C9-A644-B4A80DE0FE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EF351E-7E4B-80B9-B472-E5A5A518843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5CC3798-43A9-FAFD-0C45-676A45F90C3D}"/>
              </a:ext>
            </a:extLst>
          </p:cNvPr>
          <p:cNvSpPr>
            <a:spLocks noGrp="1"/>
          </p:cNvSpPr>
          <p:nvPr>
            <p:ph type="sldNum" sz="quarter" idx="5"/>
          </p:nvPr>
        </p:nvSpPr>
        <p:spPr/>
        <p:txBody>
          <a:bodyPr/>
          <a:lstStyle/>
          <a:p>
            <a:fld id="{97475C6C-A4EB-41AF-88BB-C317638284E2}" type="slidenum">
              <a:rPr lang="en-GB" smtClean="0"/>
              <a:t>11</a:t>
            </a:fld>
            <a:endParaRPr lang="en-GB"/>
          </a:p>
        </p:txBody>
      </p:sp>
    </p:spTree>
    <p:extLst>
      <p:ext uri="{BB962C8B-B14F-4D97-AF65-F5344CB8AC3E}">
        <p14:creationId xmlns:p14="http://schemas.microsoft.com/office/powerpoint/2010/main" val="16483266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475C6C-A4EB-41AF-88BB-C317638284E2}" type="slidenum">
              <a:rPr lang="en-GB" smtClean="0"/>
              <a:t>12</a:t>
            </a:fld>
            <a:endParaRPr lang="en-GB"/>
          </a:p>
        </p:txBody>
      </p:sp>
    </p:spTree>
    <p:extLst>
      <p:ext uri="{BB962C8B-B14F-4D97-AF65-F5344CB8AC3E}">
        <p14:creationId xmlns:p14="http://schemas.microsoft.com/office/powerpoint/2010/main" val="352135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475C6C-A4EB-41AF-88BB-C317638284E2}" type="slidenum">
              <a:rPr lang="en-GB" smtClean="0"/>
              <a:t>13</a:t>
            </a:fld>
            <a:endParaRPr lang="en-GB"/>
          </a:p>
        </p:txBody>
      </p:sp>
    </p:spTree>
    <p:extLst>
      <p:ext uri="{BB962C8B-B14F-4D97-AF65-F5344CB8AC3E}">
        <p14:creationId xmlns:p14="http://schemas.microsoft.com/office/powerpoint/2010/main" val="3229010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475C6C-A4EB-41AF-88BB-C317638284E2}" type="slidenum">
              <a:rPr lang="en-GB" smtClean="0"/>
              <a:t>14</a:t>
            </a:fld>
            <a:endParaRPr lang="en-GB"/>
          </a:p>
        </p:txBody>
      </p:sp>
    </p:spTree>
    <p:extLst>
      <p:ext uri="{BB962C8B-B14F-4D97-AF65-F5344CB8AC3E}">
        <p14:creationId xmlns:p14="http://schemas.microsoft.com/office/powerpoint/2010/main" val="3928206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D6866-3D3F-80D9-8EB4-5FE489AC81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9F0FB2-91EC-8B95-FD88-1EA4E8DDF4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938358-8027-9B93-3323-9630F84587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4A5A71-E7AF-2C41-20FB-C39B5CD0B05D}"/>
              </a:ext>
            </a:extLst>
          </p:cNvPr>
          <p:cNvSpPr>
            <a:spLocks noGrp="1"/>
          </p:cNvSpPr>
          <p:nvPr>
            <p:ph type="sldNum" sz="quarter" idx="5"/>
          </p:nvPr>
        </p:nvSpPr>
        <p:spPr/>
        <p:txBody>
          <a:bodyPr/>
          <a:lstStyle/>
          <a:p>
            <a:fld id="{97475C6C-A4EB-41AF-88BB-C317638284E2}" type="slidenum">
              <a:rPr lang="en-GB" smtClean="0"/>
              <a:t>15</a:t>
            </a:fld>
            <a:endParaRPr lang="en-GB"/>
          </a:p>
        </p:txBody>
      </p:sp>
    </p:spTree>
    <p:extLst>
      <p:ext uri="{BB962C8B-B14F-4D97-AF65-F5344CB8AC3E}">
        <p14:creationId xmlns:p14="http://schemas.microsoft.com/office/powerpoint/2010/main" val="34396016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cover">
    <p:bg>
      <p:bgPr>
        <a:solidFill>
          <a:srgbClr val="042C4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66E8EBF-CFB7-F290-A223-868833359D15}"/>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Slide Number Placeholder 2">
            <a:extLst>
              <a:ext uri="{FF2B5EF4-FFF2-40B4-BE49-F238E27FC236}">
                <a16:creationId xmlns:a16="http://schemas.microsoft.com/office/drawing/2014/main" id="{E430B0CA-4F17-E9C8-28F8-C5E6503EBF86}"/>
              </a:ext>
            </a:extLst>
          </p:cNvPr>
          <p:cNvSpPr>
            <a:spLocks noGrp="1"/>
          </p:cNvSpPr>
          <p:nvPr>
            <p:ph type="sldNum" sz="quarter" idx="10"/>
          </p:nvPr>
        </p:nvSpPr>
        <p:spPr/>
        <p:txBody>
          <a:bodyPr/>
          <a:lstStyle/>
          <a:p>
            <a:fld id="{C88BD8DC-0F29-4F44-900B-940C0349A13F}" type="slidenum">
              <a:rPr lang="en-GB" smtClean="0"/>
              <a:t>‹#›</a:t>
            </a:fld>
            <a:endParaRPr lang="en-GB"/>
          </a:p>
        </p:txBody>
      </p:sp>
      <p:cxnSp>
        <p:nvCxnSpPr>
          <p:cNvPr id="7" name="Straight Connector 6">
            <a:extLst>
              <a:ext uri="{FF2B5EF4-FFF2-40B4-BE49-F238E27FC236}">
                <a16:creationId xmlns:a16="http://schemas.microsoft.com/office/drawing/2014/main" id="{1A8BE07A-0512-C3FE-6DF4-E3B7CFA8EF21}"/>
              </a:ext>
            </a:extLst>
          </p:cNvPr>
          <p:cNvCxnSpPr/>
          <p:nvPr userDrawn="1"/>
        </p:nvCxnSpPr>
        <p:spPr>
          <a:xfrm>
            <a:off x="4666268" y="1835870"/>
            <a:ext cx="0" cy="318626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Picture 7" descr="A white circle with a black background&#10;&#10;Description automatically generated">
            <a:extLst>
              <a:ext uri="{FF2B5EF4-FFF2-40B4-BE49-F238E27FC236}">
                <a16:creationId xmlns:a16="http://schemas.microsoft.com/office/drawing/2014/main" id="{7985DD6A-6417-4F1F-189F-56C608C8F21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43467" y="6149483"/>
            <a:ext cx="1697944" cy="433454"/>
          </a:xfrm>
          <a:prstGeom prst="rect">
            <a:avLst/>
          </a:prstGeom>
        </p:spPr>
      </p:pic>
      <p:sp>
        <p:nvSpPr>
          <p:cNvPr id="11" name="Text Placeholder 10">
            <a:extLst>
              <a:ext uri="{FF2B5EF4-FFF2-40B4-BE49-F238E27FC236}">
                <a16:creationId xmlns:a16="http://schemas.microsoft.com/office/drawing/2014/main" id="{29A2D204-F4FB-4B81-F86B-6DFBB3612607}"/>
              </a:ext>
            </a:extLst>
          </p:cNvPr>
          <p:cNvSpPr>
            <a:spLocks noGrp="1"/>
          </p:cNvSpPr>
          <p:nvPr>
            <p:ph type="body" sz="quarter" idx="11" hasCustomPrompt="1"/>
          </p:nvPr>
        </p:nvSpPr>
        <p:spPr>
          <a:xfrm>
            <a:off x="5358079" y="946150"/>
            <a:ext cx="6161921" cy="4965700"/>
          </a:xfrm>
        </p:spPr>
        <p:txBody>
          <a:bodyPr anchor="ctr"/>
          <a:lstStyle>
            <a:lvl1pPr marL="0" indent="0">
              <a:buNone/>
              <a:defRPr>
                <a:solidFill>
                  <a:schemeClr val="bg1"/>
                </a:solidFill>
                <a:latin typeface="Noto Sans Display ExtraBold" panose="020B0502040504020204" pitchFamily="34" charset="0"/>
                <a:ea typeface="Noto Sans Display ExtraBold" panose="020B0502040504020204" pitchFamily="34" charset="0"/>
                <a:cs typeface="Noto Sans Display ExtraBold" panose="020B0502040504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Title of the presentation</a:t>
            </a:r>
          </a:p>
        </p:txBody>
      </p:sp>
      <p:sp>
        <p:nvSpPr>
          <p:cNvPr id="12" name="Text Placeholder 10">
            <a:extLst>
              <a:ext uri="{FF2B5EF4-FFF2-40B4-BE49-F238E27FC236}">
                <a16:creationId xmlns:a16="http://schemas.microsoft.com/office/drawing/2014/main" id="{797AE165-9AF4-8BD4-C883-F52950C629FF}"/>
              </a:ext>
            </a:extLst>
          </p:cNvPr>
          <p:cNvSpPr>
            <a:spLocks noGrp="1"/>
          </p:cNvSpPr>
          <p:nvPr>
            <p:ph type="body" sz="quarter" idx="12" hasCustomPrompt="1"/>
          </p:nvPr>
        </p:nvSpPr>
        <p:spPr>
          <a:xfrm>
            <a:off x="795867" y="912640"/>
            <a:ext cx="3648075" cy="2048674"/>
          </a:xfrm>
        </p:spPr>
        <p:txBody>
          <a:bodyPr/>
          <a:lstStyle>
            <a:lvl1pPr marL="0" indent="0">
              <a:buNone/>
              <a:defRPr>
                <a:solidFill>
                  <a:schemeClr val="bg1"/>
                </a:solidFill>
                <a:latin typeface="Noto Sans Display ExtraBold" panose="020B0502040504020204" pitchFamily="34" charset="0"/>
                <a:ea typeface="Noto Sans Display ExtraBold" panose="020B0502040504020204" pitchFamily="34" charset="0"/>
                <a:cs typeface="Noto Sans Display ExtraBold" panose="020B0502040504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Title of the event</a:t>
            </a:r>
          </a:p>
          <a:p>
            <a:pPr lvl="0"/>
            <a:endParaRPr lang="en-US" dirty="0"/>
          </a:p>
          <a:p>
            <a:pPr lvl="0"/>
            <a:endParaRPr lang="en-US" dirty="0"/>
          </a:p>
        </p:txBody>
      </p:sp>
      <p:sp>
        <p:nvSpPr>
          <p:cNvPr id="4" name="Text Placeholder 3">
            <a:extLst>
              <a:ext uri="{FF2B5EF4-FFF2-40B4-BE49-F238E27FC236}">
                <a16:creationId xmlns:a16="http://schemas.microsoft.com/office/drawing/2014/main" id="{88D22368-B397-0129-C995-B6B60783A218}"/>
              </a:ext>
            </a:extLst>
          </p:cNvPr>
          <p:cNvSpPr>
            <a:spLocks noGrp="1"/>
          </p:cNvSpPr>
          <p:nvPr>
            <p:ph type="body" sz="quarter" idx="13" hasCustomPrompt="1"/>
          </p:nvPr>
        </p:nvSpPr>
        <p:spPr>
          <a:xfrm>
            <a:off x="795338" y="3429000"/>
            <a:ext cx="3641725" cy="2108200"/>
          </a:xfrm>
        </p:spPr>
        <p:txBody>
          <a:bodyPr>
            <a:normAutofit/>
          </a:bodyPr>
          <a:lstStyle>
            <a:lvl1pPr marL="0" indent="0">
              <a:buNone/>
              <a:defRPr sz="2400" b="1">
                <a:solidFill>
                  <a:schemeClr val="accent6"/>
                </a:solidFill>
                <a:latin typeface="Noto Sans Display" panose="020B0502040504020204" pitchFamily="34" charset="0"/>
                <a:ea typeface="Noto Sans Display" panose="020B0502040504020204" pitchFamily="34" charset="0"/>
                <a:cs typeface="Noto Sans Display" panose="020B0502040504020204" pitchFamily="34" charset="0"/>
              </a:defRPr>
            </a:lvl1pPr>
            <a:lvl2pPr marL="457200" indent="0">
              <a:buNone/>
              <a:defRPr/>
            </a:lvl2pPr>
          </a:lstStyle>
          <a:p>
            <a:pPr lvl="0"/>
            <a:r>
              <a:rPr lang="en-GB" sz="2400" b="1" dirty="0">
                <a:latin typeface="Noto Sans Display" panose="020B0502040504020204" pitchFamily="34" charset="0"/>
                <a:ea typeface="Noto Sans Display" panose="020B0502040504020204" pitchFamily="34" charset="0"/>
                <a:cs typeface="Noto Sans Display" panose="020B0502040504020204" pitchFamily="34" charset="0"/>
              </a:rPr>
              <a:t>Subtitle / Name / Date</a:t>
            </a:r>
            <a:endParaRPr lang="en-GB" dirty="0"/>
          </a:p>
        </p:txBody>
      </p:sp>
    </p:spTree>
    <p:extLst>
      <p:ext uri="{BB962C8B-B14F-4D97-AF65-F5344CB8AC3E}">
        <p14:creationId xmlns:p14="http://schemas.microsoft.com/office/powerpoint/2010/main" val="3549490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1 graph">
    <p:bg>
      <p:bgPr>
        <a:solidFill>
          <a:srgbClr val="042C4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8B79AAF-D3D2-A65D-C881-65C5C5C397D2}"/>
              </a:ext>
            </a:extLst>
          </p:cNvPr>
          <p:cNvPicPr>
            <a:picLocks noChangeAspect="1"/>
          </p:cNvPicPr>
          <p:nvPr userDrawn="1"/>
        </p:nvPicPr>
        <p:blipFill>
          <a:blip r:embed="rId2"/>
          <a:stretch>
            <a:fillRect/>
          </a:stretch>
        </p:blipFill>
        <p:spPr>
          <a:xfrm>
            <a:off x="50800" y="0"/>
            <a:ext cx="12120880" cy="6817994"/>
          </a:xfrm>
          <a:prstGeom prst="rect">
            <a:avLst/>
          </a:prstGeom>
        </p:spPr>
      </p:pic>
      <p:sp>
        <p:nvSpPr>
          <p:cNvPr id="3" name="Content Placeholder 2"/>
          <p:cNvSpPr>
            <a:spLocks noGrp="1"/>
          </p:cNvSpPr>
          <p:nvPr>
            <p:ph idx="1"/>
          </p:nvPr>
        </p:nvSpPr>
        <p:spPr>
          <a:xfrm>
            <a:off x="624000" y="1788918"/>
            <a:ext cx="10958400" cy="4338282"/>
          </a:xfrm>
        </p:spPr>
        <p:txBody>
          <a:bodyPr/>
          <a:lstStyle>
            <a:lvl1pPr eaLnBrk="1" latinLnBrk="0" hangingPunct="1">
              <a:defRPr>
                <a:solidFill>
                  <a:schemeClr val="bg1"/>
                </a:solidFill>
              </a:defRPr>
            </a:lvl1pPr>
            <a:lvl2pPr eaLnBrk="1" latinLnBrk="0" hangingPunct="1">
              <a:defRPr>
                <a:solidFill>
                  <a:schemeClr val="bg1"/>
                </a:solidFill>
              </a:defRPr>
            </a:lvl2pPr>
            <a:lvl3pPr eaLnBrk="1" latinLnBrk="0" hangingPunct="1">
              <a:defRPr>
                <a:solidFill>
                  <a:schemeClr val="bg1"/>
                </a:solidFill>
              </a:defRPr>
            </a:lvl3pPr>
            <a:lvl4pPr eaLnBrk="1" latinLnBrk="0" hangingPunct="1">
              <a:defRPr>
                <a:solidFill>
                  <a:schemeClr val="bg1"/>
                </a:solidFill>
              </a:defRPr>
            </a:lvl4pPr>
            <a:lvl5pPr eaLnBrk="1" latinLnBrk="0" hangingPunct="1">
              <a:defRPr>
                <a:solidFill>
                  <a:schemeClr val="bg1"/>
                </a:solidFill>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0" name="Slide Number Placeholder 5"/>
          <p:cNvSpPr>
            <a:spLocks noGrp="1"/>
          </p:cNvSpPr>
          <p:nvPr>
            <p:ph type="sldNum" sz="quarter" idx="4"/>
          </p:nvPr>
        </p:nvSpPr>
        <p:spPr>
          <a:xfrm>
            <a:off x="11506701" y="6380831"/>
            <a:ext cx="456000" cy="244800"/>
          </a:xfrm>
          <a:prstGeom prst="rect">
            <a:avLst/>
          </a:prstGeom>
        </p:spPr>
        <p:txBody>
          <a:bodyPr vert="horz" wrap="none" lIns="91440" tIns="45720" rIns="91440" bIns="45720" rtlCol="0" anchor="t" anchorCtr="0"/>
          <a:lstStyle>
            <a:lvl1pPr algn="r">
              <a:defRPr sz="1000" baseline="0">
                <a:solidFill>
                  <a:schemeClr val="bg1"/>
                </a:solidFill>
                <a:latin typeface="Arial"/>
              </a:defRPr>
            </a:lvl1pPr>
          </a:lstStyle>
          <a:p>
            <a:fld id="{C88BD8DC-0F29-4F44-900B-940C0349A13F}" type="slidenum">
              <a:rPr lang="en-GB" smtClean="0"/>
              <a:t>‹#›</a:t>
            </a:fld>
            <a:endParaRPr lang="en-GB"/>
          </a:p>
        </p:txBody>
      </p:sp>
      <p:sp>
        <p:nvSpPr>
          <p:cNvPr id="11" name="Title Placeholder 1"/>
          <p:cNvSpPr>
            <a:spLocks noGrp="1"/>
          </p:cNvSpPr>
          <p:nvPr>
            <p:ph type="title" hasCustomPrompt="1"/>
          </p:nvPr>
        </p:nvSpPr>
        <p:spPr>
          <a:xfrm>
            <a:off x="624000" y="142263"/>
            <a:ext cx="9888000" cy="1022400"/>
          </a:xfrm>
          <a:prstGeom prst="rect">
            <a:avLst/>
          </a:prstGeom>
        </p:spPr>
        <p:txBody>
          <a:bodyPr vert="horz" lIns="91440" tIns="45720" rIns="91440" bIns="45720" rtlCol="0" anchor="ctr">
            <a:noAutofit/>
          </a:bodyPr>
          <a:lstStyle>
            <a:lvl1pPr>
              <a:defRPr sz="2400" b="1">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r>
              <a:rPr lang="en-US" dirty="0"/>
              <a:t>Click to edit Slide title</a:t>
            </a:r>
            <a:br>
              <a:rPr lang="en-US" dirty="0"/>
            </a:br>
            <a:r>
              <a:rPr lang="en-US" dirty="0"/>
              <a:t>Slide title can be extended to two lines</a:t>
            </a:r>
          </a:p>
        </p:txBody>
      </p:sp>
      <p:pic>
        <p:nvPicPr>
          <p:cNvPr id="5" name="Picture 4" descr="A white circle with a black background&#10;&#10;Description automatically generated">
            <a:extLst>
              <a:ext uri="{FF2B5EF4-FFF2-40B4-BE49-F238E27FC236}">
                <a16:creationId xmlns:a16="http://schemas.microsoft.com/office/drawing/2014/main" id="{87E953B4-15EF-0EA9-B6CE-0C73FD5FF72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16000" y="6350062"/>
            <a:ext cx="1200000" cy="306338"/>
          </a:xfrm>
          <a:prstGeom prst="rect">
            <a:avLst/>
          </a:prstGeom>
        </p:spPr>
      </p:pic>
      <p:cxnSp>
        <p:nvCxnSpPr>
          <p:cNvPr id="13" name="Straight Connector 12">
            <a:extLst>
              <a:ext uri="{FF2B5EF4-FFF2-40B4-BE49-F238E27FC236}">
                <a16:creationId xmlns:a16="http://schemas.microsoft.com/office/drawing/2014/main" id="{F98AD913-CD8F-ED06-5E3A-18A5EC00443F}"/>
              </a:ext>
            </a:extLst>
          </p:cNvPr>
          <p:cNvCxnSpPr>
            <a:cxnSpLocks/>
          </p:cNvCxnSpPr>
          <p:nvPr userDrawn="1"/>
        </p:nvCxnSpPr>
        <p:spPr>
          <a:xfrm>
            <a:off x="703448" y="1067718"/>
            <a:ext cx="1690381"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Text Placeholder 25">
            <a:extLst>
              <a:ext uri="{FF2B5EF4-FFF2-40B4-BE49-F238E27FC236}">
                <a16:creationId xmlns:a16="http://schemas.microsoft.com/office/drawing/2014/main" id="{FCD42F88-29D3-5FBA-6381-264CD172E5E5}"/>
              </a:ext>
            </a:extLst>
          </p:cNvPr>
          <p:cNvSpPr>
            <a:spLocks noGrp="1"/>
          </p:cNvSpPr>
          <p:nvPr>
            <p:ph type="body" sz="quarter" idx="10" hasCustomPrompt="1"/>
          </p:nvPr>
        </p:nvSpPr>
        <p:spPr>
          <a:xfrm>
            <a:off x="624000" y="1077282"/>
            <a:ext cx="9888537" cy="374013"/>
          </a:xfrm>
        </p:spPr>
        <p:txBody>
          <a:bodyPr>
            <a:noAutofit/>
          </a:bodyPr>
          <a:lstStyle>
            <a:lvl1pPr marL="0" indent="0">
              <a:buNone/>
              <a:defRPr sz="1800" b="1">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US" dirty="0"/>
              <a:t>Click to edit subtitle</a:t>
            </a:r>
          </a:p>
        </p:txBody>
      </p:sp>
      <p:sp>
        <p:nvSpPr>
          <p:cNvPr id="28" name="Text Placeholder 27">
            <a:extLst>
              <a:ext uri="{FF2B5EF4-FFF2-40B4-BE49-F238E27FC236}">
                <a16:creationId xmlns:a16="http://schemas.microsoft.com/office/drawing/2014/main" id="{3E84D239-3D15-2E41-D033-213708FF3FE1}"/>
              </a:ext>
            </a:extLst>
          </p:cNvPr>
          <p:cNvSpPr>
            <a:spLocks noGrp="1"/>
          </p:cNvSpPr>
          <p:nvPr>
            <p:ph type="body" sz="quarter" idx="11" hasCustomPrompt="1"/>
          </p:nvPr>
        </p:nvSpPr>
        <p:spPr>
          <a:xfrm>
            <a:off x="2119090" y="6179061"/>
            <a:ext cx="9273160" cy="678939"/>
          </a:xfrm>
        </p:spPr>
        <p:txBody>
          <a:bodyPr/>
          <a:lstStyle>
            <a:lvl1pPr marL="0" indent="0">
              <a:buNone/>
              <a:defRPr lang="en-US" sz="800" kern="1200" baseline="0" dirty="0" smtClean="0">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pPr lvl="0"/>
            <a:r>
              <a:rPr lang="en-US"/>
              <a:t>Click to add notes / source</a:t>
            </a:r>
            <a:endParaRPr lang="en-GB"/>
          </a:p>
        </p:txBody>
      </p:sp>
      <p:sp>
        <p:nvSpPr>
          <p:cNvPr id="30" name="Text Placeholder 29">
            <a:extLst>
              <a:ext uri="{FF2B5EF4-FFF2-40B4-BE49-F238E27FC236}">
                <a16:creationId xmlns:a16="http://schemas.microsoft.com/office/drawing/2014/main" id="{AB523581-A8C6-87F7-9CEB-BA75E3E0F706}"/>
              </a:ext>
            </a:extLst>
          </p:cNvPr>
          <p:cNvSpPr>
            <a:spLocks noGrp="1"/>
          </p:cNvSpPr>
          <p:nvPr>
            <p:ph type="body" sz="quarter" idx="12" hasCustomPrompt="1"/>
          </p:nvPr>
        </p:nvSpPr>
        <p:spPr>
          <a:xfrm>
            <a:off x="623888" y="1450975"/>
            <a:ext cx="9888537" cy="338138"/>
          </a:xfrm>
        </p:spPr>
        <p:txBody>
          <a:bodyPr>
            <a:noAutofit/>
          </a:bodyPr>
          <a:lstStyle>
            <a:lvl1pPr marL="0" indent="0">
              <a:buNone/>
              <a:defRPr sz="1400">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GB" dirty="0"/>
              <a:t>Click to edit second subtitle line</a:t>
            </a:r>
          </a:p>
        </p:txBody>
      </p:sp>
    </p:spTree>
    <p:extLst>
      <p:ext uri="{BB962C8B-B14F-4D97-AF65-F5344CB8AC3E}">
        <p14:creationId xmlns:p14="http://schemas.microsoft.com/office/powerpoint/2010/main" val="4151686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1 graph">
    <p:bg>
      <p:bgPr>
        <a:solidFill>
          <a:srgbClr val="042C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0F6131-0966-7029-9225-C1200ABC910D}"/>
              </a:ext>
            </a:extLst>
          </p:cNvPr>
          <p:cNvPicPr>
            <a:picLocks noChangeAspect="1"/>
          </p:cNvPicPr>
          <p:nvPr userDrawn="1"/>
        </p:nvPicPr>
        <p:blipFill>
          <a:blip r:embed="rId2"/>
          <a:stretch>
            <a:fillRect/>
          </a:stretch>
        </p:blipFill>
        <p:spPr>
          <a:xfrm>
            <a:off x="71120" y="0"/>
            <a:ext cx="12120880" cy="6817994"/>
          </a:xfrm>
          <a:prstGeom prst="rect">
            <a:avLst/>
          </a:prstGeom>
        </p:spPr>
      </p:pic>
      <p:sp>
        <p:nvSpPr>
          <p:cNvPr id="3" name="Content Placeholder 2"/>
          <p:cNvSpPr>
            <a:spLocks noGrp="1"/>
          </p:cNvSpPr>
          <p:nvPr>
            <p:ph idx="1"/>
          </p:nvPr>
        </p:nvSpPr>
        <p:spPr>
          <a:xfrm>
            <a:off x="624000" y="1788918"/>
            <a:ext cx="10958400" cy="4338282"/>
          </a:xfrm>
        </p:spPr>
        <p:txBody>
          <a:bodyPr/>
          <a:lstStyle>
            <a:lvl1pPr eaLnBrk="1" latinLnBrk="0" hangingPunct="1">
              <a:defRPr>
                <a:solidFill>
                  <a:schemeClr val="bg1"/>
                </a:solidFill>
              </a:defRPr>
            </a:lvl1pPr>
            <a:lvl2pPr eaLnBrk="1" latinLnBrk="0" hangingPunct="1">
              <a:defRPr>
                <a:solidFill>
                  <a:schemeClr val="bg1"/>
                </a:solidFill>
              </a:defRPr>
            </a:lvl2pPr>
            <a:lvl3pPr eaLnBrk="1" latinLnBrk="0" hangingPunct="1">
              <a:defRPr>
                <a:solidFill>
                  <a:schemeClr val="bg1"/>
                </a:solidFill>
              </a:defRPr>
            </a:lvl3pPr>
            <a:lvl4pPr eaLnBrk="1" latinLnBrk="0" hangingPunct="1">
              <a:defRPr>
                <a:solidFill>
                  <a:schemeClr val="bg1"/>
                </a:solidFill>
              </a:defRPr>
            </a:lvl4pPr>
            <a:lvl5pPr eaLnBrk="1" latinLnBrk="0" hangingPunct="1">
              <a:defRPr>
                <a:solidFill>
                  <a:schemeClr val="bg1"/>
                </a:solidFill>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0" name="Slide Number Placeholder 5"/>
          <p:cNvSpPr>
            <a:spLocks noGrp="1"/>
          </p:cNvSpPr>
          <p:nvPr>
            <p:ph type="sldNum" sz="quarter" idx="4"/>
          </p:nvPr>
        </p:nvSpPr>
        <p:spPr>
          <a:xfrm>
            <a:off x="11506701" y="6380831"/>
            <a:ext cx="456000" cy="244800"/>
          </a:xfrm>
          <a:prstGeom prst="rect">
            <a:avLst/>
          </a:prstGeom>
        </p:spPr>
        <p:txBody>
          <a:bodyPr vert="horz" wrap="none" lIns="91440" tIns="45720" rIns="91440" bIns="45720" rtlCol="0" anchor="t" anchorCtr="0"/>
          <a:lstStyle>
            <a:lvl1pPr algn="r">
              <a:defRPr sz="1000" baseline="0">
                <a:solidFill>
                  <a:schemeClr val="bg1"/>
                </a:solidFill>
                <a:latin typeface="Arial"/>
              </a:defRPr>
            </a:lvl1pPr>
          </a:lstStyle>
          <a:p>
            <a:fld id="{C88BD8DC-0F29-4F44-900B-940C0349A13F}" type="slidenum">
              <a:rPr lang="en-GB" smtClean="0"/>
              <a:t>‹#›</a:t>
            </a:fld>
            <a:endParaRPr lang="en-GB"/>
          </a:p>
        </p:txBody>
      </p:sp>
      <p:sp>
        <p:nvSpPr>
          <p:cNvPr id="11" name="Title Placeholder 1"/>
          <p:cNvSpPr>
            <a:spLocks noGrp="1"/>
          </p:cNvSpPr>
          <p:nvPr>
            <p:ph type="title" hasCustomPrompt="1"/>
          </p:nvPr>
        </p:nvSpPr>
        <p:spPr>
          <a:xfrm>
            <a:off x="624000" y="142263"/>
            <a:ext cx="9888000" cy="1022400"/>
          </a:xfrm>
          <a:prstGeom prst="rect">
            <a:avLst/>
          </a:prstGeom>
        </p:spPr>
        <p:txBody>
          <a:bodyPr vert="horz" lIns="91440" tIns="45720" rIns="91440" bIns="45720" rtlCol="0" anchor="ctr">
            <a:noAutofit/>
          </a:bodyPr>
          <a:lstStyle>
            <a:lvl1pPr>
              <a:defRPr sz="2400" b="1">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r>
              <a:rPr lang="en-US" dirty="0"/>
              <a:t>Click to edit Slide title</a:t>
            </a:r>
            <a:br>
              <a:rPr lang="en-US" dirty="0"/>
            </a:br>
            <a:r>
              <a:rPr lang="en-US" dirty="0"/>
              <a:t>Slide title can be extended to two lines</a:t>
            </a:r>
          </a:p>
        </p:txBody>
      </p:sp>
      <p:pic>
        <p:nvPicPr>
          <p:cNvPr id="5" name="Picture 4" descr="A white circle with a black background&#10;&#10;Description automatically generated">
            <a:extLst>
              <a:ext uri="{FF2B5EF4-FFF2-40B4-BE49-F238E27FC236}">
                <a16:creationId xmlns:a16="http://schemas.microsoft.com/office/drawing/2014/main" id="{87E953B4-15EF-0EA9-B6CE-0C73FD5FF72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16000" y="6350062"/>
            <a:ext cx="1200000" cy="306338"/>
          </a:xfrm>
          <a:prstGeom prst="rect">
            <a:avLst/>
          </a:prstGeom>
        </p:spPr>
      </p:pic>
      <p:cxnSp>
        <p:nvCxnSpPr>
          <p:cNvPr id="13" name="Straight Connector 12">
            <a:extLst>
              <a:ext uri="{FF2B5EF4-FFF2-40B4-BE49-F238E27FC236}">
                <a16:creationId xmlns:a16="http://schemas.microsoft.com/office/drawing/2014/main" id="{F98AD913-CD8F-ED06-5E3A-18A5EC00443F}"/>
              </a:ext>
            </a:extLst>
          </p:cNvPr>
          <p:cNvCxnSpPr>
            <a:cxnSpLocks/>
          </p:cNvCxnSpPr>
          <p:nvPr userDrawn="1"/>
        </p:nvCxnSpPr>
        <p:spPr>
          <a:xfrm>
            <a:off x="703448" y="1067718"/>
            <a:ext cx="1690381"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Text Placeholder 25">
            <a:extLst>
              <a:ext uri="{FF2B5EF4-FFF2-40B4-BE49-F238E27FC236}">
                <a16:creationId xmlns:a16="http://schemas.microsoft.com/office/drawing/2014/main" id="{FCD42F88-29D3-5FBA-6381-264CD172E5E5}"/>
              </a:ext>
            </a:extLst>
          </p:cNvPr>
          <p:cNvSpPr>
            <a:spLocks noGrp="1"/>
          </p:cNvSpPr>
          <p:nvPr>
            <p:ph type="body" sz="quarter" idx="10" hasCustomPrompt="1"/>
          </p:nvPr>
        </p:nvSpPr>
        <p:spPr>
          <a:xfrm>
            <a:off x="624000" y="1077282"/>
            <a:ext cx="9888537" cy="374013"/>
          </a:xfrm>
        </p:spPr>
        <p:txBody>
          <a:bodyPr>
            <a:noAutofit/>
          </a:bodyPr>
          <a:lstStyle>
            <a:lvl1pPr marL="0" indent="0">
              <a:buNone/>
              <a:defRPr sz="1800" b="1">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US" dirty="0"/>
              <a:t>Click to edit subtitle</a:t>
            </a:r>
          </a:p>
        </p:txBody>
      </p:sp>
      <p:sp>
        <p:nvSpPr>
          <p:cNvPr id="28" name="Text Placeholder 27">
            <a:extLst>
              <a:ext uri="{FF2B5EF4-FFF2-40B4-BE49-F238E27FC236}">
                <a16:creationId xmlns:a16="http://schemas.microsoft.com/office/drawing/2014/main" id="{3E84D239-3D15-2E41-D033-213708FF3FE1}"/>
              </a:ext>
            </a:extLst>
          </p:cNvPr>
          <p:cNvSpPr>
            <a:spLocks noGrp="1"/>
          </p:cNvSpPr>
          <p:nvPr>
            <p:ph type="body" sz="quarter" idx="11" hasCustomPrompt="1"/>
          </p:nvPr>
        </p:nvSpPr>
        <p:spPr>
          <a:xfrm>
            <a:off x="2119090" y="6179061"/>
            <a:ext cx="9273160" cy="678939"/>
          </a:xfrm>
        </p:spPr>
        <p:txBody>
          <a:bodyPr/>
          <a:lstStyle>
            <a:lvl1pPr marL="0" indent="0">
              <a:buNone/>
              <a:defRPr lang="en-US" sz="800" kern="1200" baseline="0" dirty="0" smtClean="0">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pPr lvl="0"/>
            <a:r>
              <a:rPr lang="en-US"/>
              <a:t>Click to add notes / source</a:t>
            </a:r>
            <a:endParaRPr lang="en-GB"/>
          </a:p>
        </p:txBody>
      </p:sp>
      <p:sp>
        <p:nvSpPr>
          <p:cNvPr id="30" name="Text Placeholder 29">
            <a:extLst>
              <a:ext uri="{FF2B5EF4-FFF2-40B4-BE49-F238E27FC236}">
                <a16:creationId xmlns:a16="http://schemas.microsoft.com/office/drawing/2014/main" id="{AB523581-A8C6-87F7-9CEB-BA75E3E0F706}"/>
              </a:ext>
            </a:extLst>
          </p:cNvPr>
          <p:cNvSpPr>
            <a:spLocks noGrp="1"/>
          </p:cNvSpPr>
          <p:nvPr>
            <p:ph type="body" sz="quarter" idx="12" hasCustomPrompt="1"/>
          </p:nvPr>
        </p:nvSpPr>
        <p:spPr>
          <a:xfrm>
            <a:off x="623888" y="1450975"/>
            <a:ext cx="9888537" cy="338138"/>
          </a:xfrm>
        </p:spPr>
        <p:txBody>
          <a:bodyPr>
            <a:noAutofit/>
          </a:bodyPr>
          <a:lstStyle>
            <a:lvl1pPr marL="0" indent="0">
              <a:buNone/>
              <a:defRPr sz="1400">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GB" dirty="0"/>
              <a:t>Click to edit second subtitle line</a:t>
            </a:r>
          </a:p>
        </p:txBody>
      </p:sp>
    </p:spTree>
    <p:extLst>
      <p:ext uri="{BB962C8B-B14F-4D97-AF65-F5344CB8AC3E}">
        <p14:creationId xmlns:p14="http://schemas.microsoft.com/office/powerpoint/2010/main" val="606771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 text + no notes">
    <p:bg>
      <p:bgPr>
        <a:solidFill>
          <a:srgbClr val="02283E"/>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A46BE73-91C1-6B54-D875-9270D36CFBBD}"/>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10" name="Slide Number Placeholder 5"/>
          <p:cNvSpPr>
            <a:spLocks noGrp="1"/>
          </p:cNvSpPr>
          <p:nvPr>
            <p:ph type="sldNum" sz="quarter" idx="4"/>
          </p:nvPr>
        </p:nvSpPr>
        <p:spPr>
          <a:xfrm>
            <a:off x="11506701" y="6380831"/>
            <a:ext cx="456000" cy="244800"/>
          </a:xfrm>
          <a:prstGeom prst="rect">
            <a:avLst/>
          </a:prstGeom>
        </p:spPr>
        <p:txBody>
          <a:bodyPr vert="horz" wrap="none" lIns="91440" tIns="45720" rIns="91440" bIns="45720" rtlCol="0" anchor="t" anchorCtr="0"/>
          <a:lstStyle>
            <a:lvl1pPr algn="r">
              <a:defRPr sz="1000" baseline="0">
                <a:solidFill>
                  <a:schemeClr val="bg1"/>
                </a:solidFill>
                <a:latin typeface="Arial"/>
              </a:defRPr>
            </a:lvl1pPr>
          </a:lstStyle>
          <a:p>
            <a:fld id="{C88BD8DC-0F29-4F44-900B-940C0349A13F}" type="slidenum">
              <a:rPr lang="en-GB" smtClean="0"/>
              <a:t>‹#›</a:t>
            </a:fld>
            <a:endParaRPr lang="en-GB"/>
          </a:p>
        </p:txBody>
      </p:sp>
      <p:sp>
        <p:nvSpPr>
          <p:cNvPr id="11" name="Title Placeholder 1"/>
          <p:cNvSpPr>
            <a:spLocks noGrp="1"/>
          </p:cNvSpPr>
          <p:nvPr>
            <p:ph type="title" hasCustomPrompt="1"/>
          </p:nvPr>
        </p:nvSpPr>
        <p:spPr>
          <a:xfrm>
            <a:off x="624000" y="142263"/>
            <a:ext cx="9888000" cy="1022400"/>
          </a:xfrm>
          <a:prstGeom prst="rect">
            <a:avLst/>
          </a:prstGeom>
        </p:spPr>
        <p:txBody>
          <a:bodyPr vert="horz" lIns="91440" tIns="45720" rIns="91440" bIns="45720" rtlCol="0" anchor="ctr">
            <a:noAutofit/>
          </a:bodyPr>
          <a:lstStyle>
            <a:lvl1pPr>
              <a:defRPr sz="2400" b="1">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r>
              <a:rPr lang="en-US" dirty="0"/>
              <a:t>Click to edit Slide title</a:t>
            </a:r>
            <a:br>
              <a:rPr lang="en-US" dirty="0"/>
            </a:br>
            <a:r>
              <a:rPr lang="en-US" dirty="0"/>
              <a:t>Slide title can be extended to two lines</a:t>
            </a:r>
          </a:p>
        </p:txBody>
      </p:sp>
      <p:pic>
        <p:nvPicPr>
          <p:cNvPr id="5" name="Picture 4" descr="A white circle with a black background&#10;&#10;Description automatically generated">
            <a:extLst>
              <a:ext uri="{FF2B5EF4-FFF2-40B4-BE49-F238E27FC236}">
                <a16:creationId xmlns:a16="http://schemas.microsoft.com/office/drawing/2014/main" id="{87E953B4-15EF-0EA9-B6CE-0C73FD5FF72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16000" y="6350062"/>
            <a:ext cx="1200000" cy="306338"/>
          </a:xfrm>
          <a:prstGeom prst="rect">
            <a:avLst/>
          </a:prstGeom>
        </p:spPr>
      </p:pic>
      <p:cxnSp>
        <p:nvCxnSpPr>
          <p:cNvPr id="13" name="Straight Connector 12">
            <a:extLst>
              <a:ext uri="{FF2B5EF4-FFF2-40B4-BE49-F238E27FC236}">
                <a16:creationId xmlns:a16="http://schemas.microsoft.com/office/drawing/2014/main" id="{F98AD913-CD8F-ED06-5E3A-18A5EC00443F}"/>
              </a:ext>
            </a:extLst>
          </p:cNvPr>
          <p:cNvCxnSpPr>
            <a:cxnSpLocks/>
          </p:cNvCxnSpPr>
          <p:nvPr userDrawn="1"/>
        </p:nvCxnSpPr>
        <p:spPr>
          <a:xfrm>
            <a:off x="703448" y="1067718"/>
            <a:ext cx="1690381"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Text Placeholder 25">
            <a:extLst>
              <a:ext uri="{FF2B5EF4-FFF2-40B4-BE49-F238E27FC236}">
                <a16:creationId xmlns:a16="http://schemas.microsoft.com/office/drawing/2014/main" id="{FCD42F88-29D3-5FBA-6381-264CD172E5E5}"/>
              </a:ext>
            </a:extLst>
          </p:cNvPr>
          <p:cNvSpPr>
            <a:spLocks noGrp="1"/>
          </p:cNvSpPr>
          <p:nvPr>
            <p:ph type="body" sz="quarter" idx="10" hasCustomPrompt="1"/>
          </p:nvPr>
        </p:nvSpPr>
        <p:spPr>
          <a:xfrm>
            <a:off x="624000" y="1077282"/>
            <a:ext cx="9888537" cy="374013"/>
          </a:xfrm>
        </p:spPr>
        <p:txBody>
          <a:bodyPr>
            <a:noAutofit/>
          </a:bodyPr>
          <a:lstStyle>
            <a:lvl1pPr marL="0" indent="0">
              <a:buNone/>
              <a:defRPr sz="1800" b="1">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US" dirty="0"/>
              <a:t>Click to edit subtitle</a:t>
            </a:r>
          </a:p>
        </p:txBody>
      </p:sp>
      <p:sp>
        <p:nvSpPr>
          <p:cNvPr id="28" name="Text Placeholder 27">
            <a:extLst>
              <a:ext uri="{FF2B5EF4-FFF2-40B4-BE49-F238E27FC236}">
                <a16:creationId xmlns:a16="http://schemas.microsoft.com/office/drawing/2014/main" id="{3E84D239-3D15-2E41-D033-213708FF3FE1}"/>
              </a:ext>
            </a:extLst>
          </p:cNvPr>
          <p:cNvSpPr>
            <a:spLocks noGrp="1"/>
          </p:cNvSpPr>
          <p:nvPr>
            <p:ph type="body" sz="quarter" idx="11"/>
          </p:nvPr>
        </p:nvSpPr>
        <p:spPr>
          <a:xfrm>
            <a:off x="2119090" y="6179061"/>
            <a:ext cx="9273160" cy="678939"/>
          </a:xfrm>
        </p:spPr>
        <p:txBody>
          <a:bodyPr/>
          <a:lstStyle>
            <a:lvl1pPr marL="0" indent="0">
              <a:buNone/>
              <a:defRPr lang="en-US" sz="800" kern="1200" baseline="0" dirty="0" smtClean="0">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pPr lvl="0"/>
            <a:endParaRPr lang="en-GB" dirty="0"/>
          </a:p>
        </p:txBody>
      </p:sp>
      <p:sp>
        <p:nvSpPr>
          <p:cNvPr id="30" name="Text Placeholder 29">
            <a:extLst>
              <a:ext uri="{FF2B5EF4-FFF2-40B4-BE49-F238E27FC236}">
                <a16:creationId xmlns:a16="http://schemas.microsoft.com/office/drawing/2014/main" id="{AB523581-A8C6-87F7-9CEB-BA75E3E0F706}"/>
              </a:ext>
            </a:extLst>
          </p:cNvPr>
          <p:cNvSpPr>
            <a:spLocks noGrp="1"/>
          </p:cNvSpPr>
          <p:nvPr>
            <p:ph type="body" sz="quarter" idx="12" hasCustomPrompt="1"/>
          </p:nvPr>
        </p:nvSpPr>
        <p:spPr>
          <a:xfrm>
            <a:off x="623888" y="1450975"/>
            <a:ext cx="9888537" cy="338138"/>
          </a:xfrm>
        </p:spPr>
        <p:txBody>
          <a:bodyPr>
            <a:noAutofit/>
          </a:bodyPr>
          <a:lstStyle>
            <a:lvl1pPr marL="0" indent="0">
              <a:buNone/>
              <a:defRPr sz="1400">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GB" dirty="0"/>
              <a:t>Click to edit second subtitle line</a:t>
            </a:r>
          </a:p>
        </p:txBody>
      </p:sp>
      <p:sp>
        <p:nvSpPr>
          <p:cNvPr id="7" name="Text Placeholder 6">
            <a:extLst>
              <a:ext uri="{FF2B5EF4-FFF2-40B4-BE49-F238E27FC236}">
                <a16:creationId xmlns:a16="http://schemas.microsoft.com/office/drawing/2014/main" id="{61D4A10B-7AD9-DD73-173E-D968BFB51DF4}"/>
              </a:ext>
            </a:extLst>
          </p:cNvPr>
          <p:cNvSpPr>
            <a:spLocks noGrp="1"/>
          </p:cNvSpPr>
          <p:nvPr>
            <p:ph type="body" sz="quarter" idx="13"/>
          </p:nvPr>
        </p:nvSpPr>
        <p:spPr>
          <a:xfrm>
            <a:off x="623888" y="1789113"/>
            <a:ext cx="10882312" cy="4105275"/>
          </a:xfrm>
        </p:spPr>
        <p:txBody>
          <a:bodyPr/>
          <a:lstStyle>
            <a:lvl1pPr>
              <a:defRPr>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vl2pPr>
              <a:defRPr>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2pPr>
            <a:lvl3pPr>
              <a:defRPr>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3pPr>
            <a:lvl4pPr>
              <a:defRPr>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4pPr>
            <a:lvl5pPr>
              <a:defRPr>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23162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Graphs">
    <p:bg>
      <p:bgPr>
        <a:solidFill>
          <a:srgbClr val="01263C"/>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8155F4-96D9-A628-ECB0-ED874363DDFF}"/>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5" name="Slide Number Placeholder 4">
            <a:extLst>
              <a:ext uri="{FF2B5EF4-FFF2-40B4-BE49-F238E27FC236}">
                <a16:creationId xmlns:a16="http://schemas.microsoft.com/office/drawing/2014/main" id="{F98B0390-6153-DE4E-D4F5-D4DF3857A5CF}"/>
              </a:ext>
            </a:extLst>
          </p:cNvPr>
          <p:cNvSpPr>
            <a:spLocks noGrp="1"/>
          </p:cNvSpPr>
          <p:nvPr>
            <p:ph type="sldNum" sz="quarter" idx="12"/>
          </p:nvPr>
        </p:nvSpPr>
        <p:spPr/>
        <p:txBody>
          <a:bodyPr/>
          <a:lstStyle/>
          <a:p>
            <a:fld id="{C88BD8DC-0F29-4F44-900B-940C0349A13F}" type="slidenum">
              <a:rPr lang="en-GB" smtClean="0"/>
              <a:t>‹#›</a:t>
            </a:fld>
            <a:endParaRPr lang="en-GB"/>
          </a:p>
        </p:txBody>
      </p:sp>
      <p:sp>
        <p:nvSpPr>
          <p:cNvPr id="7" name="Chart Placeholder 6">
            <a:extLst>
              <a:ext uri="{FF2B5EF4-FFF2-40B4-BE49-F238E27FC236}">
                <a16:creationId xmlns:a16="http://schemas.microsoft.com/office/drawing/2014/main" id="{41CCD659-46BC-52EE-CB2D-AD90C159394B}"/>
              </a:ext>
            </a:extLst>
          </p:cNvPr>
          <p:cNvSpPr>
            <a:spLocks noGrp="1"/>
          </p:cNvSpPr>
          <p:nvPr>
            <p:ph type="chart" sz="quarter" idx="13"/>
          </p:nvPr>
        </p:nvSpPr>
        <p:spPr>
          <a:xfrm>
            <a:off x="336000" y="1758777"/>
            <a:ext cx="5760000" cy="4289479"/>
          </a:xfrm>
        </p:spPr>
        <p:txBody>
          <a:bodyPr/>
          <a:lstStyle/>
          <a:p>
            <a:endParaRPr lang="en-GB"/>
          </a:p>
        </p:txBody>
      </p:sp>
      <p:sp>
        <p:nvSpPr>
          <p:cNvPr id="9" name="Chart Placeholder 8">
            <a:extLst>
              <a:ext uri="{FF2B5EF4-FFF2-40B4-BE49-F238E27FC236}">
                <a16:creationId xmlns:a16="http://schemas.microsoft.com/office/drawing/2014/main" id="{A5BAF047-BF2A-824D-1451-EAE481A911B5}"/>
              </a:ext>
            </a:extLst>
          </p:cNvPr>
          <p:cNvSpPr>
            <a:spLocks noGrp="1"/>
          </p:cNvSpPr>
          <p:nvPr>
            <p:ph type="chart" sz="quarter" idx="14"/>
          </p:nvPr>
        </p:nvSpPr>
        <p:spPr>
          <a:xfrm>
            <a:off x="6096000" y="1762198"/>
            <a:ext cx="5760000" cy="4289479"/>
          </a:xfrm>
        </p:spPr>
        <p:txBody>
          <a:bodyPr/>
          <a:lstStyle/>
          <a:p>
            <a:endParaRPr lang="en-GB" dirty="0"/>
          </a:p>
        </p:txBody>
      </p:sp>
      <p:pic>
        <p:nvPicPr>
          <p:cNvPr id="11" name="Picture 10" descr="A white circle with a black background&#10;&#10;Description automatically generated">
            <a:extLst>
              <a:ext uri="{FF2B5EF4-FFF2-40B4-BE49-F238E27FC236}">
                <a16:creationId xmlns:a16="http://schemas.microsoft.com/office/drawing/2014/main" id="{4626CF9C-BA47-B3B0-8D47-F77AD67F336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16000" y="6350062"/>
            <a:ext cx="1200000" cy="306338"/>
          </a:xfrm>
          <a:prstGeom prst="rect">
            <a:avLst/>
          </a:prstGeom>
        </p:spPr>
      </p:pic>
      <p:sp>
        <p:nvSpPr>
          <p:cNvPr id="13" name="Text Placeholder 27">
            <a:extLst>
              <a:ext uri="{FF2B5EF4-FFF2-40B4-BE49-F238E27FC236}">
                <a16:creationId xmlns:a16="http://schemas.microsoft.com/office/drawing/2014/main" id="{805FC0AB-3626-7CD9-8F9C-93FD7F257EE5}"/>
              </a:ext>
            </a:extLst>
          </p:cNvPr>
          <p:cNvSpPr>
            <a:spLocks noGrp="1"/>
          </p:cNvSpPr>
          <p:nvPr>
            <p:ph type="body" sz="quarter" idx="15" hasCustomPrompt="1"/>
          </p:nvPr>
        </p:nvSpPr>
        <p:spPr>
          <a:xfrm>
            <a:off x="2119090" y="6179061"/>
            <a:ext cx="9273160" cy="678939"/>
          </a:xfrm>
        </p:spPr>
        <p:txBody>
          <a:bodyPr/>
          <a:lstStyle>
            <a:lvl1pPr marL="0" indent="0">
              <a:buNone/>
              <a:defRPr lang="en-US" sz="800" kern="1200" baseline="0" dirty="0" smtClean="0">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pPr lvl="0"/>
            <a:r>
              <a:rPr lang="en-US"/>
              <a:t>Click to add notes / source</a:t>
            </a:r>
            <a:endParaRPr lang="en-GB"/>
          </a:p>
        </p:txBody>
      </p:sp>
      <p:sp>
        <p:nvSpPr>
          <p:cNvPr id="15" name="Text Placeholder 25">
            <a:extLst>
              <a:ext uri="{FF2B5EF4-FFF2-40B4-BE49-F238E27FC236}">
                <a16:creationId xmlns:a16="http://schemas.microsoft.com/office/drawing/2014/main" id="{31BFEEC9-770D-E8F5-6A26-62EA69093AB1}"/>
              </a:ext>
            </a:extLst>
          </p:cNvPr>
          <p:cNvSpPr>
            <a:spLocks noGrp="1"/>
          </p:cNvSpPr>
          <p:nvPr>
            <p:ph type="body" sz="quarter" idx="16" hasCustomPrompt="1"/>
          </p:nvPr>
        </p:nvSpPr>
        <p:spPr>
          <a:xfrm>
            <a:off x="336000" y="1064374"/>
            <a:ext cx="5760000" cy="353364"/>
          </a:xfrm>
        </p:spPr>
        <p:txBody>
          <a:bodyPr>
            <a:noAutofit/>
          </a:bodyPr>
          <a:lstStyle>
            <a:lvl1pPr marL="0" indent="0" algn="ctr">
              <a:buNone/>
              <a:defRPr sz="1800" b="1">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US" dirty="0"/>
              <a:t>Click to edit subtitle</a:t>
            </a:r>
          </a:p>
        </p:txBody>
      </p:sp>
      <p:cxnSp>
        <p:nvCxnSpPr>
          <p:cNvPr id="16" name="Straight Connector 15">
            <a:extLst>
              <a:ext uri="{FF2B5EF4-FFF2-40B4-BE49-F238E27FC236}">
                <a16:creationId xmlns:a16="http://schemas.microsoft.com/office/drawing/2014/main" id="{97410F42-15FB-87BB-FADC-D45746B9AE8F}"/>
              </a:ext>
            </a:extLst>
          </p:cNvPr>
          <p:cNvCxnSpPr>
            <a:cxnSpLocks/>
          </p:cNvCxnSpPr>
          <p:nvPr userDrawn="1"/>
        </p:nvCxnSpPr>
        <p:spPr>
          <a:xfrm>
            <a:off x="2406414" y="1061931"/>
            <a:ext cx="1690381"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8" name="Text Placeholder 25">
            <a:extLst>
              <a:ext uri="{FF2B5EF4-FFF2-40B4-BE49-F238E27FC236}">
                <a16:creationId xmlns:a16="http://schemas.microsoft.com/office/drawing/2014/main" id="{871A1D1C-4CF7-BB9A-F85F-596E97EB351B}"/>
              </a:ext>
            </a:extLst>
          </p:cNvPr>
          <p:cNvSpPr>
            <a:spLocks noGrp="1"/>
          </p:cNvSpPr>
          <p:nvPr>
            <p:ph type="body" sz="quarter" idx="17" hasCustomPrompt="1"/>
          </p:nvPr>
        </p:nvSpPr>
        <p:spPr>
          <a:xfrm>
            <a:off x="6096000" y="1058817"/>
            <a:ext cx="5760000" cy="353364"/>
          </a:xfrm>
        </p:spPr>
        <p:txBody>
          <a:bodyPr>
            <a:noAutofit/>
          </a:bodyPr>
          <a:lstStyle>
            <a:lvl1pPr marL="0" indent="0" algn="ctr">
              <a:buNone/>
              <a:defRPr sz="1800" b="1">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US" dirty="0"/>
              <a:t>Click to edit subtitle</a:t>
            </a:r>
          </a:p>
        </p:txBody>
      </p:sp>
      <p:sp>
        <p:nvSpPr>
          <p:cNvPr id="19" name="Title Placeholder 1">
            <a:extLst>
              <a:ext uri="{FF2B5EF4-FFF2-40B4-BE49-F238E27FC236}">
                <a16:creationId xmlns:a16="http://schemas.microsoft.com/office/drawing/2014/main" id="{1484BADE-0746-8704-BF1F-954A588842C8}"/>
              </a:ext>
            </a:extLst>
          </p:cNvPr>
          <p:cNvSpPr>
            <a:spLocks noGrp="1"/>
          </p:cNvSpPr>
          <p:nvPr>
            <p:ph type="title" hasCustomPrompt="1"/>
          </p:nvPr>
        </p:nvSpPr>
        <p:spPr>
          <a:xfrm>
            <a:off x="335725" y="70771"/>
            <a:ext cx="11519999" cy="1022400"/>
          </a:xfrm>
          <a:prstGeom prst="rect">
            <a:avLst/>
          </a:prstGeom>
        </p:spPr>
        <p:txBody>
          <a:bodyPr vert="horz" lIns="91440" tIns="45720" rIns="91440" bIns="45720" rtlCol="0" anchor="ctr">
            <a:noAutofit/>
          </a:bodyPr>
          <a:lstStyle>
            <a:lvl1pPr algn="ctr">
              <a:defRPr sz="2400" b="1">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r>
              <a:rPr lang="en-US" dirty="0"/>
              <a:t>Click to edit Slide title</a:t>
            </a:r>
            <a:br>
              <a:rPr lang="en-US" dirty="0"/>
            </a:br>
            <a:r>
              <a:rPr lang="en-US" dirty="0"/>
              <a:t>Slide title can be extended to two lines</a:t>
            </a:r>
          </a:p>
        </p:txBody>
      </p:sp>
      <p:cxnSp>
        <p:nvCxnSpPr>
          <p:cNvPr id="20" name="Straight Connector 19">
            <a:extLst>
              <a:ext uri="{FF2B5EF4-FFF2-40B4-BE49-F238E27FC236}">
                <a16:creationId xmlns:a16="http://schemas.microsoft.com/office/drawing/2014/main" id="{CA9E81E0-E112-FB1C-217D-D8056E87C104}"/>
              </a:ext>
            </a:extLst>
          </p:cNvPr>
          <p:cNvCxnSpPr>
            <a:cxnSpLocks/>
          </p:cNvCxnSpPr>
          <p:nvPr userDrawn="1"/>
        </p:nvCxnSpPr>
        <p:spPr>
          <a:xfrm>
            <a:off x="8122723" y="1067735"/>
            <a:ext cx="1690381"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D543906C-DDB1-F916-6304-C7B2E01AE880}"/>
              </a:ext>
            </a:extLst>
          </p:cNvPr>
          <p:cNvSpPr>
            <a:spLocks noGrp="1"/>
          </p:cNvSpPr>
          <p:nvPr>
            <p:ph type="body" sz="quarter" idx="18" hasCustomPrompt="1"/>
          </p:nvPr>
        </p:nvSpPr>
        <p:spPr>
          <a:xfrm>
            <a:off x="336550" y="1420813"/>
            <a:ext cx="5759450" cy="334962"/>
          </a:xfrm>
        </p:spPr>
        <p:txBody>
          <a:bodyPr>
            <a:normAutofit/>
          </a:bodyPr>
          <a:lstStyle>
            <a:lvl1pPr marL="0" indent="0" algn="ctr">
              <a:buNone/>
              <a:defRPr sz="1400">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GB" dirty="0"/>
              <a:t>Click to edit second line subtitle</a:t>
            </a:r>
          </a:p>
        </p:txBody>
      </p:sp>
      <p:sp>
        <p:nvSpPr>
          <p:cNvPr id="23" name="Text Placeholder 21">
            <a:extLst>
              <a:ext uri="{FF2B5EF4-FFF2-40B4-BE49-F238E27FC236}">
                <a16:creationId xmlns:a16="http://schemas.microsoft.com/office/drawing/2014/main" id="{32F70C7B-F5AF-8673-CF58-0324D988E0CA}"/>
              </a:ext>
            </a:extLst>
          </p:cNvPr>
          <p:cNvSpPr>
            <a:spLocks noGrp="1"/>
          </p:cNvSpPr>
          <p:nvPr>
            <p:ph type="body" sz="quarter" idx="19" hasCustomPrompt="1"/>
          </p:nvPr>
        </p:nvSpPr>
        <p:spPr>
          <a:xfrm>
            <a:off x="6096275" y="1414273"/>
            <a:ext cx="5759450" cy="334962"/>
          </a:xfrm>
        </p:spPr>
        <p:txBody>
          <a:bodyPr/>
          <a:lstStyle>
            <a:lvl1pPr marL="0" indent="0" algn="ctr">
              <a:buNone/>
              <a:defRPr kumimoji="0" lang="en-GB" sz="1400" kern="1200" dirty="0" smtClean="0">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marL="0" marR="0" lvl="0" indent="0" algn="l" defTabSz="914400" rtl="0" eaLnBrk="1" fontAlgn="auto" latinLnBrk="0" hangingPunct="1">
              <a:lnSpc>
                <a:spcPct val="100000"/>
              </a:lnSpc>
              <a:spcBef>
                <a:spcPts val="768"/>
              </a:spcBef>
              <a:spcAft>
                <a:spcPts val="0"/>
              </a:spcAft>
              <a:buClr>
                <a:schemeClr val="tx1"/>
              </a:buClr>
              <a:buSzTx/>
              <a:buFont typeface="Arial" pitchFamily="34" charset="0"/>
              <a:buNone/>
              <a:tabLst/>
              <a:defRPr/>
            </a:pPr>
            <a:r>
              <a:rPr lang="en-GB" dirty="0"/>
              <a:t>                                                    Click to edit second line subtitle</a:t>
            </a:r>
          </a:p>
          <a:p>
            <a:pPr lvl="0"/>
            <a:endParaRPr lang="en-GB" dirty="0"/>
          </a:p>
        </p:txBody>
      </p:sp>
    </p:spTree>
    <p:extLst>
      <p:ext uri="{BB962C8B-B14F-4D97-AF65-F5344CB8AC3E}">
        <p14:creationId xmlns:p14="http://schemas.microsoft.com/office/powerpoint/2010/main" val="28769465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graphs">
    <p:bg>
      <p:bgPr>
        <a:solidFill>
          <a:srgbClr val="02273D"/>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4B815EA-F391-0489-F273-1F9EAC39B8A9}"/>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Slide Number Placeholder 2">
            <a:extLst>
              <a:ext uri="{FF2B5EF4-FFF2-40B4-BE49-F238E27FC236}">
                <a16:creationId xmlns:a16="http://schemas.microsoft.com/office/drawing/2014/main" id="{042FB0EA-0D00-6334-173D-C25161540ADE}"/>
              </a:ext>
            </a:extLst>
          </p:cNvPr>
          <p:cNvSpPr>
            <a:spLocks noGrp="1"/>
          </p:cNvSpPr>
          <p:nvPr>
            <p:ph type="sldNum" sz="quarter" idx="10"/>
          </p:nvPr>
        </p:nvSpPr>
        <p:spPr/>
        <p:txBody>
          <a:bodyPr/>
          <a:lstStyle/>
          <a:p>
            <a:fld id="{C88BD8DC-0F29-4F44-900B-940C0349A13F}" type="slidenum">
              <a:rPr lang="en-GB" smtClean="0"/>
              <a:t>‹#›</a:t>
            </a:fld>
            <a:endParaRPr lang="en-GB"/>
          </a:p>
        </p:txBody>
      </p:sp>
      <p:sp>
        <p:nvSpPr>
          <p:cNvPr id="4" name="Slide Number Placeholder 4">
            <a:extLst>
              <a:ext uri="{FF2B5EF4-FFF2-40B4-BE49-F238E27FC236}">
                <a16:creationId xmlns:a16="http://schemas.microsoft.com/office/drawing/2014/main" id="{FF638187-6F05-D68F-2B5C-36842FBB46AA}"/>
              </a:ext>
            </a:extLst>
          </p:cNvPr>
          <p:cNvSpPr txBox="1">
            <a:spLocks/>
          </p:cNvSpPr>
          <p:nvPr userDrawn="1"/>
        </p:nvSpPr>
        <p:spPr>
          <a:xfrm>
            <a:off x="11520000" y="6411600"/>
            <a:ext cx="456000" cy="244800"/>
          </a:xfrm>
          <a:prstGeom prst="rect">
            <a:avLst/>
          </a:prstGeom>
        </p:spPr>
        <p:txBody>
          <a:bodyPr vert="horz" wrap="none" lIns="91440" tIns="45720" rIns="91440" bIns="45720" rtlCol="0" anchor="t" anchorCtr="0"/>
          <a:lstStyle>
            <a:defPPr>
              <a:defRPr lang="fr-FR"/>
            </a:defPPr>
            <a:lvl1pPr marL="0" algn="r" defTabSz="914400" rtl="0" eaLnBrk="1" latinLnBrk="0" hangingPunct="1">
              <a:defRPr sz="1000" kern="1200" baseline="0">
                <a:solidFill>
                  <a:schemeClr val="bg1"/>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88BD8DC-0F29-4F44-900B-940C0349A13F}" type="slidenum">
              <a:rPr lang="en-GB" smtClean="0"/>
              <a:pPr/>
              <a:t>‹#›</a:t>
            </a:fld>
            <a:endParaRPr lang="en-GB"/>
          </a:p>
        </p:txBody>
      </p:sp>
      <p:sp>
        <p:nvSpPr>
          <p:cNvPr id="5" name="Chart Placeholder 6">
            <a:extLst>
              <a:ext uri="{FF2B5EF4-FFF2-40B4-BE49-F238E27FC236}">
                <a16:creationId xmlns:a16="http://schemas.microsoft.com/office/drawing/2014/main" id="{99A80255-FB8B-CC26-1668-BDCBAAD85626}"/>
              </a:ext>
            </a:extLst>
          </p:cNvPr>
          <p:cNvSpPr>
            <a:spLocks noGrp="1"/>
          </p:cNvSpPr>
          <p:nvPr>
            <p:ph type="chart" sz="quarter" idx="13"/>
          </p:nvPr>
        </p:nvSpPr>
        <p:spPr>
          <a:xfrm>
            <a:off x="344389" y="1758777"/>
            <a:ext cx="3816000" cy="4289479"/>
          </a:xfrm>
        </p:spPr>
        <p:txBody>
          <a:bodyPr/>
          <a:lstStyle/>
          <a:p>
            <a:endParaRPr lang="en-GB"/>
          </a:p>
        </p:txBody>
      </p:sp>
      <p:sp>
        <p:nvSpPr>
          <p:cNvPr id="6" name="Chart Placeholder 8">
            <a:extLst>
              <a:ext uri="{FF2B5EF4-FFF2-40B4-BE49-F238E27FC236}">
                <a16:creationId xmlns:a16="http://schemas.microsoft.com/office/drawing/2014/main" id="{68261589-6AD3-7E46-7E06-E1FF68C7D595}"/>
              </a:ext>
            </a:extLst>
          </p:cNvPr>
          <p:cNvSpPr>
            <a:spLocks noGrp="1"/>
          </p:cNvSpPr>
          <p:nvPr>
            <p:ph type="chart" sz="quarter" idx="14"/>
          </p:nvPr>
        </p:nvSpPr>
        <p:spPr>
          <a:xfrm>
            <a:off x="8040002" y="1778306"/>
            <a:ext cx="3816000" cy="4289479"/>
          </a:xfrm>
        </p:spPr>
        <p:txBody>
          <a:bodyPr/>
          <a:lstStyle/>
          <a:p>
            <a:endParaRPr lang="en-GB"/>
          </a:p>
        </p:txBody>
      </p:sp>
      <p:pic>
        <p:nvPicPr>
          <p:cNvPr id="8" name="Picture 7" descr="A white circle with a black background&#10;&#10;Description automatically generated">
            <a:extLst>
              <a:ext uri="{FF2B5EF4-FFF2-40B4-BE49-F238E27FC236}">
                <a16:creationId xmlns:a16="http://schemas.microsoft.com/office/drawing/2014/main" id="{8A836512-D7E9-62F7-4ECA-6D10880746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16000" y="6350062"/>
            <a:ext cx="1200000" cy="306338"/>
          </a:xfrm>
          <a:prstGeom prst="rect">
            <a:avLst/>
          </a:prstGeom>
        </p:spPr>
      </p:pic>
      <p:sp>
        <p:nvSpPr>
          <p:cNvPr id="10" name="Text Placeholder 27">
            <a:extLst>
              <a:ext uri="{FF2B5EF4-FFF2-40B4-BE49-F238E27FC236}">
                <a16:creationId xmlns:a16="http://schemas.microsoft.com/office/drawing/2014/main" id="{A61F06D0-791B-F633-1490-01AA316E4C67}"/>
              </a:ext>
            </a:extLst>
          </p:cNvPr>
          <p:cNvSpPr>
            <a:spLocks noGrp="1"/>
          </p:cNvSpPr>
          <p:nvPr>
            <p:ph type="body" sz="quarter" idx="15" hasCustomPrompt="1"/>
          </p:nvPr>
        </p:nvSpPr>
        <p:spPr>
          <a:xfrm>
            <a:off x="2119090" y="6179061"/>
            <a:ext cx="9273160" cy="678939"/>
          </a:xfrm>
        </p:spPr>
        <p:txBody>
          <a:bodyPr/>
          <a:lstStyle>
            <a:lvl1pPr marL="0" indent="0">
              <a:buNone/>
              <a:defRPr lang="en-US" sz="800" kern="1200" baseline="0" dirty="0" smtClean="0">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pPr lvl="0"/>
            <a:r>
              <a:rPr lang="en-US"/>
              <a:t>Click to add notes / source</a:t>
            </a:r>
            <a:endParaRPr lang="en-GB"/>
          </a:p>
        </p:txBody>
      </p:sp>
      <p:sp>
        <p:nvSpPr>
          <p:cNvPr id="11" name="Text Placeholder 25">
            <a:extLst>
              <a:ext uri="{FF2B5EF4-FFF2-40B4-BE49-F238E27FC236}">
                <a16:creationId xmlns:a16="http://schemas.microsoft.com/office/drawing/2014/main" id="{7F10AD2D-0BF4-9D24-5792-49076620F609}"/>
              </a:ext>
            </a:extLst>
          </p:cNvPr>
          <p:cNvSpPr>
            <a:spLocks noGrp="1"/>
          </p:cNvSpPr>
          <p:nvPr>
            <p:ph type="body" sz="quarter" idx="16" hasCustomPrompt="1"/>
          </p:nvPr>
        </p:nvSpPr>
        <p:spPr>
          <a:xfrm>
            <a:off x="370105" y="1202772"/>
            <a:ext cx="3816000" cy="353364"/>
          </a:xfrm>
        </p:spPr>
        <p:txBody>
          <a:bodyPr>
            <a:noAutofit/>
          </a:bodyPr>
          <a:lstStyle>
            <a:lvl1pPr marL="0" indent="0" algn="ctr">
              <a:buNone/>
              <a:defRPr sz="1800" b="1">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US" dirty="0"/>
              <a:t>Click to edit subtitle</a:t>
            </a:r>
          </a:p>
        </p:txBody>
      </p:sp>
      <p:cxnSp>
        <p:nvCxnSpPr>
          <p:cNvPr id="12" name="Straight Connector 11">
            <a:extLst>
              <a:ext uri="{FF2B5EF4-FFF2-40B4-BE49-F238E27FC236}">
                <a16:creationId xmlns:a16="http://schemas.microsoft.com/office/drawing/2014/main" id="{86514663-D852-2CBD-328B-FF61526E1B5D}"/>
              </a:ext>
            </a:extLst>
          </p:cNvPr>
          <p:cNvCxnSpPr>
            <a:cxnSpLocks/>
          </p:cNvCxnSpPr>
          <p:nvPr userDrawn="1"/>
        </p:nvCxnSpPr>
        <p:spPr>
          <a:xfrm>
            <a:off x="1416000" y="1420813"/>
            <a:ext cx="1690381"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3" name="Text Placeholder 25">
            <a:extLst>
              <a:ext uri="{FF2B5EF4-FFF2-40B4-BE49-F238E27FC236}">
                <a16:creationId xmlns:a16="http://schemas.microsoft.com/office/drawing/2014/main" id="{0748CA7C-6726-3CBC-2F7E-A50E46856284}"/>
              </a:ext>
            </a:extLst>
          </p:cNvPr>
          <p:cNvSpPr>
            <a:spLocks noGrp="1"/>
          </p:cNvSpPr>
          <p:nvPr>
            <p:ph type="body" sz="quarter" idx="17" hasCustomPrompt="1"/>
          </p:nvPr>
        </p:nvSpPr>
        <p:spPr>
          <a:xfrm>
            <a:off x="4186381" y="1067735"/>
            <a:ext cx="3816000" cy="353364"/>
          </a:xfrm>
        </p:spPr>
        <p:txBody>
          <a:bodyPr>
            <a:noAutofit/>
          </a:bodyPr>
          <a:lstStyle>
            <a:lvl1pPr marL="0" indent="0" algn="ctr">
              <a:buNone/>
              <a:defRPr sz="1800" b="1">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US" dirty="0"/>
              <a:t>Click to edit subtitle</a:t>
            </a:r>
          </a:p>
        </p:txBody>
      </p:sp>
      <p:cxnSp>
        <p:nvCxnSpPr>
          <p:cNvPr id="15" name="Straight Connector 14">
            <a:extLst>
              <a:ext uri="{FF2B5EF4-FFF2-40B4-BE49-F238E27FC236}">
                <a16:creationId xmlns:a16="http://schemas.microsoft.com/office/drawing/2014/main" id="{93885992-EC9B-BC50-AB59-85F7ECC2945A}"/>
              </a:ext>
            </a:extLst>
          </p:cNvPr>
          <p:cNvCxnSpPr>
            <a:cxnSpLocks/>
          </p:cNvCxnSpPr>
          <p:nvPr userDrawn="1"/>
        </p:nvCxnSpPr>
        <p:spPr>
          <a:xfrm>
            <a:off x="9127657" y="1414841"/>
            <a:ext cx="1690381"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Text Placeholder 21">
            <a:extLst>
              <a:ext uri="{FF2B5EF4-FFF2-40B4-BE49-F238E27FC236}">
                <a16:creationId xmlns:a16="http://schemas.microsoft.com/office/drawing/2014/main" id="{DE9D4FBB-1869-E797-6EE9-C8BE9B8C6C81}"/>
              </a:ext>
            </a:extLst>
          </p:cNvPr>
          <p:cNvSpPr>
            <a:spLocks noGrp="1"/>
          </p:cNvSpPr>
          <p:nvPr>
            <p:ph type="body" sz="quarter" idx="18" hasCustomPrompt="1"/>
          </p:nvPr>
        </p:nvSpPr>
        <p:spPr>
          <a:xfrm>
            <a:off x="336550" y="1420813"/>
            <a:ext cx="3816000" cy="334962"/>
          </a:xfrm>
        </p:spPr>
        <p:txBody>
          <a:bodyPr>
            <a:normAutofit/>
          </a:bodyPr>
          <a:lstStyle>
            <a:lvl1pPr marL="0" indent="0" algn="ctr">
              <a:buNone/>
              <a:defRPr sz="1400">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GB" dirty="0"/>
              <a:t>Click to edit second line subtitle</a:t>
            </a:r>
          </a:p>
        </p:txBody>
      </p:sp>
      <p:sp>
        <p:nvSpPr>
          <p:cNvPr id="17" name="Chart Placeholder 6">
            <a:extLst>
              <a:ext uri="{FF2B5EF4-FFF2-40B4-BE49-F238E27FC236}">
                <a16:creationId xmlns:a16="http://schemas.microsoft.com/office/drawing/2014/main" id="{E19CF93B-DD3F-9F93-DBB8-ED13F11356E4}"/>
              </a:ext>
            </a:extLst>
          </p:cNvPr>
          <p:cNvSpPr>
            <a:spLocks noGrp="1"/>
          </p:cNvSpPr>
          <p:nvPr>
            <p:ph type="chart" sz="quarter" idx="20"/>
          </p:nvPr>
        </p:nvSpPr>
        <p:spPr>
          <a:xfrm>
            <a:off x="4188001" y="1778305"/>
            <a:ext cx="3816000" cy="4289479"/>
          </a:xfrm>
        </p:spPr>
        <p:txBody>
          <a:bodyPr/>
          <a:lstStyle/>
          <a:p>
            <a:endParaRPr lang="en-GB"/>
          </a:p>
        </p:txBody>
      </p:sp>
      <p:sp>
        <p:nvSpPr>
          <p:cNvPr id="18" name="Text Placeholder 21">
            <a:extLst>
              <a:ext uri="{FF2B5EF4-FFF2-40B4-BE49-F238E27FC236}">
                <a16:creationId xmlns:a16="http://schemas.microsoft.com/office/drawing/2014/main" id="{CD294F83-C6EC-2B7D-76E1-F2BA89B42928}"/>
              </a:ext>
            </a:extLst>
          </p:cNvPr>
          <p:cNvSpPr>
            <a:spLocks noGrp="1"/>
          </p:cNvSpPr>
          <p:nvPr>
            <p:ph type="body" sz="quarter" idx="21" hasCustomPrompt="1"/>
          </p:nvPr>
        </p:nvSpPr>
        <p:spPr>
          <a:xfrm>
            <a:off x="4191643" y="1435092"/>
            <a:ext cx="3816000" cy="334962"/>
          </a:xfrm>
        </p:spPr>
        <p:txBody>
          <a:bodyPr>
            <a:normAutofit/>
          </a:bodyPr>
          <a:lstStyle>
            <a:lvl1pPr marL="0" indent="0" algn="ctr">
              <a:buNone/>
              <a:defRPr sz="1400">
                <a:solidFill>
                  <a:srgbClr val="002060"/>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GB" dirty="0"/>
              <a:t>Click to edit second line subtitle</a:t>
            </a:r>
          </a:p>
        </p:txBody>
      </p:sp>
      <p:sp>
        <p:nvSpPr>
          <p:cNvPr id="19" name="Text Placeholder 21">
            <a:extLst>
              <a:ext uri="{FF2B5EF4-FFF2-40B4-BE49-F238E27FC236}">
                <a16:creationId xmlns:a16="http://schemas.microsoft.com/office/drawing/2014/main" id="{61F82D19-4222-5ABD-59AC-EC1B4750546F}"/>
              </a:ext>
            </a:extLst>
          </p:cNvPr>
          <p:cNvSpPr>
            <a:spLocks noGrp="1"/>
          </p:cNvSpPr>
          <p:nvPr>
            <p:ph type="body" sz="quarter" idx="22" hasCustomPrompt="1"/>
          </p:nvPr>
        </p:nvSpPr>
        <p:spPr>
          <a:xfrm>
            <a:off x="8040002" y="1420813"/>
            <a:ext cx="3816000" cy="334962"/>
          </a:xfrm>
        </p:spPr>
        <p:txBody>
          <a:bodyPr>
            <a:normAutofit/>
          </a:bodyPr>
          <a:lstStyle>
            <a:lvl1pPr marL="0" indent="0" algn="ctr">
              <a:buNone/>
              <a:defRPr sz="1400">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GB" dirty="0"/>
              <a:t>Click to edit second line subtitle</a:t>
            </a:r>
          </a:p>
        </p:txBody>
      </p:sp>
      <p:sp>
        <p:nvSpPr>
          <p:cNvPr id="20" name="Text Placeholder 25">
            <a:extLst>
              <a:ext uri="{FF2B5EF4-FFF2-40B4-BE49-F238E27FC236}">
                <a16:creationId xmlns:a16="http://schemas.microsoft.com/office/drawing/2014/main" id="{BD96EDBC-EB7E-9C1F-723C-C43A1B07A975}"/>
              </a:ext>
            </a:extLst>
          </p:cNvPr>
          <p:cNvSpPr>
            <a:spLocks noGrp="1"/>
          </p:cNvSpPr>
          <p:nvPr>
            <p:ph type="body" sz="quarter" idx="23" hasCustomPrompt="1"/>
          </p:nvPr>
        </p:nvSpPr>
        <p:spPr>
          <a:xfrm>
            <a:off x="8039450" y="1071961"/>
            <a:ext cx="3816000" cy="353364"/>
          </a:xfrm>
        </p:spPr>
        <p:txBody>
          <a:bodyPr>
            <a:noAutofit/>
          </a:bodyPr>
          <a:lstStyle>
            <a:lvl1pPr marL="0" indent="0" algn="ctr">
              <a:buNone/>
              <a:defRPr sz="1800" b="1">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US" dirty="0"/>
              <a:t>Click to edit subtitle</a:t>
            </a:r>
          </a:p>
        </p:txBody>
      </p:sp>
      <p:cxnSp>
        <p:nvCxnSpPr>
          <p:cNvPr id="21" name="Straight Connector 20">
            <a:extLst>
              <a:ext uri="{FF2B5EF4-FFF2-40B4-BE49-F238E27FC236}">
                <a16:creationId xmlns:a16="http://schemas.microsoft.com/office/drawing/2014/main" id="{D8633FB7-31A0-5F88-5A43-1AE9CD530244}"/>
              </a:ext>
            </a:extLst>
          </p:cNvPr>
          <p:cNvCxnSpPr>
            <a:cxnSpLocks/>
          </p:cNvCxnSpPr>
          <p:nvPr userDrawn="1"/>
        </p:nvCxnSpPr>
        <p:spPr>
          <a:xfrm>
            <a:off x="5250809" y="1414841"/>
            <a:ext cx="1690381"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E8E2D71F-8183-5AD0-167E-D8C4B65069F9}"/>
              </a:ext>
            </a:extLst>
          </p:cNvPr>
          <p:cNvSpPr>
            <a:spLocks noGrp="1"/>
          </p:cNvSpPr>
          <p:nvPr>
            <p:ph type="title" hasCustomPrompt="1"/>
          </p:nvPr>
        </p:nvSpPr>
        <p:spPr>
          <a:xfrm>
            <a:off x="344389" y="19405"/>
            <a:ext cx="11519999" cy="1022400"/>
          </a:xfrm>
          <a:prstGeom prst="rect">
            <a:avLst/>
          </a:prstGeom>
        </p:spPr>
        <p:txBody>
          <a:bodyPr vert="horz" lIns="91440" tIns="45720" rIns="91440" bIns="45720" rtlCol="0" anchor="ctr">
            <a:noAutofit/>
          </a:bodyPr>
          <a:lstStyle>
            <a:lvl1pPr algn="ctr">
              <a:defRPr sz="2400" b="1">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r>
              <a:rPr lang="en-US" dirty="0"/>
              <a:t>Click to edit Slide title</a:t>
            </a:r>
            <a:br>
              <a:rPr lang="en-US" dirty="0"/>
            </a:br>
            <a:r>
              <a:rPr lang="en-US" dirty="0"/>
              <a:t>Slide title can be extended to two lines</a:t>
            </a:r>
          </a:p>
        </p:txBody>
      </p:sp>
    </p:spTree>
    <p:extLst>
      <p:ext uri="{BB962C8B-B14F-4D97-AF65-F5344CB8AC3E}">
        <p14:creationId xmlns:p14="http://schemas.microsoft.com/office/powerpoint/2010/main" val="1334380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032A4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E39602-9458-8BA0-E670-35D55E13A565}"/>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Slide Number Placeholder 2">
            <a:extLst>
              <a:ext uri="{FF2B5EF4-FFF2-40B4-BE49-F238E27FC236}">
                <a16:creationId xmlns:a16="http://schemas.microsoft.com/office/drawing/2014/main" id="{E430B0CA-4F17-E9C8-28F8-C5E6503EBF86}"/>
              </a:ext>
            </a:extLst>
          </p:cNvPr>
          <p:cNvSpPr>
            <a:spLocks noGrp="1"/>
          </p:cNvSpPr>
          <p:nvPr>
            <p:ph type="sldNum" sz="quarter" idx="10"/>
          </p:nvPr>
        </p:nvSpPr>
        <p:spPr/>
        <p:txBody>
          <a:bodyPr/>
          <a:lstStyle/>
          <a:p>
            <a:fld id="{C88BD8DC-0F29-4F44-900B-940C0349A13F}" type="slidenum">
              <a:rPr lang="en-GB" smtClean="0"/>
              <a:t>‹#›</a:t>
            </a:fld>
            <a:endParaRPr lang="en-GB"/>
          </a:p>
        </p:txBody>
      </p:sp>
      <p:cxnSp>
        <p:nvCxnSpPr>
          <p:cNvPr id="7" name="Straight Connector 6">
            <a:extLst>
              <a:ext uri="{FF2B5EF4-FFF2-40B4-BE49-F238E27FC236}">
                <a16:creationId xmlns:a16="http://schemas.microsoft.com/office/drawing/2014/main" id="{1A8BE07A-0512-C3FE-6DF4-E3B7CFA8EF21}"/>
              </a:ext>
            </a:extLst>
          </p:cNvPr>
          <p:cNvCxnSpPr/>
          <p:nvPr userDrawn="1"/>
        </p:nvCxnSpPr>
        <p:spPr>
          <a:xfrm>
            <a:off x="4666268" y="1835870"/>
            <a:ext cx="0" cy="318626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Picture 7" descr="A white circle with a black background&#10;&#10;Description automatically generated">
            <a:extLst>
              <a:ext uri="{FF2B5EF4-FFF2-40B4-BE49-F238E27FC236}">
                <a16:creationId xmlns:a16="http://schemas.microsoft.com/office/drawing/2014/main" id="{7985DD6A-6417-4F1F-189F-56C608C8F21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43467" y="6149483"/>
            <a:ext cx="1697944" cy="433454"/>
          </a:xfrm>
          <a:prstGeom prst="rect">
            <a:avLst/>
          </a:prstGeom>
        </p:spPr>
      </p:pic>
      <p:sp>
        <p:nvSpPr>
          <p:cNvPr id="9" name="Text Placeholder 8">
            <a:extLst>
              <a:ext uri="{FF2B5EF4-FFF2-40B4-BE49-F238E27FC236}">
                <a16:creationId xmlns:a16="http://schemas.microsoft.com/office/drawing/2014/main" id="{DB00DFC0-86BF-CF81-233B-D2344882E8C0}"/>
              </a:ext>
            </a:extLst>
          </p:cNvPr>
          <p:cNvSpPr>
            <a:spLocks noGrp="1"/>
          </p:cNvSpPr>
          <p:nvPr>
            <p:ph type="body" sz="quarter" idx="11" hasCustomPrompt="1"/>
          </p:nvPr>
        </p:nvSpPr>
        <p:spPr>
          <a:xfrm>
            <a:off x="4986392" y="1943100"/>
            <a:ext cx="5829300" cy="2971800"/>
          </a:xfrm>
        </p:spPr>
        <p:txBody>
          <a:bodyPr anchor="ctr">
            <a:normAutofit/>
          </a:bodyPr>
          <a:lstStyle>
            <a:lvl1pPr marL="0" indent="0" algn="l">
              <a:buNone/>
              <a:defRPr sz="4800" b="1">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pPr lvl="0"/>
            <a:r>
              <a:rPr lang="en-GB" dirty="0"/>
              <a:t>Click to add the section name</a:t>
            </a:r>
          </a:p>
        </p:txBody>
      </p:sp>
      <p:sp>
        <p:nvSpPr>
          <p:cNvPr id="6" name="Text Placeholder 5">
            <a:extLst>
              <a:ext uri="{FF2B5EF4-FFF2-40B4-BE49-F238E27FC236}">
                <a16:creationId xmlns:a16="http://schemas.microsoft.com/office/drawing/2014/main" id="{316C0912-8A4C-0FD1-6BF4-B40E21164F0F}"/>
              </a:ext>
            </a:extLst>
          </p:cNvPr>
          <p:cNvSpPr>
            <a:spLocks noGrp="1"/>
          </p:cNvSpPr>
          <p:nvPr>
            <p:ph type="body" sz="quarter" idx="12" hasCustomPrompt="1"/>
          </p:nvPr>
        </p:nvSpPr>
        <p:spPr>
          <a:xfrm>
            <a:off x="728233" y="937419"/>
            <a:ext cx="3617912" cy="4983162"/>
          </a:xfrm>
        </p:spPr>
        <p:txBody>
          <a:bodyPr anchor="ctr">
            <a:normAutofit/>
          </a:bodyPr>
          <a:lstStyle>
            <a:lvl1pPr marL="0" indent="0">
              <a:buNone/>
              <a:defRPr sz="3600" b="1">
                <a:solidFill>
                  <a:schemeClr val="accent6"/>
                </a:solidFill>
                <a:latin typeface="Noto Sans Display" panose="020B0502040504020204" pitchFamily="34" charset="0"/>
                <a:ea typeface="Noto Sans Display" panose="020B0502040504020204" pitchFamily="34" charset="0"/>
                <a:cs typeface="Noto Sans Display" panose="020B0502040504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Title of the presentation</a:t>
            </a:r>
          </a:p>
        </p:txBody>
      </p:sp>
    </p:spTree>
    <p:extLst>
      <p:ext uri="{BB962C8B-B14F-4D97-AF65-F5344CB8AC3E}">
        <p14:creationId xmlns:p14="http://schemas.microsoft.com/office/powerpoint/2010/main" val="1436954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mming up slide - bullet points">
    <p:bg>
      <p:bgPr>
        <a:solidFill>
          <a:srgbClr val="042C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75676D-B299-5FD6-A8CE-1D9B2E2A4D80}"/>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Slide Number Placeholder 2">
            <a:extLst>
              <a:ext uri="{FF2B5EF4-FFF2-40B4-BE49-F238E27FC236}">
                <a16:creationId xmlns:a16="http://schemas.microsoft.com/office/drawing/2014/main" id="{E430B0CA-4F17-E9C8-28F8-C5E6503EBF86}"/>
              </a:ext>
            </a:extLst>
          </p:cNvPr>
          <p:cNvSpPr>
            <a:spLocks noGrp="1"/>
          </p:cNvSpPr>
          <p:nvPr>
            <p:ph type="sldNum" sz="quarter" idx="10"/>
          </p:nvPr>
        </p:nvSpPr>
        <p:spPr/>
        <p:txBody>
          <a:bodyPr/>
          <a:lstStyle/>
          <a:p>
            <a:fld id="{C88BD8DC-0F29-4F44-900B-940C0349A13F}" type="slidenum">
              <a:rPr lang="en-GB" smtClean="0"/>
              <a:t>‹#›</a:t>
            </a:fld>
            <a:endParaRPr lang="en-GB"/>
          </a:p>
        </p:txBody>
      </p:sp>
      <p:cxnSp>
        <p:nvCxnSpPr>
          <p:cNvPr id="7" name="Straight Connector 6">
            <a:extLst>
              <a:ext uri="{FF2B5EF4-FFF2-40B4-BE49-F238E27FC236}">
                <a16:creationId xmlns:a16="http://schemas.microsoft.com/office/drawing/2014/main" id="{1A8BE07A-0512-C3FE-6DF4-E3B7CFA8EF21}"/>
              </a:ext>
            </a:extLst>
          </p:cNvPr>
          <p:cNvCxnSpPr>
            <a:cxnSpLocks/>
          </p:cNvCxnSpPr>
          <p:nvPr userDrawn="1"/>
        </p:nvCxnSpPr>
        <p:spPr>
          <a:xfrm>
            <a:off x="3323243" y="182363"/>
            <a:ext cx="0" cy="1817887"/>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Picture 7" descr="A white circle with a black background&#10;&#10;Description automatically generated">
            <a:extLst>
              <a:ext uri="{FF2B5EF4-FFF2-40B4-BE49-F238E27FC236}">
                <a16:creationId xmlns:a16="http://schemas.microsoft.com/office/drawing/2014/main" id="{7985DD6A-6417-4F1F-189F-56C608C8F21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43467" y="6149483"/>
            <a:ext cx="1697944" cy="433454"/>
          </a:xfrm>
          <a:prstGeom prst="rect">
            <a:avLst/>
          </a:prstGeom>
        </p:spPr>
      </p:pic>
      <p:sp>
        <p:nvSpPr>
          <p:cNvPr id="19" name="Text Placeholder 18">
            <a:extLst>
              <a:ext uri="{FF2B5EF4-FFF2-40B4-BE49-F238E27FC236}">
                <a16:creationId xmlns:a16="http://schemas.microsoft.com/office/drawing/2014/main" id="{F0952E41-F4DE-0A5E-F33C-A81AA29867DA}"/>
              </a:ext>
            </a:extLst>
          </p:cNvPr>
          <p:cNvSpPr>
            <a:spLocks noGrp="1"/>
          </p:cNvSpPr>
          <p:nvPr>
            <p:ph type="body" sz="quarter" idx="11" hasCustomPrompt="1"/>
          </p:nvPr>
        </p:nvSpPr>
        <p:spPr>
          <a:xfrm>
            <a:off x="3710042" y="486558"/>
            <a:ext cx="4591050" cy="644525"/>
          </a:xfrm>
        </p:spPr>
        <p:txBody>
          <a:bodyPr>
            <a:normAutofit/>
          </a:bodyPr>
          <a:lstStyle>
            <a:lvl1pPr marL="0" indent="0">
              <a:buNone/>
              <a:defRPr sz="2400" b="1">
                <a:solidFill>
                  <a:srgbClr val="00B0F0"/>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pPr lvl="0"/>
            <a:r>
              <a:rPr lang="en-US" dirty="0"/>
              <a:t>Summing up:</a:t>
            </a:r>
            <a:endParaRPr lang="en-GB" dirty="0"/>
          </a:p>
        </p:txBody>
      </p:sp>
      <p:sp>
        <p:nvSpPr>
          <p:cNvPr id="9" name="Picture Placeholder 8">
            <a:extLst>
              <a:ext uri="{FF2B5EF4-FFF2-40B4-BE49-F238E27FC236}">
                <a16:creationId xmlns:a16="http://schemas.microsoft.com/office/drawing/2014/main" id="{3AA337C1-479A-1511-DEF3-CEF3768DB26D}"/>
              </a:ext>
            </a:extLst>
          </p:cNvPr>
          <p:cNvSpPr>
            <a:spLocks noGrp="1"/>
          </p:cNvSpPr>
          <p:nvPr>
            <p:ph type="pic" sz="quarter" idx="12" hasCustomPrompt="1"/>
          </p:nvPr>
        </p:nvSpPr>
        <p:spPr>
          <a:xfrm>
            <a:off x="669695" y="3216334"/>
            <a:ext cx="1698625" cy="2460625"/>
          </a:xfrm>
        </p:spPr>
        <p:txBody>
          <a:bodyPr>
            <a:normAutofit/>
          </a:bodyPr>
          <a:lstStyle>
            <a:lvl1pPr marL="0" indent="0" algn="ctr">
              <a:buNone/>
              <a:defRPr sz="2400"/>
            </a:lvl1pPr>
          </a:lstStyle>
          <a:p>
            <a:r>
              <a:rPr lang="en-GB" dirty="0"/>
              <a:t>Thumbnail of the pub cover to add</a:t>
            </a:r>
          </a:p>
        </p:txBody>
      </p:sp>
      <p:sp>
        <p:nvSpPr>
          <p:cNvPr id="10" name="Text Placeholder 9">
            <a:extLst>
              <a:ext uri="{FF2B5EF4-FFF2-40B4-BE49-F238E27FC236}">
                <a16:creationId xmlns:a16="http://schemas.microsoft.com/office/drawing/2014/main" id="{95269E33-23A6-6D36-66CF-07BDAD6E3FD7}"/>
              </a:ext>
            </a:extLst>
          </p:cNvPr>
          <p:cNvSpPr>
            <a:spLocks noGrp="1"/>
          </p:cNvSpPr>
          <p:nvPr>
            <p:ph type="body" sz="quarter" idx="14" hasCustomPrompt="1"/>
          </p:nvPr>
        </p:nvSpPr>
        <p:spPr>
          <a:xfrm>
            <a:off x="417512" y="182363"/>
            <a:ext cx="3698875" cy="1738312"/>
          </a:xfrm>
        </p:spPr>
        <p:txBody>
          <a:bodyPr>
            <a:normAutofit/>
          </a:bodyPr>
          <a:lstStyle>
            <a:lvl1pPr marL="0" indent="0">
              <a:buNone/>
              <a:defRPr sz="2400" b="1">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Title of the presentation</a:t>
            </a:r>
          </a:p>
        </p:txBody>
      </p:sp>
      <p:sp>
        <p:nvSpPr>
          <p:cNvPr id="11" name="Text Placeholder 10">
            <a:extLst>
              <a:ext uri="{FF2B5EF4-FFF2-40B4-BE49-F238E27FC236}">
                <a16:creationId xmlns:a16="http://schemas.microsoft.com/office/drawing/2014/main" id="{BB641DE1-9347-F257-6D83-55E35CD8CD7D}"/>
              </a:ext>
            </a:extLst>
          </p:cNvPr>
          <p:cNvSpPr>
            <a:spLocks noGrp="1"/>
          </p:cNvSpPr>
          <p:nvPr>
            <p:ph type="body" sz="quarter" idx="15" hasCustomPrompt="1"/>
          </p:nvPr>
        </p:nvSpPr>
        <p:spPr>
          <a:xfrm>
            <a:off x="417513" y="2000250"/>
            <a:ext cx="2190750" cy="809625"/>
          </a:xfrm>
        </p:spPr>
        <p:txBody>
          <a:bodyPr>
            <a:normAutofit/>
          </a:bodyPr>
          <a:lstStyle>
            <a:lvl1pPr marL="0" indent="0">
              <a:buNone/>
              <a:defRPr sz="2200" b="1">
                <a:solidFill>
                  <a:schemeClr val="accent6"/>
                </a:solidFill>
                <a:latin typeface="Noto Sans Display" panose="020B0502040504020204" pitchFamily="34" charset="0"/>
                <a:ea typeface="Noto Sans Display" panose="020B0502040504020204" pitchFamily="34" charset="0"/>
                <a:cs typeface="Noto Sans Display" panose="020B0502040504020204" pitchFamily="34" charset="0"/>
              </a:defRPr>
            </a:lvl1pPr>
            <a:lvl2pPr marL="457200" indent="0">
              <a:buNone/>
              <a:defRPr/>
            </a:lvl2pPr>
          </a:lstStyle>
          <a:p>
            <a:pPr lvl="0"/>
            <a:r>
              <a:rPr lang="en-US" dirty="0"/>
              <a:t>Subtitle</a:t>
            </a:r>
            <a:endParaRPr lang="en-GB" dirty="0"/>
          </a:p>
        </p:txBody>
      </p:sp>
    </p:spTree>
    <p:extLst>
      <p:ext uri="{BB962C8B-B14F-4D97-AF65-F5344CB8AC3E}">
        <p14:creationId xmlns:p14="http://schemas.microsoft.com/office/powerpoint/2010/main" val="3183999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 links">
    <p:bg>
      <p:bgPr>
        <a:solidFill>
          <a:srgbClr val="053046"/>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CC6E8B-6438-8057-13B9-3FDF630FB348}"/>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Slide Number Placeholder 2">
            <a:extLst>
              <a:ext uri="{FF2B5EF4-FFF2-40B4-BE49-F238E27FC236}">
                <a16:creationId xmlns:a16="http://schemas.microsoft.com/office/drawing/2014/main" id="{E430B0CA-4F17-E9C8-28F8-C5E6503EBF86}"/>
              </a:ext>
            </a:extLst>
          </p:cNvPr>
          <p:cNvSpPr>
            <a:spLocks noGrp="1"/>
          </p:cNvSpPr>
          <p:nvPr>
            <p:ph type="sldNum" sz="quarter" idx="10"/>
          </p:nvPr>
        </p:nvSpPr>
        <p:spPr/>
        <p:txBody>
          <a:bodyPr/>
          <a:lstStyle/>
          <a:p>
            <a:fld id="{C88BD8DC-0F29-4F44-900B-940C0349A13F}" type="slidenum">
              <a:rPr lang="en-GB" smtClean="0"/>
              <a:t>‹#›</a:t>
            </a:fld>
            <a:endParaRPr lang="en-GB"/>
          </a:p>
        </p:txBody>
      </p:sp>
      <p:sp>
        <p:nvSpPr>
          <p:cNvPr id="6" name="Text Placeholder 3">
            <a:extLst>
              <a:ext uri="{FF2B5EF4-FFF2-40B4-BE49-F238E27FC236}">
                <a16:creationId xmlns:a16="http://schemas.microsoft.com/office/drawing/2014/main" id="{ED5017DE-1FF1-53F9-4C36-33169E5E3DAE}"/>
              </a:ext>
            </a:extLst>
          </p:cNvPr>
          <p:cNvSpPr txBox="1">
            <a:spLocks/>
          </p:cNvSpPr>
          <p:nvPr userDrawn="1"/>
        </p:nvSpPr>
        <p:spPr>
          <a:xfrm>
            <a:off x="856357" y="1841491"/>
            <a:ext cx="6591346" cy="4023417"/>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50000"/>
              </a:lnSpc>
              <a:buFont typeface="Arial" panose="020B0604020202020204" pitchFamily="34" charset="0"/>
              <a:buNone/>
            </a:pPr>
            <a:endParaRPr lang="en-US" sz="2600" b="1">
              <a:solidFill>
                <a:schemeClr val="bg1"/>
              </a:solidFill>
              <a:latin typeface="Corbel" panose="020B0503020204020204" pitchFamily="34" charset="0"/>
              <a:ea typeface="Calibri" panose="020F0502020204030204" pitchFamily="34" charset="0"/>
              <a:cs typeface="Calibri" panose="020F0502020204030204" pitchFamily="34" charset="0"/>
            </a:endParaRPr>
          </a:p>
        </p:txBody>
      </p:sp>
      <p:cxnSp>
        <p:nvCxnSpPr>
          <p:cNvPr id="7" name="Straight Connector 6">
            <a:extLst>
              <a:ext uri="{FF2B5EF4-FFF2-40B4-BE49-F238E27FC236}">
                <a16:creationId xmlns:a16="http://schemas.microsoft.com/office/drawing/2014/main" id="{1A8BE07A-0512-C3FE-6DF4-E3B7CFA8EF21}"/>
              </a:ext>
            </a:extLst>
          </p:cNvPr>
          <p:cNvCxnSpPr>
            <a:cxnSpLocks/>
          </p:cNvCxnSpPr>
          <p:nvPr userDrawn="1"/>
        </p:nvCxnSpPr>
        <p:spPr>
          <a:xfrm>
            <a:off x="376767" y="2221677"/>
            <a:ext cx="0" cy="1015725"/>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Picture 7" descr="A white circle with a black background&#10;&#10;Description automatically generated">
            <a:extLst>
              <a:ext uri="{FF2B5EF4-FFF2-40B4-BE49-F238E27FC236}">
                <a16:creationId xmlns:a16="http://schemas.microsoft.com/office/drawing/2014/main" id="{7985DD6A-6417-4F1F-189F-56C608C8F21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82692" y="6317273"/>
            <a:ext cx="1697944" cy="433454"/>
          </a:xfrm>
          <a:prstGeom prst="rect">
            <a:avLst/>
          </a:prstGeom>
        </p:spPr>
      </p:pic>
      <p:grpSp>
        <p:nvGrpSpPr>
          <p:cNvPr id="23" name="Group 22">
            <a:extLst>
              <a:ext uri="{FF2B5EF4-FFF2-40B4-BE49-F238E27FC236}">
                <a16:creationId xmlns:a16="http://schemas.microsoft.com/office/drawing/2014/main" id="{73B01A27-E341-0D07-E13A-0F9E9CD9D216}"/>
              </a:ext>
            </a:extLst>
          </p:cNvPr>
          <p:cNvGrpSpPr/>
          <p:nvPr userDrawn="1"/>
        </p:nvGrpSpPr>
        <p:grpSpPr>
          <a:xfrm>
            <a:off x="572181" y="3489799"/>
            <a:ext cx="11062380" cy="2370578"/>
            <a:chOff x="668466" y="3409085"/>
            <a:chExt cx="11062380" cy="2370578"/>
          </a:xfrm>
        </p:grpSpPr>
        <p:sp>
          <p:nvSpPr>
            <p:cNvPr id="2" name="ZoneTexte 4">
              <a:extLst>
                <a:ext uri="{FF2B5EF4-FFF2-40B4-BE49-F238E27FC236}">
                  <a16:creationId xmlns:a16="http://schemas.microsoft.com/office/drawing/2014/main" id="{E5F9121F-BF85-8500-7108-C7723FF2BD61}"/>
                </a:ext>
              </a:extLst>
            </p:cNvPr>
            <p:cNvSpPr txBox="1"/>
            <p:nvPr userDrawn="1"/>
          </p:nvSpPr>
          <p:spPr>
            <a:xfrm>
              <a:off x="1116804" y="3409085"/>
              <a:ext cx="4159408" cy="287323"/>
            </a:xfrm>
            <a:prstGeom prst="rect">
              <a:avLst/>
            </a:prstGeom>
            <a:noFill/>
          </p:spPr>
          <p:txBody>
            <a:bodyPr wrap="non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67"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https://www.oecd.org/economic-outlook</a:t>
              </a:r>
            </a:p>
          </p:txBody>
        </p:sp>
        <p:sp>
          <p:nvSpPr>
            <p:cNvPr id="9" name="ZoneTexte 5">
              <a:extLst>
                <a:ext uri="{FF2B5EF4-FFF2-40B4-BE49-F238E27FC236}">
                  <a16:creationId xmlns:a16="http://schemas.microsoft.com/office/drawing/2014/main" id="{ED1E4568-DE51-B978-B98F-8737C81A2E20}"/>
                </a:ext>
              </a:extLst>
            </p:cNvPr>
            <p:cNvSpPr txBox="1"/>
            <p:nvPr userDrawn="1"/>
          </p:nvSpPr>
          <p:spPr>
            <a:xfrm>
              <a:off x="1116802" y="5120813"/>
              <a:ext cx="3412409" cy="287323"/>
            </a:xfrm>
            <a:prstGeom prst="rect">
              <a:avLst/>
            </a:prstGeom>
            <a:noFill/>
          </p:spPr>
          <p:txBody>
            <a:bodyPr wrap="non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fr-FR" sz="1867"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https://twitter.com/oecdeconomy</a:t>
              </a:r>
            </a:p>
          </p:txBody>
        </p:sp>
        <p:sp>
          <p:nvSpPr>
            <p:cNvPr id="11" name="ZoneTexte 9">
              <a:extLst>
                <a:ext uri="{FF2B5EF4-FFF2-40B4-BE49-F238E27FC236}">
                  <a16:creationId xmlns:a16="http://schemas.microsoft.com/office/drawing/2014/main" id="{F4103F13-1E8A-0E08-6615-D92EB492FBBC}"/>
                </a:ext>
              </a:extLst>
            </p:cNvPr>
            <p:cNvSpPr txBox="1"/>
            <p:nvPr userDrawn="1"/>
          </p:nvSpPr>
          <p:spPr>
            <a:xfrm>
              <a:off x="9674193" y="5504153"/>
              <a:ext cx="2056653" cy="246221"/>
            </a:xfrm>
            <a:prstGeom prst="rect">
              <a:avLst/>
            </a:prstGeom>
            <a:noFill/>
          </p:spPr>
          <p:txBody>
            <a:bodyPr wrap="non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eco.contact@oecd.org</a:t>
              </a:r>
            </a:p>
          </p:txBody>
        </p:sp>
        <p:sp>
          <p:nvSpPr>
            <p:cNvPr id="12" name="ZoneTexte 11">
              <a:extLst>
                <a:ext uri="{FF2B5EF4-FFF2-40B4-BE49-F238E27FC236}">
                  <a16:creationId xmlns:a16="http://schemas.microsoft.com/office/drawing/2014/main" id="{AB22A5F3-4C2D-7CE4-7391-3EDA935599D4}"/>
                </a:ext>
              </a:extLst>
            </p:cNvPr>
            <p:cNvSpPr txBox="1"/>
            <p:nvPr userDrawn="1"/>
          </p:nvSpPr>
          <p:spPr>
            <a:xfrm>
              <a:off x="1116802" y="4751715"/>
              <a:ext cx="2843727" cy="287323"/>
            </a:xfrm>
            <a:prstGeom prst="rect">
              <a:avLst/>
            </a:prstGeom>
            <a:noFill/>
          </p:spPr>
          <p:txBody>
            <a:bodyPr wrap="non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867"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https://oecdecoscope.blog/</a:t>
              </a:r>
            </a:p>
          </p:txBody>
        </p:sp>
        <p:grpSp>
          <p:nvGrpSpPr>
            <p:cNvPr id="22" name="Group 21">
              <a:extLst>
                <a:ext uri="{FF2B5EF4-FFF2-40B4-BE49-F238E27FC236}">
                  <a16:creationId xmlns:a16="http://schemas.microsoft.com/office/drawing/2014/main" id="{E407D076-CF41-50D5-5C77-21F4F0DB10E8}"/>
                </a:ext>
              </a:extLst>
            </p:cNvPr>
            <p:cNvGrpSpPr/>
            <p:nvPr userDrawn="1"/>
          </p:nvGrpSpPr>
          <p:grpSpPr>
            <a:xfrm>
              <a:off x="668466" y="3588747"/>
              <a:ext cx="8975564" cy="2190916"/>
              <a:chOff x="668466" y="3588747"/>
              <a:chExt cx="8975564" cy="2190916"/>
            </a:xfrm>
          </p:grpSpPr>
          <p:pic>
            <p:nvPicPr>
              <p:cNvPr id="18" name="Picture 17" descr="A white x on a black background&#10;&#10;Description automatically generated">
                <a:extLst>
                  <a:ext uri="{FF2B5EF4-FFF2-40B4-BE49-F238E27FC236}">
                    <a16:creationId xmlns:a16="http://schemas.microsoft.com/office/drawing/2014/main" id="{B5FF6DE6-64CC-3D22-CE01-6B7B026F1D9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0985" y="5108764"/>
                <a:ext cx="287323" cy="287323"/>
              </a:xfrm>
              <a:prstGeom prst="rect">
                <a:avLst/>
              </a:prstGeom>
            </p:spPr>
          </p:pic>
          <p:pic>
            <p:nvPicPr>
              <p:cNvPr id="19" name="Image 7">
                <a:extLst>
                  <a:ext uri="{FF2B5EF4-FFF2-40B4-BE49-F238E27FC236}">
                    <a16:creationId xmlns:a16="http://schemas.microsoft.com/office/drawing/2014/main" id="{DCA7899D-A348-285D-EAB2-FD9EC4354F7E}"/>
                  </a:ext>
                </a:extLst>
              </p:cNvPr>
              <p:cNvPicPr>
                <a:picLocks noChangeAspect="1"/>
              </p:cNvPicPr>
              <p:nvPr userDrawn="1"/>
            </p:nvPicPr>
            <p:blipFill>
              <a:blip r:embed="rId5"/>
              <a:stretch>
                <a:fillRect/>
              </a:stretch>
            </p:blipFill>
            <p:spPr>
              <a:xfrm>
                <a:off x="668466" y="3588747"/>
                <a:ext cx="304800" cy="304800"/>
              </a:xfrm>
              <a:prstGeom prst="rect">
                <a:avLst/>
              </a:prstGeom>
            </p:spPr>
          </p:pic>
          <p:pic>
            <p:nvPicPr>
              <p:cNvPr id="20" name="Image 10">
                <a:extLst>
                  <a:ext uri="{FF2B5EF4-FFF2-40B4-BE49-F238E27FC236}">
                    <a16:creationId xmlns:a16="http://schemas.microsoft.com/office/drawing/2014/main" id="{56372E14-8B1B-659C-5F5C-59CC530526A7}"/>
                  </a:ext>
                </a:extLst>
              </p:cNvPr>
              <p:cNvPicPr>
                <a:picLocks noChangeAspect="1"/>
              </p:cNvPicPr>
              <p:nvPr userDrawn="1"/>
            </p:nvPicPr>
            <p:blipFill>
              <a:blip r:embed="rId6"/>
              <a:stretch>
                <a:fillRect/>
              </a:stretch>
            </p:blipFill>
            <p:spPr>
              <a:xfrm>
                <a:off x="9339230" y="5474863"/>
                <a:ext cx="304800" cy="304800"/>
              </a:xfrm>
              <a:prstGeom prst="rect">
                <a:avLst/>
              </a:prstGeom>
            </p:spPr>
          </p:pic>
          <p:pic>
            <p:nvPicPr>
              <p:cNvPr id="21" name="Image 12">
                <a:extLst>
                  <a:ext uri="{FF2B5EF4-FFF2-40B4-BE49-F238E27FC236}">
                    <a16:creationId xmlns:a16="http://schemas.microsoft.com/office/drawing/2014/main" id="{56F46D42-3E30-57B5-B8C8-4A42FB987BEB}"/>
                  </a:ext>
                </a:extLst>
              </p:cNvPr>
              <p:cNvPicPr>
                <a:picLocks noChangeAspect="1"/>
              </p:cNvPicPr>
              <p:nvPr userDrawn="1"/>
            </p:nvPicPr>
            <p:blipFill>
              <a:blip r:embed="rId7"/>
              <a:stretch>
                <a:fillRect/>
              </a:stretch>
            </p:blipFill>
            <p:spPr>
              <a:xfrm>
                <a:off x="668466" y="4734238"/>
                <a:ext cx="304800" cy="304800"/>
              </a:xfrm>
              <a:prstGeom prst="rect">
                <a:avLst/>
              </a:prstGeom>
            </p:spPr>
          </p:pic>
        </p:grpSp>
      </p:grpSp>
      <p:pic>
        <p:nvPicPr>
          <p:cNvPr id="37" name="Picture 36" descr="A black background with a black square&#10;&#10;Description automatically generated with medium confidence">
            <a:extLst>
              <a:ext uri="{FF2B5EF4-FFF2-40B4-BE49-F238E27FC236}">
                <a16:creationId xmlns:a16="http://schemas.microsoft.com/office/drawing/2014/main" id="{EF0555EE-3299-0BF6-BA1A-A6DD97C9CE6E}"/>
              </a:ext>
            </a:extLst>
          </p:cNvPr>
          <p:cNvPicPr>
            <a:picLocks noChangeAspect="1"/>
          </p:cNvPicPr>
          <p:nvPr userDrawn="1"/>
        </p:nvPicPr>
        <p:blipFill>
          <a:blip r:embed="rId8">
            <a:lum bright="70000" contrast="-70000"/>
            <a:extLst>
              <a:ext uri="{28A0092B-C50C-407E-A947-70E740481C1C}">
                <a14:useLocalDpi xmlns:a14="http://schemas.microsoft.com/office/drawing/2010/main" val="0"/>
              </a:ext>
            </a:extLst>
          </a:blip>
          <a:stretch>
            <a:fillRect/>
          </a:stretch>
        </p:blipFill>
        <p:spPr>
          <a:xfrm>
            <a:off x="604023" y="4462540"/>
            <a:ext cx="288000" cy="288000"/>
          </a:xfrm>
          <a:prstGeom prst="rect">
            <a:avLst/>
          </a:prstGeom>
        </p:spPr>
      </p:pic>
      <p:sp>
        <p:nvSpPr>
          <p:cNvPr id="49" name="Text Placeholder 48">
            <a:extLst>
              <a:ext uri="{FF2B5EF4-FFF2-40B4-BE49-F238E27FC236}">
                <a16:creationId xmlns:a16="http://schemas.microsoft.com/office/drawing/2014/main" id="{51F5A264-F259-1F58-11F6-F4A6BD15A7CC}"/>
              </a:ext>
            </a:extLst>
          </p:cNvPr>
          <p:cNvSpPr>
            <a:spLocks noGrp="1"/>
          </p:cNvSpPr>
          <p:nvPr>
            <p:ph type="body" sz="quarter" idx="11" hasCustomPrompt="1"/>
          </p:nvPr>
        </p:nvSpPr>
        <p:spPr>
          <a:xfrm>
            <a:off x="589658" y="2426223"/>
            <a:ext cx="4413250" cy="606425"/>
          </a:xfrm>
        </p:spPr>
        <p:txBody>
          <a:bodyPr/>
          <a:lstStyle>
            <a:lvl1pPr marL="0" indent="0">
              <a:buNone/>
              <a:defRPr sz="2400" b="1">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vl5pPr>
              <a:defRPr>
                <a:solidFill>
                  <a:schemeClr val="bg1"/>
                </a:solidFill>
                <a:latin typeface="Corbel" panose="020B0503020204020204" pitchFamily="34" charset="0"/>
              </a:defRPr>
            </a:lvl5pPr>
          </a:lstStyle>
          <a:p>
            <a:pPr lvl="0"/>
            <a:r>
              <a:rPr lang="en-US" dirty="0"/>
              <a:t>Find out more of our work:</a:t>
            </a:r>
          </a:p>
        </p:txBody>
      </p:sp>
      <p:sp>
        <p:nvSpPr>
          <p:cNvPr id="51" name="Text Placeholder 50">
            <a:extLst>
              <a:ext uri="{FF2B5EF4-FFF2-40B4-BE49-F238E27FC236}">
                <a16:creationId xmlns:a16="http://schemas.microsoft.com/office/drawing/2014/main" id="{FC9753C5-7F33-579E-8E1B-D5AA8DDE4AD2}"/>
              </a:ext>
            </a:extLst>
          </p:cNvPr>
          <p:cNvSpPr>
            <a:spLocks noGrp="1"/>
          </p:cNvSpPr>
          <p:nvPr>
            <p:ph type="body" sz="quarter" idx="12" hasCustomPrompt="1"/>
          </p:nvPr>
        </p:nvSpPr>
        <p:spPr>
          <a:xfrm>
            <a:off x="4806995" y="480408"/>
            <a:ext cx="2578009" cy="615950"/>
          </a:xfrm>
        </p:spPr>
        <p:txBody>
          <a:bodyPr>
            <a:noAutofit/>
          </a:bodyPr>
          <a:lstStyle>
            <a:lvl1pPr marL="0" indent="0">
              <a:buNone/>
              <a:defRPr sz="3200" b="1">
                <a:solidFill>
                  <a:schemeClr val="accent6"/>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pPr lvl="0"/>
            <a:r>
              <a:rPr lang="en-US" dirty="0"/>
              <a:t>Thank you!</a:t>
            </a:r>
            <a:endParaRPr lang="en-GB" dirty="0"/>
          </a:p>
        </p:txBody>
      </p:sp>
      <p:sp>
        <p:nvSpPr>
          <p:cNvPr id="4" name="ZoneTexte 4">
            <a:extLst>
              <a:ext uri="{FF2B5EF4-FFF2-40B4-BE49-F238E27FC236}">
                <a16:creationId xmlns:a16="http://schemas.microsoft.com/office/drawing/2014/main" id="{08DCCA1B-EE09-53A5-06EA-8301CA4614F0}"/>
              </a:ext>
            </a:extLst>
          </p:cNvPr>
          <p:cNvSpPr txBox="1"/>
          <p:nvPr userDrawn="1"/>
        </p:nvSpPr>
        <p:spPr>
          <a:xfrm>
            <a:off x="1020519" y="3837139"/>
            <a:ext cx="4159408" cy="287323"/>
          </a:xfrm>
          <a:prstGeom prst="rect">
            <a:avLst/>
          </a:prstGeom>
          <a:noFill/>
        </p:spPr>
        <p:txBody>
          <a:bodyPr wrap="non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67"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https://oe.cd/energy-measures-tracker</a:t>
            </a:r>
          </a:p>
        </p:txBody>
      </p:sp>
      <p:sp>
        <p:nvSpPr>
          <p:cNvPr id="10" name="ZoneTexte 4">
            <a:extLst>
              <a:ext uri="{FF2B5EF4-FFF2-40B4-BE49-F238E27FC236}">
                <a16:creationId xmlns:a16="http://schemas.microsoft.com/office/drawing/2014/main" id="{AEF46133-8245-0BE7-0864-86A2BF6C39C2}"/>
              </a:ext>
            </a:extLst>
          </p:cNvPr>
          <p:cNvSpPr txBox="1"/>
          <p:nvPr userDrawn="1"/>
        </p:nvSpPr>
        <p:spPr>
          <a:xfrm>
            <a:off x="1020517" y="4462540"/>
            <a:ext cx="5209375" cy="287323"/>
          </a:xfrm>
          <a:prstGeom prst="rect">
            <a:avLst/>
          </a:prstGeom>
          <a:noFill/>
        </p:spPr>
        <p:txBody>
          <a:bodyPr wrap="non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fr-FR" sz="1867"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https://www.linkedin.com/company/oecdeconomy</a:t>
            </a:r>
          </a:p>
        </p:txBody>
      </p:sp>
    </p:spTree>
    <p:extLst>
      <p:ext uri="{BB962C8B-B14F-4D97-AF65-F5344CB8AC3E}">
        <p14:creationId xmlns:p14="http://schemas.microsoft.com/office/powerpoint/2010/main" val="2986990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GDP growth projections table">
    <p:bg>
      <p:bgPr>
        <a:solidFill>
          <a:srgbClr val="042C4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4CDE58-14AB-DB0A-B5C2-422DBE7682CB}"/>
              </a:ext>
            </a:extLst>
          </p:cNvPr>
          <p:cNvPicPr>
            <a:picLocks noChangeAspect="1"/>
          </p:cNvPicPr>
          <p:nvPr userDrawn="1"/>
        </p:nvPicPr>
        <p:blipFill>
          <a:blip r:embed="rId2"/>
          <a:stretch>
            <a:fillRect/>
          </a:stretch>
        </p:blipFill>
        <p:spPr>
          <a:xfrm>
            <a:off x="0" y="0"/>
            <a:ext cx="12192000" cy="6857999"/>
          </a:xfrm>
          <a:prstGeom prst="rect">
            <a:avLst/>
          </a:prstGeom>
        </p:spPr>
      </p:pic>
      <p:graphicFrame>
        <p:nvGraphicFramePr>
          <p:cNvPr id="27" name="Table 26">
            <a:extLst>
              <a:ext uri="{FF2B5EF4-FFF2-40B4-BE49-F238E27FC236}">
                <a16:creationId xmlns:a16="http://schemas.microsoft.com/office/drawing/2014/main" id="{ABF93969-92C2-D84F-BD77-B43E39676FAF}"/>
              </a:ext>
            </a:extLst>
          </p:cNvPr>
          <p:cNvGraphicFramePr>
            <a:graphicFrameLocks noGrp="1"/>
          </p:cNvGraphicFramePr>
          <p:nvPr userDrawn="1">
            <p:extLst>
              <p:ext uri="{D42A27DB-BD31-4B8C-83A1-F6EECF244321}">
                <p14:modId xmlns:p14="http://schemas.microsoft.com/office/powerpoint/2010/main" val="3389781163"/>
              </p:ext>
            </p:extLst>
          </p:nvPr>
        </p:nvGraphicFramePr>
        <p:xfrm>
          <a:off x="727797" y="1335536"/>
          <a:ext cx="7227385" cy="689760"/>
        </p:xfrm>
        <a:graphic>
          <a:graphicData uri="http://schemas.openxmlformats.org/drawingml/2006/table">
            <a:tbl>
              <a:tblPr firstRow="1" bandRow="1">
                <a:tableStyleId>{2D5ABB26-0587-4C30-8999-92F81FD0307C}</a:tableStyleId>
              </a:tblPr>
              <a:tblGrid>
                <a:gridCol w="609075">
                  <a:extLst>
                    <a:ext uri="{9D8B030D-6E8A-4147-A177-3AD203B41FA5}">
                      <a16:colId xmlns:a16="http://schemas.microsoft.com/office/drawing/2014/main" val="601316617"/>
                    </a:ext>
                  </a:extLst>
                </a:gridCol>
                <a:gridCol w="3309155">
                  <a:extLst>
                    <a:ext uri="{9D8B030D-6E8A-4147-A177-3AD203B41FA5}">
                      <a16:colId xmlns:a16="http://schemas.microsoft.com/office/drawing/2014/main" val="2776902716"/>
                    </a:ext>
                  </a:extLst>
                </a:gridCol>
                <a:gridCol w="3309155">
                  <a:extLst>
                    <a:ext uri="{9D8B030D-6E8A-4147-A177-3AD203B41FA5}">
                      <a16:colId xmlns:a16="http://schemas.microsoft.com/office/drawing/2014/main" val="4062383243"/>
                    </a:ext>
                  </a:extLst>
                </a:gridCol>
              </a:tblGrid>
              <a:tr h="324000">
                <a:tc>
                  <a:txBody>
                    <a:bodyPr/>
                    <a:lstStyle/>
                    <a:p>
                      <a:endParaRPr lang="en-GB" dirty="0">
                        <a:solidFill>
                          <a:srgbClr val="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rtl="0" eaLnBrk="1" latinLnBrk="0" hangingPunct="1">
                        <a:spcBef>
                          <a:spcPts val="768"/>
                        </a:spcBef>
                        <a:buClr>
                          <a:schemeClr val="tx1"/>
                        </a:buClr>
                        <a:buFont typeface="Arial" pitchFamily="34" charset="0"/>
                        <a:buNone/>
                      </a:pPr>
                      <a:r>
                        <a:rPr kumimoji="0" lang="en-GB" sz="1400" b="0" kern="1200" dirty="0">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rPr>
                        <a:t>Upward revision, by 0.3pp or more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768"/>
                        </a:spcBef>
                        <a:spcAft>
                          <a:spcPts val="0"/>
                        </a:spcAft>
                        <a:buClr>
                          <a:schemeClr val="tx1"/>
                        </a:buClr>
                        <a:buSzTx/>
                        <a:buFont typeface="Arial" pitchFamily="34" charset="0"/>
                        <a:buNone/>
                        <a:tabLst/>
                        <a:defRPr/>
                      </a:pPr>
                      <a:endParaRPr kumimoji="0" lang="en-GB" sz="1400" b="0" kern="1200" dirty="0">
                        <a:solidFill>
                          <a:srgbClr val="002060"/>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09298347"/>
                  </a:ext>
                </a:extLst>
              </a:tr>
              <a:tr h="324000">
                <a:tc gridSpan="3">
                  <a:txBody>
                    <a:bodyPr/>
                    <a:lstStyle/>
                    <a:p>
                      <a:pPr marL="0" marR="0" lvl="0" indent="0" algn="ctr" defTabSz="914400" rtl="0" eaLnBrk="1" fontAlgn="auto" latinLnBrk="0" hangingPunct="1">
                        <a:lnSpc>
                          <a:spcPct val="100000"/>
                        </a:lnSpc>
                        <a:spcBef>
                          <a:spcPts val="768"/>
                        </a:spcBef>
                        <a:spcAft>
                          <a:spcPts val="0"/>
                        </a:spcAft>
                        <a:buClr>
                          <a:schemeClr val="tx1"/>
                        </a:buClr>
                        <a:buSzTx/>
                        <a:buFont typeface="Arial" pitchFamily="34" charset="0"/>
                        <a:buNone/>
                        <a:tabLst/>
                        <a:defRPr/>
                      </a:pPr>
                      <a:endParaRPr kumimoji="0" lang="en-GB" sz="1400" b="0" kern="1200" dirty="0">
                        <a:solidFill>
                          <a:srgbClr val="002060"/>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4400" rtl="0" eaLnBrk="1" fontAlgn="auto" latinLnBrk="0" hangingPunct="1">
                        <a:lnSpc>
                          <a:spcPct val="100000"/>
                        </a:lnSpc>
                        <a:spcBef>
                          <a:spcPts val="768"/>
                        </a:spcBef>
                        <a:spcAft>
                          <a:spcPts val="0"/>
                        </a:spcAft>
                        <a:buClr>
                          <a:schemeClr val="tx1"/>
                        </a:buClr>
                        <a:buSzTx/>
                        <a:buFont typeface="Arial" pitchFamily="34" charset="0"/>
                        <a:buNone/>
                        <a:tabLst/>
                        <a:defRPr/>
                      </a:pPr>
                      <a:endParaRPr kumimoji="0" lang="en-GB" sz="1400" b="0" kern="1200" dirty="0">
                        <a:solidFill>
                          <a:srgbClr val="002060"/>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40783146"/>
                  </a:ext>
                </a:extLst>
              </a:tr>
            </a:tbl>
          </a:graphicData>
        </a:graphic>
      </p:graphicFrame>
      <p:sp>
        <p:nvSpPr>
          <p:cNvPr id="4" name="Slide Number Placeholder 3">
            <a:extLst>
              <a:ext uri="{FF2B5EF4-FFF2-40B4-BE49-F238E27FC236}">
                <a16:creationId xmlns:a16="http://schemas.microsoft.com/office/drawing/2014/main" id="{3B3B52C5-6269-558E-39D3-804AF48BF4F2}"/>
              </a:ext>
            </a:extLst>
          </p:cNvPr>
          <p:cNvSpPr>
            <a:spLocks noGrp="1"/>
          </p:cNvSpPr>
          <p:nvPr>
            <p:ph type="sldNum" sz="quarter" idx="12"/>
          </p:nvPr>
        </p:nvSpPr>
        <p:spPr/>
        <p:txBody>
          <a:bodyPr/>
          <a:lstStyle/>
          <a:p>
            <a:fld id="{C88BD8DC-0F29-4F44-900B-940C0349A13F}" type="slidenum">
              <a:rPr lang="en-GB" smtClean="0"/>
              <a:t>‹#›</a:t>
            </a:fld>
            <a:endParaRPr lang="en-GB"/>
          </a:p>
        </p:txBody>
      </p:sp>
      <p:sp>
        <p:nvSpPr>
          <p:cNvPr id="6" name="Line 120">
            <a:extLst>
              <a:ext uri="{FF2B5EF4-FFF2-40B4-BE49-F238E27FC236}">
                <a16:creationId xmlns:a16="http://schemas.microsoft.com/office/drawing/2014/main" id="{C03CB7D7-3B03-FBBE-9763-CFC44B073BF7}"/>
              </a:ext>
            </a:extLst>
          </p:cNvPr>
          <p:cNvSpPr>
            <a:spLocks noChangeShapeType="1"/>
          </p:cNvSpPr>
          <p:nvPr userDrawn="1"/>
        </p:nvSpPr>
        <p:spPr bwMode="auto">
          <a:xfrm>
            <a:off x="11026775" y="2199754"/>
            <a:ext cx="1588" cy="1588"/>
          </a:xfrm>
          <a:prstGeom prst="line">
            <a:avLst/>
          </a:prstGeom>
          <a:noFill/>
          <a:ln w="0">
            <a:solidFill>
              <a:srgbClr val="C9C9C9"/>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Rectangle 121">
            <a:extLst>
              <a:ext uri="{FF2B5EF4-FFF2-40B4-BE49-F238E27FC236}">
                <a16:creationId xmlns:a16="http://schemas.microsoft.com/office/drawing/2014/main" id="{01F2BA9C-5533-EC70-D437-B0E472108552}"/>
              </a:ext>
            </a:extLst>
          </p:cNvPr>
          <p:cNvSpPr>
            <a:spLocks noChangeArrowheads="1"/>
          </p:cNvSpPr>
          <p:nvPr userDrawn="1"/>
        </p:nvSpPr>
        <p:spPr bwMode="auto">
          <a:xfrm>
            <a:off x="11026775" y="2199754"/>
            <a:ext cx="9525" cy="9525"/>
          </a:xfrm>
          <a:prstGeom prst="rect">
            <a:avLst/>
          </a:prstGeom>
          <a:solidFill>
            <a:srgbClr val="C9C9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graphicFrame>
        <p:nvGraphicFramePr>
          <p:cNvPr id="14" name="Content Placeholder 170">
            <a:extLst>
              <a:ext uri="{FF2B5EF4-FFF2-40B4-BE49-F238E27FC236}">
                <a16:creationId xmlns:a16="http://schemas.microsoft.com/office/drawing/2014/main" id="{677E001F-8AD6-76B3-E67D-B0EFBFD30517}"/>
              </a:ext>
            </a:extLst>
          </p:cNvPr>
          <p:cNvGraphicFramePr>
            <a:graphicFrameLocks/>
          </p:cNvGraphicFramePr>
          <p:nvPr userDrawn="1">
            <p:extLst>
              <p:ext uri="{D42A27DB-BD31-4B8C-83A1-F6EECF244321}">
                <p14:modId xmlns:p14="http://schemas.microsoft.com/office/powerpoint/2010/main" val="3914977593"/>
              </p:ext>
            </p:extLst>
          </p:nvPr>
        </p:nvGraphicFramePr>
        <p:xfrm>
          <a:off x="8336454" y="1308103"/>
          <a:ext cx="3360676" cy="370840"/>
        </p:xfrm>
        <a:graphic>
          <a:graphicData uri="http://schemas.openxmlformats.org/drawingml/2006/table">
            <a:tbl>
              <a:tblPr firstRow="1" bandRow="1">
                <a:tableStyleId>{5940675A-B579-460E-94D1-54222C63F5DA}</a:tableStyleId>
              </a:tblPr>
              <a:tblGrid>
                <a:gridCol w="1008000">
                  <a:extLst>
                    <a:ext uri="{9D8B030D-6E8A-4147-A177-3AD203B41FA5}">
                      <a16:colId xmlns:a16="http://schemas.microsoft.com/office/drawing/2014/main" val="3687101210"/>
                    </a:ext>
                  </a:extLst>
                </a:gridCol>
                <a:gridCol w="1176338">
                  <a:extLst>
                    <a:ext uri="{9D8B030D-6E8A-4147-A177-3AD203B41FA5}">
                      <a16:colId xmlns:a16="http://schemas.microsoft.com/office/drawing/2014/main" val="52119982"/>
                    </a:ext>
                  </a:extLst>
                </a:gridCol>
                <a:gridCol w="1176338">
                  <a:extLst>
                    <a:ext uri="{9D8B030D-6E8A-4147-A177-3AD203B41FA5}">
                      <a16:colId xmlns:a16="http://schemas.microsoft.com/office/drawing/2014/main" val="950533289"/>
                    </a:ext>
                  </a:extLst>
                </a:gridCol>
              </a:tblGrid>
              <a:tr h="370840">
                <a:tc>
                  <a:txBody>
                    <a:bodyPr/>
                    <a:lstStyle/>
                    <a:p>
                      <a:pPr marL="0" algn="r" rtl="0" eaLnBrk="1" latinLnBrk="0" hangingPunct="1"/>
                      <a:endParaRPr kumimoji="0" lang="en-GB" sz="1350" b="1" kern="1200" dirty="0">
                        <a:solidFill>
                          <a:srgbClr val="002060"/>
                        </a:solidFill>
                        <a:latin typeface="Noto Sans Display Light" panose="020B0502040504020204" pitchFamily="34" charset="0"/>
                        <a:ea typeface="Noto Sans Display Light" panose="020B0502040504020204" pitchFamily="34" charset="0"/>
                        <a:cs typeface="Noto Sans Display Light" panose="020B0502040504020204" pitchFamily="34" charset="0"/>
                      </a:endParaRPr>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algn="ctr" rtl="0" eaLnBrk="1" latinLnBrk="0" hangingPunct="1"/>
                      <a:endParaRPr kumimoji="0" lang="en-GB" sz="1350" b="1" kern="1200" dirty="0">
                        <a:solidFill>
                          <a:srgbClr val="002060"/>
                        </a:solidFill>
                        <a:latin typeface="Noto Sans Display Light" panose="020B0502040504020204" pitchFamily="34" charset="0"/>
                        <a:ea typeface="Noto Sans Display Light" panose="020B0502040504020204" pitchFamily="34" charset="0"/>
                        <a:cs typeface="Noto Sans Display Light" panose="020B0502040504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algn="l" rtl="0" eaLnBrk="1" latinLnBrk="0" hangingPunct="1"/>
                      <a:endParaRPr kumimoji="0" lang="en-GB" sz="1350" b="1" kern="1200" dirty="0">
                        <a:solidFill>
                          <a:srgbClr val="002060"/>
                        </a:solidFill>
                        <a:latin typeface="Noto Sans Display Light" panose="020B0502040504020204" pitchFamily="34" charset="0"/>
                        <a:ea typeface="Noto Sans Display Light" panose="020B0502040504020204" pitchFamily="34" charset="0"/>
                        <a:cs typeface="Noto Sans Display Light" panose="020B0502040504020204" pitchFamily="34" charset="0"/>
                      </a:endParaRPr>
                    </a:p>
                  </a:txBody>
                  <a:tcP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46844985"/>
                  </a:ext>
                </a:extLst>
              </a:tr>
            </a:tbl>
          </a:graphicData>
        </a:graphic>
      </p:graphicFrame>
      <p:pic>
        <p:nvPicPr>
          <p:cNvPr id="20" name="Picture 19" descr="A white circle with a black background&#10;&#10;Description automatically generated">
            <a:extLst>
              <a:ext uri="{FF2B5EF4-FFF2-40B4-BE49-F238E27FC236}">
                <a16:creationId xmlns:a16="http://schemas.microsoft.com/office/drawing/2014/main" id="{BC54FF95-1745-E25E-C1A9-56A1C5E3D91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16000" y="6350062"/>
            <a:ext cx="1200000" cy="306338"/>
          </a:xfrm>
          <a:prstGeom prst="rect">
            <a:avLst/>
          </a:prstGeom>
        </p:spPr>
      </p:pic>
      <p:sp>
        <p:nvSpPr>
          <p:cNvPr id="22" name="Text Placeholder 27">
            <a:extLst>
              <a:ext uri="{FF2B5EF4-FFF2-40B4-BE49-F238E27FC236}">
                <a16:creationId xmlns:a16="http://schemas.microsoft.com/office/drawing/2014/main" id="{5048B977-8A4C-3839-6455-C2BCDBB9D5EF}"/>
              </a:ext>
            </a:extLst>
          </p:cNvPr>
          <p:cNvSpPr>
            <a:spLocks noGrp="1"/>
          </p:cNvSpPr>
          <p:nvPr>
            <p:ph type="body" sz="quarter" idx="11" hasCustomPrompt="1"/>
          </p:nvPr>
        </p:nvSpPr>
        <p:spPr>
          <a:xfrm>
            <a:off x="1632000" y="6179061"/>
            <a:ext cx="9760250" cy="678939"/>
          </a:xfrm>
        </p:spPr>
        <p:txBody>
          <a:bodyPr/>
          <a:lstStyle>
            <a:lvl1pPr marL="0" indent="0">
              <a:buNone/>
              <a:defRPr lang="en-US" sz="800" kern="1200" baseline="0" dirty="0" smtClean="0">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pPr lvl="0"/>
            <a:r>
              <a:rPr lang="en-US" dirty="0"/>
              <a:t>Click to add notes / source</a:t>
            </a:r>
            <a:endParaRPr lang="en-GB" dirty="0"/>
          </a:p>
        </p:txBody>
      </p:sp>
      <p:sp>
        <p:nvSpPr>
          <p:cNvPr id="23" name="Title Placeholder 1">
            <a:extLst>
              <a:ext uri="{FF2B5EF4-FFF2-40B4-BE49-F238E27FC236}">
                <a16:creationId xmlns:a16="http://schemas.microsoft.com/office/drawing/2014/main" id="{D80ABE01-F367-2D7D-B8D8-E5946C12155D}"/>
              </a:ext>
            </a:extLst>
          </p:cNvPr>
          <p:cNvSpPr>
            <a:spLocks noGrp="1"/>
          </p:cNvSpPr>
          <p:nvPr>
            <p:ph type="title" hasCustomPrompt="1"/>
          </p:nvPr>
        </p:nvSpPr>
        <p:spPr>
          <a:xfrm>
            <a:off x="624000" y="142263"/>
            <a:ext cx="9888000" cy="1022400"/>
          </a:xfrm>
          <a:prstGeom prst="rect">
            <a:avLst/>
          </a:prstGeom>
        </p:spPr>
        <p:txBody>
          <a:bodyPr vert="horz" lIns="91440" tIns="45720" rIns="91440" bIns="45720" rtlCol="0" anchor="ctr">
            <a:noAutofit/>
          </a:bodyPr>
          <a:lstStyle>
            <a:lvl1pPr>
              <a:defRPr sz="2400" b="1" baseline="0">
                <a:solidFill>
                  <a:schemeClr val="bg1"/>
                </a:solidFill>
                <a:latin typeface="Noto Sans Display" panose="020B0502040504020204" pitchFamily="34" charset="0"/>
                <a:ea typeface="Noto Sans Display" panose="020B0502040504020204" pitchFamily="34" charset="0"/>
                <a:cs typeface="Noto Sans Display" panose="020B0502040504020204" pitchFamily="34" charset="0"/>
              </a:defRPr>
            </a:lvl1pPr>
          </a:lstStyle>
          <a:p>
            <a:r>
              <a:rPr lang="en-US" dirty="0"/>
              <a:t>GDP growth projections</a:t>
            </a:r>
            <a:br>
              <a:rPr lang="en-US" dirty="0"/>
            </a:br>
            <a:endParaRPr lang="en-US" dirty="0"/>
          </a:p>
        </p:txBody>
      </p:sp>
      <p:cxnSp>
        <p:nvCxnSpPr>
          <p:cNvPr id="24" name="Straight Connector 23">
            <a:extLst>
              <a:ext uri="{FF2B5EF4-FFF2-40B4-BE49-F238E27FC236}">
                <a16:creationId xmlns:a16="http://schemas.microsoft.com/office/drawing/2014/main" id="{8142D812-930E-303F-3E85-F61D6CF3919C}"/>
              </a:ext>
            </a:extLst>
          </p:cNvPr>
          <p:cNvCxnSpPr>
            <a:cxnSpLocks/>
          </p:cNvCxnSpPr>
          <p:nvPr userDrawn="1"/>
        </p:nvCxnSpPr>
        <p:spPr>
          <a:xfrm>
            <a:off x="703448" y="1274807"/>
            <a:ext cx="1690381"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25" name="Text Placeholder 25">
            <a:extLst>
              <a:ext uri="{FF2B5EF4-FFF2-40B4-BE49-F238E27FC236}">
                <a16:creationId xmlns:a16="http://schemas.microsoft.com/office/drawing/2014/main" id="{BCEC7433-A5D6-64CB-6FC6-6361E52548AC}"/>
              </a:ext>
            </a:extLst>
          </p:cNvPr>
          <p:cNvSpPr>
            <a:spLocks noGrp="1"/>
          </p:cNvSpPr>
          <p:nvPr>
            <p:ph type="body" sz="quarter" idx="10" hasCustomPrompt="1"/>
          </p:nvPr>
        </p:nvSpPr>
        <p:spPr>
          <a:xfrm>
            <a:off x="624000" y="781849"/>
            <a:ext cx="9888537" cy="374013"/>
          </a:xfrm>
        </p:spPr>
        <p:txBody>
          <a:bodyPr>
            <a:noAutofit/>
          </a:bodyPr>
          <a:lstStyle>
            <a:lvl1pPr marL="0" indent="0">
              <a:buNone/>
              <a:defRPr sz="1800" b="1">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stStyle>
          <a:p>
            <a:pPr lvl="0"/>
            <a:r>
              <a:rPr lang="en-US" dirty="0"/>
              <a:t>Real GDP, year-on-year growth, %</a:t>
            </a:r>
          </a:p>
        </p:txBody>
      </p:sp>
      <p:pic>
        <p:nvPicPr>
          <p:cNvPr id="28" name="Graphic 27" descr="Badge Follow with solid fill">
            <a:extLst>
              <a:ext uri="{FF2B5EF4-FFF2-40B4-BE49-F238E27FC236}">
                <a16:creationId xmlns:a16="http://schemas.microsoft.com/office/drawing/2014/main" id="{24D1219F-E590-B26A-A629-74CD6B74102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8407" y="1360108"/>
            <a:ext cx="288000" cy="288000"/>
          </a:xfrm>
          <a:prstGeom prst="rect">
            <a:avLst/>
          </a:prstGeom>
        </p:spPr>
      </p:pic>
      <p:pic>
        <p:nvPicPr>
          <p:cNvPr id="29" name="Graphic 28" descr="Badge Unfollow with solid fill">
            <a:extLst>
              <a:ext uri="{FF2B5EF4-FFF2-40B4-BE49-F238E27FC236}">
                <a16:creationId xmlns:a16="http://schemas.microsoft.com/office/drawing/2014/main" id="{BC724F8A-E687-BCBE-88D7-B56E20CE3FE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9612" y="1360818"/>
            <a:ext cx="288000" cy="288000"/>
          </a:xfrm>
          <a:prstGeom prst="rect">
            <a:avLst/>
          </a:prstGeom>
        </p:spPr>
      </p:pic>
      <p:graphicFrame>
        <p:nvGraphicFramePr>
          <p:cNvPr id="2" name="Table 1">
            <a:extLst>
              <a:ext uri="{FF2B5EF4-FFF2-40B4-BE49-F238E27FC236}">
                <a16:creationId xmlns:a16="http://schemas.microsoft.com/office/drawing/2014/main" id="{1E168998-B018-FE17-8F53-80972D4F8438}"/>
              </a:ext>
            </a:extLst>
          </p:cNvPr>
          <p:cNvGraphicFramePr>
            <a:graphicFrameLocks noGrp="1"/>
          </p:cNvGraphicFramePr>
          <p:nvPr userDrawn="1">
            <p:extLst>
              <p:ext uri="{D42A27DB-BD31-4B8C-83A1-F6EECF244321}">
                <p14:modId xmlns:p14="http://schemas.microsoft.com/office/powerpoint/2010/main" val="3606917608"/>
              </p:ext>
            </p:extLst>
          </p:nvPr>
        </p:nvGraphicFramePr>
        <p:xfrm>
          <a:off x="4884695" y="1360818"/>
          <a:ext cx="3451759" cy="318125"/>
        </p:xfrm>
        <a:graphic>
          <a:graphicData uri="http://schemas.openxmlformats.org/drawingml/2006/table">
            <a:tbl>
              <a:tblPr/>
              <a:tblGrid>
                <a:gridCol w="3451759">
                  <a:extLst>
                    <a:ext uri="{9D8B030D-6E8A-4147-A177-3AD203B41FA5}">
                      <a16:colId xmlns:a16="http://schemas.microsoft.com/office/drawing/2014/main" val="3632116542"/>
                    </a:ext>
                  </a:extLst>
                </a:gridCol>
              </a:tblGrid>
              <a:tr h="318125">
                <a:tc>
                  <a:txBody>
                    <a:bodyPr/>
                    <a:lstStyle/>
                    <a:p>
                      <a:pPr marL="0" marR="0" lvl="0" indent="0" algn="ctr" defTabSz="914400" rtl="0" eaLnBrk="1" fontAlgn="auto" latinLnBrk="0" hangingPunct="1">
                        <a:lnSpc>
                          <a:spcPct val="100000"/>
                        </a:lnSpc>
                        <a:spcBef>
                          <a:spcPts val="768"/>
                        </a:spcBef>
                        <a:spcAft>
                          <a:spcPts val="0"/>
                        </a:spcAft>
                        <a:buClr>
                          <a:srgbClr val="727272"/>
                        </a:buClr>
                        <a:buSzTx/>
                        <a:buFont typeface="Arial" pitchFamily="34" charset="0"/>
                        <a:buNone/>
                        <a:tabLst/>
                        <a:defRPr/>
                      </a:pPr>
                      <a:r>
                        <a:rPr kumimoji="0" lang="en-GB" sz="1400" b="0" i="0" u="none" strike="noStrike" kern="1200" cap="none" spc="0" normalizeH="0" baseline="0" noProof="0" dirty="0">
                          <a:ln>
                            <a:noFill/>
                          </a:ln>
                          <a:solidFill>
                            <a:schemeClr val="bg1"/>
                          </a:solidFill>
                          <a:effectLst/>
                          <a:uLnTx/>
                          <a:uFillTx/>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rPr>
                        <a:t>Downward revision, by 0.3pp or more</a:t>
                      </a:r>
                    </a:p>
                  </a:txBody>
                  <a:tcP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74230637"/>
                  </a:ext>
                </a:extLst>
              </a:tr>
            </a:tbl>
          </a:graphicData>
        </a:graphic>
      </p:graphicFrame>
    </p:spTree>
    <p:extLst>
      <p:ext uri="{BB962C8B-B14F-4D97-AF65-F5344CB8AC3E}">
        <p14:creationId xmlns:p14="http://schemas.microsoft.com/office/powerpoint/2010/main" val="620166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24000" y="1602000"/>
            <a:ext cx="10958400" cy="4525200"/>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25" name="Title Placeholder 1"/>
          <p:cNvSpPr>
            <a:spLocks noGrp="1"/>
          </p:cNvSpPr>
          <p:nvPr>
            <p:ph type="title"/>
          </p:nvPr>
        </p:nvSpPr>
        <p:spPr>
          <a:xfrm>
            <a:off x="1440000" y="237600"/>
            <a:ext cx="9888000" cy="1022400"/>
          </a:xfrm>
          <a:prstGeom prst="rect">
            <a:avLst/>
          </a:prstGeom>
        </p:spPr>
        <p:txBody>
          <a:bodyPr vert="horz" lIns="91440" tIns="45720" rIns="91440" bIns="45720" rtlCol="0" anchor="ctr">
            <a:noAutofit/>
          </a:bodyPr>
          <a:lstStyle/>
          <a:p>
            <a:r>
              <a:rPr lang="en-US"/>
              <a:t>Click to edit Slide title</a:t>
            </a:r>
            <a:br>
              <a:rPr lang="en-US"/>
            </a:br>
            <a:r>
              <a:rPr lang="en-US"/>
              <a:t>Slide title can be extended to two lines</a:t>
            </a:r>
          </a:p>
        </p:txBody>
      </p:sp>
      <p:sp>
        <p:nvSpPr>
          <p:cNvPr id="41" name="Slide Number Placeholder 5"/>
          <p:cNvSpPr>
            <a:spLocks noGrp="1"/>
          </p:cNvSpPr>
          <p:nvPr>
            <p:ph type="sldNum" sz="quarter" idx="4"/>
          </p:nvPr>
        </p:nvSpPr>
        <p:spPr>
          <a:xfrm>
            <a:off x="11520000" y="6411600"/>
            <a:ext cx="456000" cy="244800"/>
          </a:xfrm>
          <a:prstGeom prst="rect">
            <a:avLst/>
          </a:prstGeom>
        </p:spPr>
        <p:txBody>
          <a:bodyPr vert="horz" wrap="none" lIns="91440" tIns="45720" rIns="91440" bIns="45720" rtlCol="0" anchor="t" anchorCtr="0"/>
          <a:lstStyle>
            <a:lvl1pPr algn="r">
              <a:defRPr sz="1000" baseline="0">
                <a:solidFill>
                  <a:schemeClr val="bg1"/>
                </a:solidFill>
                <a:latin typeface="Arial"/>
              </a:defRPr>
            </a:lvl1pPr>
          </a:lstStyle>
          <a:p>
            <a:fld id="{C88BD8DC-0F29-4F44-900B-940C0349A13F}" type="slidenum">
              <a:rPr lang="en-GB" smtClean="0"/>
              <a:t>‹#›</a:t>
            </a:fld>
            <a:endParaRPr lang="en-GB"/>
          </a:p>
        </p:txBody>
      </p:sp>
    </p:spTree>
    <p:extLst>
      <p:ext uri="{BB962C8B-B14F-4D97-AF65-F5344CB8AC3E}">
        <p14:creationId xmlns:p14="http://schemas.microsoft.com/office/powerpoint/2010/main" val="727797075"/>
      </p:ext>
    </p:extLst>
  </p:cSld>
  <p:clrMap bg1="lt1" tx1="dk1" bg2="lt2" tx2="dk2" accent1="accent1" accent2="accent2" accent3="accent3" accent4="accent4" accent5="accent5" accent6="accent6" hlink="hlink" folHlink="folHlink"/>
  <p:sldLayoutIdLst>
    <p:sldLayoutId id="2147483668" r:id="rId1"/>
    <p:sldLayoutId id="2147483675" r:id="rId2"/>
    <p:sldLayoutId id="2147483662" r:id="rId3"/>
    <p:sldLayoutId id="2147483673" r:id="rId4"/>
    <p:sldLayoutId id="2147483667" r:id="rId5"/>
    <p:sldLayoutId id="2147483672" r:id="rId6"/>
    <p:sldLayoutId id="2147483669" r:id="rId7"/>
    <p:sldLayoutId id="2147483670" r:id="rId8"/>
    <p:sldLayoutId id="2147483671" r:id="rId9"/>
    <p:sldLayoutId id="2147483674" r:id="rId10"/>
  </p:sldLayoutIdLst>
  <p:hf hdr="0" ftr="0" dt="0"/>
  <p:txStyles>
    <p:titleStyle>
      <a:lvl1pPr algn="l" rtl="0" eaLnBrk="1" latinLnBrk="0" hangingPunct="1">
        <a:spcBef>
          <a:spcPct val="0"/>
        </a:spcBef>
        <a:buNone/>
        <a:defRPr kumimoji="0" sz="3200" kern="1200">
          <a:solidFill>
            <a:schemeClr val="tx1"/>
          </a:solidFill>
          <a:latin typeface="+mj-lt"/>
          <a:ea typeface="+mj-ea"/>
          <a:cs typeface="+mj-cs"/>
        </a:defRPr>
      </a:lvl1pPr>
    </p:titleStyle>
    <p:bodyStyle>
      <a:lvl1pPr marL="342000" indent="-342000" algn="l" rtl="0" eaLnBrk="1" latinLnBrk="0" hangingPunct="1">
        <a:spcBef>
          <a:spcPts val="768"/>
        </a:spcBef>
        <a:buClr>
          <a:schemeClr val="tx1"/>
        </a:buClr>
        <a:buFont typeface="Arial" pitchFamily="34" charset="0"/>
        <a:buChar char="•"/>
        <a:defRPr kumimoji="0" sz="3200" kern="1200">
          <a:solidFill>
            <a:schemeClr val="tx1"/>
          </a:solidFill>
          <a:latin typeface="+mn-lt"/>
          <a:ea typeface="+mn-ea"/>
          <a:cs typeface="+mn-cs"/>
        </a:defRPr>
      </a:lvl1pPr>
      <a:lvl2pPr marL="741600" indent="-284400" algn="l" rtl="0" eaLnBrk="1" latinLnBrk="0" hangingPunct="1">
        <a:spcBef>
          <a:spcPts val="672"/>
        </a:spcBef>
        <a:buClr>
          <a:schemeClr val="tx1"/>
        </a:buClr>
        <a:buFont typeface="Arial" pitchFamily="34" charset="0"/>
        <a:buChar char="–"/>
        <a:defRPr kumimoji="0" sz="2800" kern="1200">
          <a:solidFill>
            <a:schemeClr val="tx1"/>
          </a:solidFill>
          <a:latin typeface="+mn-lt"/>
          <a:ea typeface="+mn-ea"/>
          <a:cs typeface="+mn-cs"/>
        </a:defRPr>
      </a:lvl2pPr>
      <a:lvl3pPr marL="1144800" indent="-230400" algn="l" rtl="0" eaLnBrk="1" latinLnBrk="0" hangingPunct="1">
        <a:spcBef>
          <a:spcPts val="576"/>
        </a:spcBef>
        <a:buClr>
          <a:schemeClr val="tx1"/>
        </a:buClr>
        <a:buFont typeface="Arial" pitchFamily="34" charset="0"/>
        <a:buChar char="•"/>
        <a:defRPr kumimoji="0" sz="2400" kern="1200">
          <a:solidFill>
            <a:schemeClr val="tx1"/>
          </a:solidFill>
          <a:latin typeface="+mn-lt"/>
          <a:ea typeface="+mn-ea"/>
          <a:cs typeface="+mn-cs"/>
        </a:defRPr>
      </a:lvl3pPr>
      <a:lvl4pPr marL="16020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4pPr>
      <a:lvl5pPr marL="20592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CF7EE7-BEF0-B4D9-DF20-6001428C5C6D}"/>
              </a:ext>
            </a:extLst>
          </p:cNvPr>
          <p:cNvPicPr>
            <a:picLocks noChangeAspect="1"/>
          </p:cNvPicPr>
          <p:nvPr/>
        </p:nvPicPr>
        <p:blipFill>
          <a:blip r:embed="rId3">
            <a:alphaModFix amt="20000"/>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p:blipFill>
        <p:spPr>
          <a:xfrm>
            <a:off x="-261498" y="-1367001"/>
            <a:ext cx="12337501" cy="8225001"/>
          </a:xfrm>
          <a:prstGeom prst="rect">
            <a:avLst/>
          </a:prstGeom>
        </p:spPr>
      </p:pic>
      <p:sp>
        <p:nvSpPr>
          <p:cNvPr id="3" name="Text Placeholder 2">
            <a:extLst>
              <a:ext uri="{FF2B5EF4-FFF2-40B4-BE49-F238E27FC236}">
                <a16:creationId xmlns:a16="http://schemas.microsoft.com/office/drawing/2014/main" id="{22B5D795-82DE-BD30-45C0-16BBE7C847D1}"/>
              </a:ext>
            </a:extLst>
          </p:cNvPr>
          <p:cNvSpPr>
            <a:spLocks noGrp="1"/>
          </p:cNvSpPr>
          <p:nvPr>
            <p:ph type="body" sz="quarter" idx="12"/>
          </p:nvPr>
        </p:nvSpPr>
        <p:spPr>
          <a:xfrm>
            <a:off x="286327" y="912640"/>
            <a:ext cx="4157615" cy="2048674"/>
          </a:xfrm>
        </p:spPr>
        <p:txBody>
          <a:bodyPr>
            <a:normAutofit fontScale="92500" lnSpcReduction="10000"/>
          </a:bodyPr>
          <a:lstStyle/>
          <a:p>
            <a:pPr algn="r"/>
            <a:r>
              <a:rPr lang="en-GB" sz="4400" b="1" dirty="0"/>
              <a:t>OECD</a:t>
            </a:r>
          </a:p>
          <a:p>
            <a:pPr algn="r"/>
            <a:r>
              <a:rPr lang="en-GB" sz="4400" b="1" dirty="0"/>
              <a:t>Economic</a:t>
            </a:r>
          </a:p>
          <a:p>
            <a:pPr algn="r"/>
            <a:r>
              <a:rPr lang="en-GB" sz="4400" b="1" dirty="0"/>
              <a:t>Outlook</a:t>
            </a:r>
            <a:endParaRPr lang="en-US" sz="4400" dirty="0"/>
          </a:p>
        </p:txBody>
      </p:sp>
      <p:sp>
        <p:nvSpPr>
          <p:cNvPr id="8" name="Text Placeholder 1">
            <a:extLst>
              <a:ext uri="{FF2B5EF4-FFF2-40B4-BE49-F238E27FC236}">
                <a16:creationId xmlns:a16="http://schemas.microsoft.com/office/drawing/2014/main" id="{ED566516-2149-9645-6F7C-8787140BFD84}"/>
              </a:ext>
            </a:extLst>
          </p:cNvPr>
          <p:cNvSpPr txBox="1">
            <a:spLocks/>
          </p:cNvSpPr>
          <p:nvPr/>
        </p:nvSpPr>
        <p:spPr>
          <a:xfrm>
            <a:off x="5348174" y="1177366"/>
            <a:ext cx="6161921" cy="4965700"/>
          </a:xfrm>
          <a:prstGeom prst="rect">
            <a:avLst/>
          </a:prstGeom>
        </p:spPr>
        <p:txBody>
          <a:bodyPr vert="horz" anchor="ctr">
            <a:normAutofit/>
          </a:bodyPr>
          <a:lstStyle>
            <a:lvl1pPr marL="0" indent="0" algn="l" rtl="0" eaLnBrk="1" latinLnBrk="0" hangingPunct="1">
              <a:spcBef>
                <a:spcPts val="768"/>
              </a:spcBef>
              <a:buClr>
                <a:schemeClr val="tx1"/>
              </a:buClr>
              <a:buFont typeface="Arial" pitchFamily="34" charset="0"/>
              <a:buNone/>
              <a:defRPr kumimoji="0" sz="3200" kern="1200">
                <a:solidFill>
                  <a:schemeClr val="bg1"/>
                </a:solidFill>
                <a:latin typeface="Noto Sans Display ExtraBold" panose="020B0502040504020204" pitchFamily="34" charset="0"/>
                <a:ea typeface="Noto Sans Display ExtraBold" panose="020B0502040504020204" pitchFamily="34" charset="0"/>
                <a:cs typeface="Noto Sans Display ExtraBold" panose="020B0502040504020204" pitchFamily="34" charset="0"/>
              </a:defRPr>
            </a:lvl1pPr>
            <a:lvl2pPr marL="457200" indent="0" algn="l" rtl="0" eaLnBrk="1" latinLnBrk="0" hangingPunct="1">
              <a:spcBef>
                <a:spcPts val="672"/>
              </a:spcBef>
              <a:buClr>
                <a:schemeClr val="tx1"/>
              </a:buClr>
              <a:buFont typeface="Arial" pitchFamily="34" charset="0"/>
              <a:buNone/>
              <a:defRPr kumimoji="0" sz="2800" kern="1200">
                <a:solidFill>
                  <a:schemeClr val="tx1"/>
                </a:solidFill>
                <a:latin typeface="+mn-lt"/>
                <a:ea typeface="+mn-ea"/>
                <a:cs typeface="+mn-cs"/>
              </a:defRPr>
            </a:lvl2pPr>
            <a:lvl3pPr marL="914400" indent="0" algn="l" rtl="0" eaLnBrk="1" latinLnBrk="0" hangingPunct="1">
              <a:spcBef>
                <a:spcPts val="576"/>
              </a:spcBef>
              <a:buClr>
                <a:schemeClr val="tx1"/>
              </a:buClr>
              <a:buFont typeface="Arial" pitchFamily="34" charset="0"/>
              <a:buNone/>
              <a:defRPr kumimoji="0" sz="2400" kern="1200">
                <a:solidFill>
                  <a:schemeClr val="tx1"/>
                </a:solidFill>
                <a:latin typeface="+mn-lt"/>
                <a:ea typeface="+mn-ea"/>
                <a:cs typeface="+mn-cs"/>
              </a:defRPr>
            </a:lvl3pPr>
            <a:lvl4pPr marL="1371600" indent="0" algn="l" rtl="0" eaLnBrk="1" latinLnBrk="0" hangingPunct="1">
              <a:spcBef>
                <a:spcPts val="480"/>
              </a:spcBef>
              <a:buClr>
                <a:schemeClr val="tx1"/>
              </a:buClr>
              <a:buFont typeface="Arial" pitchFamily="34" charset="0"/>
              <a:buNone/>
              <a:defRPr kumimoji="0" sz="2000" kern="1200">
                <a:solidFill>
                  <a:schemeClr val="tx1"/>
                </a:solidFill>
                <a:latin typeface="+mn-lt"/>
                <a:ea typeface="+mn-ea"/>
                <a:cs typeface="+mn-cs"/>
              </a:defRPr>
            </a:lvl4pPr>
            <a:lvl5pPr marL="1828800" indent="0" algn="l" rtl="0" eaLnBrk="1" latinLnBrk="0" hangingPunct="1">
              <a:spcBef>
                <a:spcPts val="480"/>
              </a:spcBef>
              <a:buClr>
                <a:schemeClr val="tx1"/>
              </a:buClr>
              <a:buFont typeface="Arial" pitchFamily="34" charset="0"/>
              <a:buNone/>
              <a:defRPr kumimoji="0" sz="2000" kern="1200">
                <a:solidFill>
                  <a:schemeClr val="tx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US" sz="4800" b="1" dirty="0">
                <a:latin typeface="Noto Sans Display" panose="020B0502040504020204" pitchFamily="34" charset="0"/>
                <a:ea typeface="Noto Sans Display" panose="020B0502040504020204" pitchFamily="34" charset="0"/>
                <a:cs typeface="Noto Sans Display" panose="020B0502040504020204" pitchFamily="34" charset="0"/>
              </a:rPr>
              <a:t>Under pressure</a:t>
            </a:r>
          </a:p>
          <a:p>
            <a:endParaRPr lang="en-GB" sz="4400" b="1" dirty="0"/>
          </a:p>
        </p:txBody>
      </p:sp>
      <p:sp>
        <p:nvSpPr>
          <p:cNvPr id="11" name="Text Placeholder 3">
            <a:extLst>
              <a:ext uri="{FF2B5EF4-FFF2-40B4-BE49-F238E27FC236}">
                <a16:creationId xmlns:a16="http://schemas.microsoft.com/office/drawing/2014/main" id="{D3E16879-8936-DA7A-8AC2-E4C225AD1839}"/>
              </a:ext>
            </a:extLst>
          </p:cNvPr>
          <p:cNvSpPr txBox="1">
            <a:spLocks/>
          </p:cNvSpPr>
          <p:nvPr/>
        </p:nvSpPr>
        <p:spPr>
          <a:xfrm>
            <a:off x="540279" y="4319948"/>
            <a:ext cx="3903663" cy="866775"/>
          </a:xfrm>
          <a:prstGeom prst="rect">
            <a:avLst/>
          </a:prstGeom>
        </p:spPr>
        <p:txBody>
          <a:bodyPr vert="horz">
            <a:noAutofit/>
          </a:bodyPr>
          <a:lstStyle>
            <a:lvl1pPr marL="0" indent="0" algn="l" rtl="0" eaLnBrk="1" latinLnBrk="0" hangingPunct="1">
              <a:spcBef>
                <a:spcPts val="768"/>
              </a:spcBef>
              <a:buClr>
                <a:schemeClr val="tx1"/>
              </a:buClr>
              <a:buFont typeface="Arial" pitchFamily="34" charset="0"/>
              <a:buNone/>
              <a:defRPr kumimoji="0" sz="2400" b="1" kern="1200">
                <a:solidFill>
                  <a:schemeClr val="accent6"/>
                </a:solidFill>
                <a:latin typeface="Noto Sans Display" panose="020B0502040504020204" pitchFamily="34" charset="0"/>
                <a:ea typeface="Noto Sans Display" panose="020B0502040504020204" pitchFamily="34" charset="0"/>
                <a:cs typeface="Noto Sans Display" panose="020B0502040504020204" pitchFamily="34" charset="0"/>
              </a:defRPr>
            </a:lvl1pPr>
            <a:lvl2pPr marL="457200" indent="0" algn="l" rtl="0" eaLnBrk="1" latinLnBrk="0" hangingPunct="1">
              <a:spcBef>
                <a:spcPts val="672"/>
              </a:spcBef>
              <a:buClr>
                <a:schemeClr val="tx1"/>
              </a:buClr>
              <a:buFont typeface="Arial" pitchFamily="34" charset="0"/>
              <a:buNone/>
              <a:defRPr kumimoji="0" sz="2800" kern="1200">
                <a:solidFill>
                  <a:schemeClr val="tx1"/>
                </a:solidFill>
                <a:latin typeface="+mn-lt"/>
                <a:ea typeface="+mn-ea"/>
                <a:cs typeface="+mn-cs"/>
              </a:defRPr>
            </a:lvl2pPr>
            <a:lvl3pPr marL="1144800" indent="-230400" algn="l" rtl="0" eaLnBrk="1" latinLnBrk="0" hangingPunct="1">
              <a:spcBef>
                <a:spcPts val="576"/>
              </a:spcBef>
              <a:buClr>
                <a:schemeClr val="tx1"/>
              </a:buClr>
              <a:buFont typeface="Arial" pitchFamily="34" charset="0"/>
              <a:buChar char="•"/>
              <a:defRPr kumimoji="0" sz="2400" kern="1200">
                <a:solidFill>
                  <a:schemeClr val="tx1"/>
                </a:solidFill>
                <a:latin typeface="+mn-lt"/>
                <a:ea typeface="+mn-ea"/>
                <a:cs typeface="+mn-cs"/>
              </a:defRPr>
            </a:lvl3pPr>
            <a:lvl4pPr marL="16020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4pPr>
            <a:lvl5pPr marL="20592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algn="r"/>
            <a:r>
              <a:rPr lang="pt-BR" dirty="0">
                <a:solidFill>
                  <a:schemeClr val="bg1"/>
                </a:solidFill>
              </a:rPr>
              <a:t>Stefano Scarpetta</a:t>
            </a:r>
          </a:p>
          <a:p>
            <a:pPr algn="r"/>
            <a:r>
              <a:rPr lang="pt-BR" dirty="0">
                <a:solidFill>
                  <a:schemeClr val="bg1"/>
                </a:solidFill>
              </a:rPr>
              <a:t>OECD Chief Economist</a:t>
            </a:r>
          </a:p>
          <a:p>
            <a:pPr algn="r"/>
            <a:r>
              <a:rPr lang="pt-BR" dirty="0">
                <a:solidFill>
                  <a:schemeClr val="bg1"/>
                </a:solidFill>
              </a:rPr>
              <a:t>3 June 2026</a:t>
            </a:r>
          </a:p>
        </p:txBody>
      </p:sp>
      <p:cxnSp>
        <p:nvCxnSpPr>
          <p:cNvPr id="5" name="Straight Connector 4">
            <a:extLst>
              <a:ext uri="{FF2B5EF4-FFF2-40B4-BE49-F238E27FC236}">
                <a16:creationId xmlns:a16="http://schemas.microsoft.com/office/drawing/2014/main" id="{B18AE028-5F05-2E1E-2E23-EFB3D267FEE3}"/>
              </a:ext>
            </a:extLst>
          </p:cNvPr>
          <p:cNvCxnSpPr/>
          <p:nvPr/>
        </p:nvCxnSpPr>
        <p:spPr>
          <a:xfrm>
            <a:off x="4666268" y="1835870"/>
            <a:ext cx="0" cy="318626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9410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C6D4E-9966-ABA3-B2B9-7D1697D41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8E821B-CA36-44CC-42C8-C2BA3648D95A}"/>
              </a:ext>
            </a:extLst>
          </p:cNvPr>
          <p:cNvSpPr>
            <a:spLocks noGrp="1"/>
          </p:cNvSpPr>
          <p:nvPr>
            <p:ph type="title"/>
          </p:nvPr>
        </p:nvSpPr>
        <p:spPr>
          <a:xfrm>
            <a:off x="585544" y="92831"/>
            <a:ext cx="11046136" cy="1022400"/>
          </a:xfrm>
        </p:spPr>
        <p:txBody>
          <a:bodyPr/>
          <a:lstStyle/>
          <a:p>
            <a:pPr algn="ctr"/>
            <a:r>
              <a:rPr lang="en-US" sz="2800" dirty="0"/>
              <a:t>A </a:t>
            </a:r>
            <a:r>
              <a:rPr lang="en-US" sz="2800" dirty="0">
                <a:solidFill>
                  <a:srgbClr val="00B0F0"/>
                </a:solidFill>
                <a:latin typeface="Noto Sans Display" panose="020B0502040504020204"/>
              </a:rPr>
              <a:t>time-limited disruption </a:t>
            </a:r>
            <a:r>
              <a:rPr lang="en-US" sz="2800" dirty="0"/>
              <a:t>would slow growth</a:t>
            </a:r>
            <a:endParaRPr lang="fr-FR" sz="2800" dirty="0"/>
          </a:p>
        </p:txBody>
      </p:sp>
      <p:sp>
        <p:nvSpPr>
          <p:cNvPr id="6" name="Text Placeholder 5">
            <a:extLst>
              <a:ext uri="{FF2B5EF4-FFF2-40B4-BE49-F238E27FC236}">
                <a16:creationId xmlns:a16="http://schemas.microsoft.com/office/drawing/2014/main" id="{CA6ED8F0-0772-0610-A85D-F910ECCF9937}"/>
              </a:ext>
            </a:extLst>
          </p:cNvPr>
          <p:cNvSpPr>
            <a:spLocks noGrp="1"/>
          </p:cNvSpPr>
          <p:nvPr>
            <p:ph type="body" sz="quarter" idx="11"/>
          </p:nvPr>
        </p:nvSpPr>
        <p:spPr/>
        <p:txBody>
          <a:bodyPr/>
          <a:lstStyle/>
          <a:p>
            <a:r>
              <a:rPr lang="en-US" dirty="0"/>
              <a:t>Note: World and OECD aggregates use moving nominal GDP weights at purchasing power parities.</a:t>
            </a:r>
          </a:p>
          <a:p>
            <a:r>
              <a:rPr lang="en-US" dirty="0"/>
              <a:t>Source: OECD Economic Outlook 119 databases;</a:t>
            </a:r>
            <a:r>
              <a:rPr lang="en-GB" dirty="0"/>
              <a:t> and OECD calculations</a:t>
            </a:r>
            <a:r>
              <a:rPr lang="en-US" dirty="0"/>
              <a:t>.</a:t>
            </a:r>
          </a:p>
          <a:p>
            <a:endParaRPr lang="fr-FR" dirty="0"/>
          </a:p>
        </p:txBody>
      </p:sp>
      <p:sp>
        <p:nvSpPr>
          <p:cNvPr id="7" name="Text Placeholder 6">
            <a:extLst>
              <a:ext uri="{FF2B5EF4-FFF2-40B4-BE49-F238E27FC236}">
                <a16:creationId xmlns:a16="http://schemas.microsoft.com/office/drawing/2014/main" id="{33E1D6D6-E1A6-F204-A64B-5CB526627F6F}"/>
              </a:ext>
            </a:extLst>
          </p:cNvPr>
          <p:cNvSpPr>
            <a:spLocks noGrp="1"/>
          </p:cNvSpPr>
          <p:nvPr>
            <p:ph type="body" sz="quarter" idx="12"/>
          </p:nvPr>
        </p:nvSpPr>
        <p:spPr>
          <a:xfrm>
            <a:off x="585543" y="1144179"/>
            <a:ext cx="2268601" cy="374951"/>
          </a:xfrm>
        </p:spPr>
        <p:txBody>
          <a:bodyPr/>
          <a:lstStyle/>
          <a:p>
            <a:r>
              <a:rPr lang="en-GB" sz="1800" b="1" dirty="0"/>
              <a:t>Real GDP growth</a:t>
            </a:r>
            <a:endParaRPr lang="fr-FR" sz="1800" b="1" dirty="0"/>
          </a:p>
        </p:txBody>
      </p:sp>
      <p:sp>
        <p:nvSpPr>
          <p:cNvPr id="4" name="Flowchart: Alternate Process 3">
            <a:extLst>
              <a:ext uri="{FF2B5EF4-FFF2-40B4-BE49-F238E27FC236}">
                <a16:creationId xmlns:a16="http://schemas.microsoft.com/office/drawing/2014/main" id="{63B31C66-69E6-B630-395E-5505FDAE4FFE}"/>
              </a:ext>
            </a:extLst>
          </p:cNvPr>
          <p:cNvSpPr/>
          <p:nvPr/>
        </p:nvSpPr>
        <p:spPr>
          <a:xfrm>
            <a:off x="734824" y="2094790"/>
            <a:ext cx="2268602" cy="821094"/>
          </a:xfrm>
          <a:prstGeom prst="flowChartAlternateProcess">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World</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9" name="Flowchart: Alternate Process 8">
            <a:extLst>
              <a:ext uri="{FF2B5EF4-FFF2-40B4-BE49-F238E27FC236}">
                <a16:creationId xmlns:a16="http://schemas.microsoft.com/office/drawing/2014/main" id="{43E32631-1764-7C50-470C-522C6E0980C1}"/>
              </a:ext>
            </a:extLst>
          </p:cNvPr>
          <p:cNvSpPr/>
          <p:nvPr/>
        </p:nvSpPr>
        <p:spPr>
          <a:xfrm>
            <a:off x="734824" y="3399259"/>
            <a:ext cx="2268602" cy="821094"/>
          </a:xfrm>
          <a:prstGeom prst="flowChartAlternateProcess">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OECD</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0" name="Flowchart: Alternate Process 9">
            <a:extLst>
              <a:ext uri="{FF2B5EF4-FFF2-40B4-BE49-F238E27FC236}">
                <a16:creationId xmlns:a16="http://schemas.microsoft.com/office/drawing/2014/main" id="{134CD483-4838-3EB5-CC74-6B34BA485EAD}"/>
              </a:ext>
            </a:extLst>
          </p:cNvPr>
          <p:cNvSpPr/>
          <p:nvPr/>
        </p:nvSpPr>
        <p:spPr>
          <a:xfrm>
            <a:off x="734824" y="4744291"/>
            <a:ext cx="2268602" cy="821094"/>
          </a:xfrm>
          <a:prstGeom prst="flowChartAlternateProcess">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Non-OECD</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1" name="Oval 10">
            <a:extLst>
              <a:ext uri="{FF2B5EF4-FFF2-40B4-BE49-F238E27FC236}">
                <a16:creationId xmlns:a16="http://schemas.microsoft.com/office/drawing/2014/main" id="{15960E8C-2CC7-89CE-24FA-710C4B099D25}"/>
              </a:ext>
            </a:extLst>
          </p:cNvPr>
          <p:cNvSpPr/>
          <p:nvPr/>
        </p:nvSpPr>
        <p:spPr>
          <a:xfrm>
            <a:off x="3796770" y="1902259"/>
            <a:ext cx="1211535" cy="1206156"/>
          </a:xfrm>
          <a:prstGeom prst="ellipse">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3.4</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2" name="Oval 11">
            <a:extLst>
              <a:ext uri="{FF2B5EF4-FFF2-40B4-BE49-F238E27FC236}">
                <a16:creationId xmlns:a16="http://schemas.microsoft.com/office/drawing/2014/main" id="{3D3F08FF-BE90-7E54-BF9D-6DA081C79202}"/>
              </a:ext>
            </a:extLst>
          </p:cNvPr>
          <p:cNvSpPr/>
          <p:nvPr/>
        </p:nvSpPr>
        <p:spPr>
          <a:xfrm>
            <a:off x="3796770" y="3213370"/>
            <a:ext cx="1211535" cy="1206156"/>
          </a:xfrm>
          <a:prstGeom prst="ellipse">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1.8</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3" name="Oval 12">
            <a:extLst>
              <a:ext uri="{FF2B5EF4-FFF2-40B4-BE49-F238E27FC236}">
                <a16:creationId xmlns:a16="http://schemas.microsoft.com/office/drawing/2014/main" id="{CB9AF121-6BDC-AD79-1F77-AC412BF520DE}"/>
              </a:ext>
            </a:extLst>
          </p:cNvPr>
          <p:cNvSpPr/>
          <p:nvPr/>
        </p:nvSpPr>
        <p:spPr>
          <a:xfrm>
            <a:off x="3796770" y="4575647"/>
            <a:ext cx="1211535" cy="1206156"/>
          </a:xfrm>
          <a:prstGeom prst="ellipse">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4.7</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4" name="Flowchart: Alternate Process 13">
            <a:extLst>
              <a:ext uri="{FF2B5EF4-FFF2-40B4-BE49-F238E27FC236}">
                <a16:creationId xmlns:a16="http://schemas.microsoft.com/office/drawing/2014/main" id="{912A1725-D4B9-7213-CA79-E23D683570A3}"/>
              </a:ext>
            </a:extLst>
          </p:cNvPr>
          <p:cNvSpPr/>
          <p:nvPr/>
        </p:nvSpPr>
        <p:spPr>
          <a:xfrm>
            <a:off x="3723569" y="1190848"/>
            <a:ext cx="1284737" cy="547099"/>
          </a:xfrm>
          <a:prstGeom prst="flowChartAlternateProcess">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2025</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5" name="Oval 14">
            <a:extLst>
              <a:ext uri="{FF2B5EF4-FFF2-40B4-BE49-F238E27FC236}">
                <a16:creationId xmlns:a16="http://schemas.microsoft.com/office/drawing/2014/main" id="{83DD8E4B-130C-1EBA-DC7F-AFB95D3D9571}"/>
              </a:ext>
            </a:extLst>
          </p:cNvPr>
          <p:cNvSpPr/>
          <p:nvPr/>
        </p:nvSpPr>
        <p:spPr>
          <a:xfrm>
            <a:off x="6281824" y="1902259"/>
            <a:ext cx="1211535" cy="120615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2.8</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6" name="Oval 15">
            <a:extLst>
              <a:ext uri="{FF2B5EF4-FFF2-40B4-BE49-F238E27FC236}">
                <a16:creationId xmlns:a16="http://schemas.microsoft.com/office/drawing/2014/main" id="{63623A83-8F8A-E782-8710-EEAB3785A7AE}"/>
              </a:ext>
            </a:extLst>
          </p:cNvPr>
          <p:cNvSpPr/>
          <p:nvPr/>
        </p:nvSpPr>
        <p:spPr>
          <a:xfrm>
            <a:off x="6281824" y="3213370"/>
            <a:ext cx="1211535" cy="120615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1.5</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7" name="Oval 16">
            <a:extLst>
              <a:ext uri="{FF2B5EF4-FFF2-40B4-BE49-F238E27FC236}">
                <a16:creationId xmlns:a16="http://schemas.microsoft.com/office/drawing/2014/main" id="{710E2844-D82B-E73C-ABEA-7D4E5F79845F}"/>
              </a:ext>
            </a:extLst>
          </p:cNvPr>
          <p:cNvSpPr/>
          <p:nvPr/>
        </p:nvSpPr>
        <p:spPr>
          <a:xfrm>
            <a:off x="6281824" y="4575647"/>
            <a:ext cx="1211535" cy="120615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3.8</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8" name="Flowchart: Alternate Process 17">
            <a:extLst>
              <a:ext uri="{FF2B5EF4-FFF2-40B4-BE49-F238E27FC236}">
                <a16:creationId xmlns:a16="http://schemas.microsoft.com/office/drawing/2014/main" id="{BD2F639D-2A1E-CD5F-9C8F-18C9C44392DA}"/>
              </a:ext>
            </a:extLst>
          </p:cNvPr>
          <p:cNvSpPr/>
          <p:nvPr/>
        </p:nvSpPr>
        <p:spPr>
          <a:xfrm>
            <a:off x="6208623" y="1190848"/>
            <a:ext cx="1284737" cy="547099"/>
          </a:xfrm>
          <a:prstGeom prst="flowChartAlternateProcess">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2026</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23" name="Oval 22">
            <a:extLst>
              <a:ext uri="{FF2B5EF4-FFF2-40B4-BE49-F238E27FC236}">
                <a16:creationId xmlns:a16="http://schemas.microsoft.com/office/drawing/2014/main" id="{49A893BB-6928-21F1-F3C7-10A6CE4A0E84}"/>
              </a:ext>
            </a:extLst>
          </p:cNvPr>
          <p:cNvSpPr/>
          <p:nvPr/>
        </p:nvSpPr>
        <p:spPr>
          <a:xfrm>
            <a:off x="8858965" y="1895617"/>
            <a:ext cx="1211535" cy="120615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3.1</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24" name="Oval 23">
            <a:extLst>
              <a:ext uri="{FF2B5EF4-FFF2-40B4-BE49-F238E27FC236}">
                <a16:creationId xmlns:a16="http://schemas.microsoft.com/office/drawing/2014/main" id="{31672CB7-2DF2-B638-DB96-AFFE80ABB7CD}"/>
              </a:ext>
            </a:extLst>
          </p:cNvPr>
          <p:cNvSpPr/>
          <p:nvPr/>
        </p:nvSpPr>
        <p:spPr>
          <a:xfrm>
            <a:off x="8858965" y="3206728"/>
            <a:ext cx="1211535" cy="120615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1.7</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25" name="Oval 24">
            <a:extLst>
              <a:ext uri="{FF2B5EF4-FFF2-40B4-BE49-F238E27FC236}">
                <a16:creationId xmlns:a16="http://schemas.microsoft.com/office/drawing/2014/main" id="{14F6CC48-91F2-3BB3-8CD0-2152822840EA}"/>
              </a:ext>
            </a:extLst>
          </p:cNvPr>
          <p:cNvSpPr/>
          <p:nvPr/>
        </p:nvSpPr>
        <p:spPr>
          <a:xfrm>
            <a:off x="8858965" y="4569005"/>
            <a:ext cx="1211535" cy="120615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4.2</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26" name="Flowchart: Alternate Process 25">
            <a:extLst>
              <a:ext uri="{FF2B5EF4-FFF2-40B4-BE49-F238E27FC236}">
                <a16:creationId xmlns:a16="http://schemas.microsoft.com/office/drawing/2014/main" id="{C5BE0F82-3154-423A-CAE6-6B0E42470B3E}"/>
              </a:ext>
            </a:extLst>
          </p:cNvPr>
          <p:cNvSpPr/>
          <p:nvPr/>
        </p:nvSpPr>
        <p:spPr>
          <a:xfrm>
            <a:off x="8785764" y="1184206"/>
            <a:ext cx="1284737" cy="547099"/>
          </a:xfrm>
          <a:prstGeom prst="flowChartAlternateProcess">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2027</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5" name="Text Placeholder 6">
            <a:extLst>
              <a:ext uri="{FF2B5EF4-FFF2-40B4-BE49-F238E27FC236}">
                <a16:creationId xmlns:a16="http://schemas.microsoft.com/office/drawing/2014/main" id="{F5694C76-B2EE-BD96-7581-7838EC7AD18C}"/>
              </a:ext>
            </a:extLst>
          </p:cNvPr>
          <p:cNvSpPr txBox="1">
            <a:spLocks/>
          </p:cNvSpPr>
          <p:nvPr/>
        </p:nvSpPr>
        <p:spPr>
          <a:xfrm>
            <a:off x="8639176" y="6009992"/>
            <a:ext cx="3467058" cy="338138"/>
          </a:xfrm>
          <a:prstGeom prst="rect">
            <a:avLst/>
          </a:prstGeom>
        </p:spPr>
        <p:txBody>
          <a:bodyPr vert="horz">
            <a:noAutofit/>
          </a:bodyPr>
          <a:lstStyle>
            <a:lvl1pPr marL="0" indent="0" algn="l" rtl="0" eaLnBrk="1" latinLnBrk="0" hangingPunct="1">
              <a:spcBef>
                <a:spcPts val="768"/>
              </a:spcBef>
              <a:buClr>
                <a:schemeClr val="tx1"/>
              </a:buClr>
              <a:buFont typeface="Arial" pitchFamily="34" charset="0"/>
              <a:buNone/>
              <a:defRPr kumimoji="0" sz="1400" kern="1200">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vl2pPr marL="741600" indent="-284400" algn="l" rtl="0" eaLnBrk="1" latinLnBrk="0" hangingPunct="1">
              <a:spcBef>
                <a:spcPts val="672"/>
              </a:spcBef>
              <a:buClr>
                <a:schemeClr val="tx1"/>
              </a:buClr>
              <a:buFont typeface="Arial" pitchFamily="34" charset="0"/>
              <a:buChar char="–"/>
              <a:defRPr kumimoji="0" sz="2800" kern="1200">
                <a:solidFill>
                  <a:schemeClr val="tx1"/>
                </a:solidFill>
                <a:latin typeface="+mn-lt"/>
                <a:ea typeface="+mn-ea"/>
                <a:cs typeface="+mn-cs"/>
              </a:defRPr>
            </a:lvl2pPr>
            <a:lvl3pPr marL="1144800" indent="-230400" algn="l" rtl="0" eaLnBrk="1" latinLnBrk="0" hangingPunct="1">
              <a:spcBef>
                <a:spcPts val="576"/>
              </a:spcBef>
              <a:buClr>
                <a:schemeClr val="tx1"/>
              </a:buClr>
              <a:buFont typeface="Arial" pitchFamily="34" charset="0"/>
              <a:buChar char="•"/>
              <a:defRPr kumimoji="0" sz="2400" kern="1200">
                <a:solidFill>
                  <a:schemeClr val="tx1"/>
                </a:solidFill>
                <a:latin typeface="+mn-lt"/>
                <a:ea typeface="+mn-ea"/>
                <a:cs typeface="+mn-cs"/>
              </a:defRPr>
            </a:lvl3pPr>
            <a:lvl4pPr marL="16020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4pPr>
            <a:lvl5pPr marL="20592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GB" sz="1800" b="1" dirty="0">
                <a:solidFill>
                  <a:srgbClr val="00B0F0"/>
                </a:solidFill>
              </a:rPr>
              <a:t>Time-limited disruption scenario</a:t>
            </a:r>
            <a:endParaRPr lang="fr-FR" sz="1800" b="1" dirty="0">
              <a:solidFill>
                <a:srgbClr val="00B0F0"/>
              </a:solidFill>
            </a:endParaRPr>
          </a:p>
        </p:txBody>
      </p:sp>
      <p:sp>
        <p:nvSpPr>
          <p:cNvPr id="3" name="Text Placeholder 6">
            <a:extLst>
              <a:ext uri="{FF2B5EF4-FFF2-40B4-BE49-F238E27FC236}">
                <a16:creationId xmlns:a16="http://schemas.microsoft.com/office/drawing/2014/main" id="{30351946-72CF-F413-D54D-0D0F6E19D1DB}"/>
              </a:ext>
            </a:extLst>
          </p:cNvPr>
          <p:cNvSpPr txBox="1">
            <a:spLocks/>
          </p:cNvSpPr>
          <p:nvPr/>
        </p:nvSpPr>
        <p:spPr>
          <a:xfrm>
            <a:off x="612294" y="1494683"/>
            <a:ext cx="1674078" cy="338138"/>
          </a:xfrm>
          <a:prstGeom prst="rect">
            <a:avLst/>
          </a:prstGeom>
        </p:spPr>
        <p:txBody>
          <a:bodyPr vert="horz">
            <a:noAutofit/>
          </a:bodyPr>
          <a:lstStyle>
            <a:lvl1pPr marL="0" indent="0" algn="l" rtl="0" eaLnBrk="1" latinLnBrk="0" hangingPunct="1">
              <a:spcBef>
                <a:spcPts val="768"/>
              </a:spcBef>
              <a:buClr>
                <a:schemeClr val="tx1"/>
              </a:buClr>
              <a:buFont typeface="Arial" pitchFamily="34" charset="0"/>
              <a:buNone/>
              <a:defRPr kumimoji="0" sz="1400" kern="1200">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vl2pPr marL="741600" indent="-284400" algn="l" rtl="0" eaLnBrk="1" latinLnBrk="0" hangingPunct="1">
              <a:spcBef>
                <a:spcPts val="672"/>
              </a:spcBef>
              <a:buClr>
                <a:schemeClr val="tx1"/>
              </a:buClr>
              <a:buFont typeface="Arial" pitchFamily="34" charset="0"/>
              <a:buChar char="–"/>
              <a:defRPr kumimoji="0" sz="2800" kern="1200">
                <a:solidFill>
                  <a:schemeClr val="tx1"/>
                </a:solidFill>
                <a:latin typeface="+mn-lt"/>
                <a:ea typeface="+mn-ea"/>
                <a:cs typeface="+mn-cs"/>
              </a:defRPr>
            </a:lvl2pPr>
            <a:lvl3pPr marL="1144800" indent="-230400" algn="l" rtl="0" eaLnBrk="1" latinLnBrk="0" hangingPunct="1">
              <a:spcBef>
                <a:spcPts val="576"/>
              </a:spcBef>
              <a:buClr>
                <a:schemeClr val="tx1"/>
              </a:buClr>
              <a:buFont typeface="Arial" pitchFamily="34" charset="0"/>
              <a:buChar char="•"/>
              <a:defRPr kumimoji="0" sz="2400" kern="1200">
                <a:solidFill>
                  <a:schemeClr val="tx1"/>
                </a:solidFill>
                <a:latin typeface="+mn-lt"/>
                <a:ea typeface="+mn-ea"/>
                <a:cs typeface="+mn-cs"/>
              </a:defRPr>
            </a:lvl3pPr>
            <a:lvl4pPr marL="16020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4pPr>
            <a:lvl5pPr marL="20592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GB" sz="1800"/>
              <a:t>Year-on-year, %</a:t>
            </a:r>
            <a:endParaRPr lang="fr-FR" sz="1800" dirty="0"/>
          </a:p>
        </p:txBody>
      </p:sp>
    </p:spTree>
    <p:extLst>
      <p:ext uri="{BB962C8B-B14F-4D97-AF65-F5344CB8AC3E}">
        <p14:creationId xmlns:p14="http://schemas.microsoft.com/office/powerpoint/2010/main" val="1491108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Slide Number Placeholder 212">
            <a:extLst>
              <a:ext uri="{FF2B5EF4-FFF2-40B4-BE49-F238E27FC236}">
                <a16:creationId xmlns:a16="http://schemas.microsoft.com/office/drawing/2014/main" id="{B7868735-A445-A16F-8ACE-CB46425BDF87}"/>
              </a:ext>
            </a:extLst>
          </p:cNvPr>
          <p:cNvSpPr>
            <a:spLocks noGrp="1"/>
          </p:cNvSpPr>
          <p:nvPr>
            <p:ph type="sldNum" sz="quarter" idx="12"/>
          </p:nvPr>
        </p:nvSpPr>
        <p:spPr/>
        <p:txBody>
          <a:bodyPr/>
          <a:lstStyle/>
          <a:p>
            <a:fld id="{C88BD8DC-0F29-4F44-900B-940C0349A13F}" type="slidenum">
              <a:rPr lang="en-GB" smtClean="0"/>
              <a:t>3</a:t>
            </a:fld>
            <a:endParaRPr lang="en-GB"/>
          </a:p>
        </p:txBody>
      </p:sp>
      <p:sp>
        <p:nvSpPr>
          <p:cNvPr id="3" name="Title 2">
            <a:extLst>
              <a:ext uri="{FF2B5EF4-FFF2-40B4-BE49-F238E27FC236}">
                <a16:creationId xmlns:a16="http://schemas.microsoft.com/office/drawing/2014/main" id="{C32843B1-9A18-8E07-EF8C-65D2E2732D08}"/>
              </a:ext>
            </a:extLst>
          </p:cNvPr>
          <p:cNvSpPr>
            <a:spLocks noGrp="1"/>
          </p:cNvSpPr>
          <p:nvPr>
            <p:ph type="title"/>
          </p:nvPr>
        </p:nvSpPr>
        <p:spPr/>
        <p:txBody>
          <a:bodyPr/>
          <a:lstStyle/>
          <a:p>
            <a:r>
              <a:rPr lang="en-GB" dirty="0"/>
              <a:t>GDP growth projections – G20 economies</a:t>
            </a:r>
            <a:br>
              <a:rPr lang="en-US" dirty="0"/>
            </a:br>
            <a:endParaRPr lang="en-GB" dirty="0"/>
          </a:p>
        </p:txBody>
      </p:sp>
      <p:sp>
        <p:nvSpPr>
          <p:cNvPr id="4" name="Text Placeholder 3">
            <a:extLst>
              <a:ext uri="{FF2B5EF4-FFF2-40B4-BE49-F238E27FC236}">
                <a16:creationId xmlns:a16="http://schemas.microsoft.com/office/drawing/2014/main" id="{B3A874B6-B0BD-F9E2-39A7-F4338C34B9E1}"/>
              </a:ext>
            </a:extLst>
          </p:cNvPr>
          <p:cNvSpPr>
            <a:spLocks noGrp="1"/>
          </p:cNvSpPr>
          <p:nvPr>
            <p:ph type="body" sz="quarter" idx="10"/>
          </p:nvPr>
        </p:nvSpPr>
        <p:spPr/>
        <p:txBody>
          <a:bodyPr/>
          <a:lstStyle/>
          <a:p>
            <a:r>
              <a:rPr lang="en-GB" dirty="0"/>
              <a:t>Real GDP growth, year-on-year, %</a:t>
            </a:r>
          </a:p>
        </p:txBody>
      </p:sp>
      <p:sp>
        <p:nvSpPr>
          <p:cNvPr id="11" name="Text Placeholder 4">
            <a:extLst>
              <a:ext uri="{FF2B5EF4-FFF2-40B4-BE49-F238E27FC236}">
                <a16:creationId xmlns:a16="http://schemas.microsoft.com/office/drawing/2014/main" id="{3F69DFA1-2039-2A1F-A26A-E0F0DD346B61}"/>
              </a:ext>
            </a:extLst>
          </p:cNvPr>
          <p:cNvSpPr>
            <a:spLocks noGrp="1"/>
          </p:cNvSpPr>
          <p:nvPr>
            <p:ph type="body" sz="quarter" idx="11"/>
          </p:nvPr>
        </p:nvSpPr>
        <p:spPr>
          <a:xfrm>
            <a:off x="1632000" y="6179061"/>
            <a:ext cx="9760250" cy="678939"/>
          </a:xfrm>
        </p:spPr>
        <p:txBody>
          <a:bodyPr/>
          <a:lstStyle/>
          <a:p>
            <a:r>
              <a:rPr lang="en-US" dirty="0"/>
              <a:t>Note: Revisions relative to the estimates from the December 2025 Economic Outlook. India projections are based on fiscal years, starting in April. World and G20 aggregates use moving nominal GDP weights at purchasing power parities.</a:t>
            </a:r>
          </a:p>
          <a:p>
            <a:r>
              <a:rPr lang="en-US" dirty="0"/>
              <a:t>Source: OECD Economic Outlook 119 databases; OECD Economic Outlook 118 database</a:t>
            </a:r>
            <a:r>
              <a:rPr lang="en-GB" sz="800" dirty="0"/>
              <a:t>; and OECD calculations</a:t>
            </a:r>
            <a:r>
              <a:rPr lang="en-US" dirty="0"/>
              <a:t>.</a:t>
            </a:r>
          </a:p>
          <a:p>
            <a:endParaRPr lang="en-GB" dirty="0"/>
          </a:p>
        </p:txBody>
      </p:sp>
      <p:pic>
        <p:nvPicPr>
          <p:cNvPr id="9" name="Picture 8">
            <a:extLst>
              <a:ext uri="{FF2B5EF4-FFF2-40B4-BE49-F238E27FC236}">
                <a16:creationId xmlns:a16="http://schemas.microsoft.com/office/drawing/2014/main" id="{06B5EC36-2FDA-B49B-EE8F-B27AC5E8BFAA}"/>
              </a:ext>
            </a:extLst>
          </p:cNvPr>
          <p:cNvPicPr>
            <a:picLocks noChangeAspect="1"/>
          </p:cNvPicPr>
          <p:nvPr/>
        </p:nvPicPr>
        <p:blipFill>
          <a:blip r:embed="rId3"/>
          <a:stretch>
            <a:fillRect/>
          </a:stretch>
        </p:blipFill>
        <p:spPr>
          <a:xfrm>
            <a:off x="624000" y="1923251"/>
            <a:ext cx="10877550" cy="4152900"/>
          </a:xfrm>
          <a:prstGeom prst="rect">
            <a:avLst/>
          </a:prstGeom>
        </p:spPr>
      </p:pic>
      <p:sp>
        <p:nvSpPr>
          <p:cNvPr id="2" name="Text Placeholder 6">
            <a:extLst>
              <a:ext uri="{FF2B5EF4-FFF2-40B4-BE49-F238E27FC236}">
                <a16:creationId xmlns:a16="http://schemas.microsoft.com/office/drawing/2014/main" id="{1BA778DB-A24B-3C82-6630-F53597F634A0}"/>
              </a:ext>
            </a:extLst>
          </p:cNvPr>
          <p:cNvSpPr txBox="1">
            <a:spLocks/>
          </p:cNvSpPr>
          <p:nvPr/>
        </p:nvSpPr>
        <p:spPr>
          <a:xfrm>
            <a:off x="4255712" y="781849"/>
            <a:ext cx="3467058" cy="338138"/>
          </a:xfrm>
          <a:prstGeom prst="rect">
            <a:avLst/>
          </a:prstGeom>
        </p:spPr>
        <p:txBody>
          <a:bodyPr vert="horz">
            <a:noAutofit/>
          </a:bodyPr>
          <a:lstStyle>
            <a:lvl1pPr marL="0" indent="0" algn="l" rtl="0" eaLnBrk="1" latinLnBrk="0" hangingPunct="1">
              <a:spcBef>
                <a:spcPts val="768"/>
              </a:spcBef>
              <a:buClr>
                <a:schemeClr val="tx1"/>
              </a:buClr>
              <a:buFont typeface="Arial" pitchFamily="34" charset="0"/>
              <a:buNone/>
              <a:defRPr kumimoji="0" sz="1400" kern="1200">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vl2pPr marL="741600" indent="-284400" algn="l" rtl="0" eaLnBrk="1" latinLnBrk="0" hangingPunct="1">
              <a:spcBef>
                <a:spcPts val="672"/>
              </a:spcBef>
              <a:buClr>
                <a:schemeClr val="tx1"/>
              </a:buClr>
              <a:buFont typeface="Arial" pitchFamily="34" charset="0"/>
              <a:buChar char="–"/>
              <a:defRPr kumimoji="0" sz="2800" kern="1200">
                <a:solidFill>
                  <a:schemeClr val="tx1"/>
                </a:solidFill>
                <a:latin typeface="+mn-lt"/>
                <a:ea typeface="+mn-ea"/>
                <a:cs typeface="+mn-cs"/>
              </a:defRPr>
            </a:lvl2pPr>
            <a:lvl3pPr marL="1144800" indent="-230400" algn="l" rtl="0" eaLnBrk="1" latinLnBrk="0" hangingPunct="1">
              <a:spcBef>
                <a:spcPts val="576"/>
              </a:spcBef>
              <a:buClr>
                <a:schemeClr val="tx1"/>
              </a:buClr>
              <a:buFont typeface="Arial" pitchFamily="34" charset="0"/>
              <a:buChar char="•"/>
              <a:defRPr kumimoji="0" sz="2400" kern="1200">
                <a:solidFill>
                  <a:schemeClr val="tx1"/>
                </a:solidFill>
                <a:latin typeface="+mn-lt"/>
                <a:ea typeface="+mn-ea"/>
                <a:cs typeface="+mn-cs"/>
              </a:defRPr>
            </a:lvl3pPr>
            <a:lvl4pPr marL="16020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4pPr>
            <a:lvl5pPr marL="20592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GB" sz="1800" b="1" dirty="0">
                <a:solidFill>
                  <a:srgbClr val="00B0F0"/>
                </a:solidFill>
              </a:rPr>
              <a:t>Time-limited disruption scenario</a:t>
            </a:r>
            <a:endParaRPr lang="fr-FR" sz="1800" b="1" dirty="0">
              <a:solidFill>
                <a:srgbClr val="00B0F0"/>
              </a:solidFill>
            </a:endParaRPr>
          </a:p>
        </p:txBody>
      </p:sp>
    </p:spTree>
    <p:extLst>
      <p:ext uri="{BB962C8B-B14F-4D97-AF65-F5344CB8AC3E}">
        <p14:creationId xmlns:p14="http://schemas.microsoft.com/office/powerpoint/2010/main" val="556487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32EA7C-DCBB-96B1-B791-A84665C0190E}"/>
              </a:ext>
            </a:extLst>
          </p:cNvPr>
          <p:cNvSpPr>
            <a:spLocks noGrp="1"/>
          </p:cNvSpPr>
          <p:nvPr>
            <p:ph type="sldNum" sz="quarter" idx="12"/>
          </p:nvPr>
        </p:nvSpPr>
        <p:spPr/>
        <p:txBody>
          <a:bodyPr/>
          <a:lstStyle/>
          <a:p>
            <a:fld id="{C88BD8DC-0F29-4F44-900B-940C0349A13F}" type="slidenum">
              <a:rPr lang="en-GB" smtClean="0"/>
              <a:t>4</a:t>
            </a:fld>
            <a:endParaRPr lang="en-GB"/>
          </a:p>
        </p:txBody>
      </p:sp>
      <p:sp>
        <p:nvSpPr>
          <p:cNvPr id="3" name="Text Placeholder 2">
            <a:extLst>
              <a:ext uri="{FF2B5EF4-FFF2-40B4-BE49-F238E27FC236}">
                <a16:creationId xmlns:a16="http://schemas.microsoft.com/office/drawing/2014/main" id="{F2B1A5DD-95AE-CF02-92CE-1AB7C7DAE49F}"/>
              </a:ext>
            </a:extLst>
          </p:cNvPr>
          <p:cNvSpPr>
            <a:spLocks noGrp="1"/>
          </p:cNvSpPr>
          <p:nvPr>
            <p:ph type="body" sz="quarter" idx="11"/>
          </p:nvPr>
        </p:nvSpPr>
        <p:spPr/>
        <p:txBody>
          <a:bodyPr/>
          <a:lstStyle/>
          <a:p>
            <a:r>
              <a:rPr lang="en-US" dirty="0"/>
              <a:t>Note: Revisions relative to the estimates from the December 2025 Economic Outlook. </a:t>
            </a:r>
          </a:p>
          <a:p>
            <a:r>
              <a:rPr lang="en-GB" dirty="0"/>
              <a:t>Source: OECD Economic Outlook 119 database; OECD Economic Outlook 118 database; and OECD calculations.</a:t>
            </a:r>
          </a:p>
          <a:p>
            <a:endParaRPr lang="fr-FR" dirty="0"/>
          </a:p>
        </p:txBody>
      </p:sp>
      <p:sp>
        <p:nvSpPr>
          <p:cNvPr id="5" name="Text Placeholder 4">
            <a:extLst>
              <a:ext uri="{FF2B5EF4-FFF2-40B4-BE49-F238E27FC236}">
                <a16:creationId xmlns:a16="http://schemas.microsoft.com/office/drawing/2014/main" id="{AC76C669-ACBF-509E-A50D-832F1749612F}"/>
              </a:ext>
            </a:extLst>
          </p:cNvPr>
          <p:cNvSpPr>
            <a:spLocks noGrp="1"/>
          </p:cNvSpPr>
          <p:nvPr>
            <p:ph type="body" sz="quarter" idx="10"/>
          </p:nvPr>
        </p:nvSpPr>
        <p:spPr/>
        <p:txBody>
          <a:bodyPr/>
          <a:lstStyle/>
          <a:p>
            <a:r>
              <a:rPr lang="en-GB" dirty="0"/>
              <a:t>Real GDP growth, year-on-year, %</a:t>
            </a:r>
          </a:p>
        </p:txBody>
      </p:sp>
      <p:sp>
        <p:nvSpPr>
          <p:cNvPr id="8" name="Title 2">
            <a:extLst>
              <a:ext uri="{FF2B5EF4-FFF2-40B4-BE49-F238E27FC236}">
                <a16:creationId xmlns:a16="http://schemas.microsoft.com/office/drawing/2014/main" id="{21B6DC00-7A09-A6F3-FFD1-888F901AF1FB}"/>
              </a:ext>
            </a:extLst>
          </p:cNvPr>
          <p:cNvSpPr>
            <a:spLocks noGrp="1"/>
          </p:cNvSpPr>
          <p:nvPr>
            <p:ph type="title"/>
          </p:nvPr>
        </p:nvSpPr>
        <p:spPr>
          <a:xfrm>
            <a:off x="624000" y="142263"/>
            <a:ext cx="9888000" cy="799739"/>
          </a:xfrm>
        </p:spPr>
        <p:txBody>
          <a:bodyPr/>
          <a:lstStyle/>
          <a:p>
            <a:r>
              <a:rPr lang="en-GB" dirty="0"/>
              <a:t>GDP growth projections – Non-G20 OECD economies</a:t>
            </a:r>
          </a:p>
        </p:txBody>
      </p:sp>
      <p:pic>
        <p:nvPicPr>
          <p:cNvPr id="9" name="Picture 8">
            <a:extLst>
              <a:ext uri="{FF2B5EF4-FFF2-40B4-BE49-F238E27FC236}">
                <a16:creationId xmlns:a16="http://schemas.microsoft.com/office/drawing/2014/main" id="{2ADA21C4-E403-9D4D-9736-9AAF51C41584}"/>
              </a:ext>
            </a:extLst>
          </p:cNvPr>
          <p:cNvPicPr>
            <a:picLocks noChangeAspect="1"/>
          </p:cNvPicPr>
          <p:nvPr/>
        </p:nvPicPr>
        <p:blipFill>
          <a:blip r:embed="rId3"/>
          <a:stretch>
            <a:fillRect/>
          </a:stretch>
        </p:blipFill>
        <p:spPr>
          <a:xfrm>
            <a:off x="747712" y="1784457"/>
            <a:ext cx="10696575" cy="4314825"/>
          </a:xfrm>
          <a:prstGeom prst="rect">
            <a:avLst/>
          </a:prstGeom>
        </p:spPr>
      </p:pic>
      <p:sp>
        <p:nvSpPr>
          <p:cNvPr id="4" name="Text Placeholder 6">
            <a:extLst>
              <a:ext uri="{FF2B5EF4-FFF2-40B4-BE49-F238E27FC236}">
                <a16:creationId xmlns:a16="http://schemas.microsoft.com/office/drawing/2014/main" id="{A93C5711-9843-EBB8-9568-C8112D50F4EF}"/>
              </a:ext>
            </a:extLst>
          </p:cNvPr>
          <p:cNvSpPr txBox="1">
            <a:spLocks/>
          </p:cNvSpPr>
          <p:nvPr/>
        </p:nvSpPr>
        <p:spPr>
          <a:xfrm>
            <a:off x="4189724" y="769518"/>
            <a:ext cx="3467058" cy="338138"/>
          </a:xfrm>
          <a:prstGeom prst="rect">
            <a:avLst/>
          </a:prstGeom>
        </p:spPr>
        <p:txBody>
          <a:bodyPr vert="horz">
            <a:noAutofit/>
          </a:bodyPr>
          <a:lstStyle>
            <a:lvl1pPr marL="0" indent="0" algn="l" rtl="0" eaLnBrk="1" latinLnBrk="0" hangingPunct="1">
              <a:spcBef>
                <a:spcPts val="768"/>
              </a:spcBef>
              <a:buClr>
                <a:schemeClr val="tx1"/>
              </a:buClr>
              <a:buFont typeface="Arial" pitchFamily="34" charset="0"/>
              <a:buNone/>
              <a:defRPr kumimoji="0" sz="1400" kern="1200">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vl2pPr marL="741600" indent="-284400" algn="l" rtl="0" eaLnBrk="1" latinLnBrk="0" hangingPunct="1">
              <a:spcBef>
                <a:spcPts val="672"/>
              </a:spcBef>
              <a:buClr>
                <a:schemeClr val="tx1"/>
              </a:buClr>
              <a:buFont typeface="Arial" pitchFamily="34" charset="0"/>
              <a:buChar char="–"/>
              <a:defRPr kumimoji="0" sz="2800" kern="1200">
                <a:solidFill>
                  <a:schemeClr val="tx1"/>
                </a:solidFill>
                <a:latin typeface="+mn-lt"/>
                <a:ea typeface="+mn-ea"/>
                <a:cs typeface="+mn-cs"/>
              </a:defRPr>
            </a:lvl2pPr>
            <a:lvl3pPr marL="1144800" indent="-230400" algn="l" rtl="0" eaLnBrk="1" latinLnBrk="0" hangingPunct="1">
              <a:spcBef>
                <a:spcPts val="576"/>
              </a:spcBef>
              <a:buClr>
                <a:schemeClr val="tx1"/>
              </a:buClr>
              <a:buFont typeface="Arial" pitchFamily="34" charset="0"/>
              <a:buChar char="•"/>
              <a:defRPr kumimoji="0" sz="2400" kern="1200">
                <a:solidFill>
                  <a:schemeClr val="tx1"/>
                </a:solidFill>
                <a:latin typeface="+mn-lt"/>
                <a:ea typeface="+mn-ea"/>
                <a:cs typeface="+mn-cs"/>
              </a:defRPr>
            </a:lvl3pPr>
            <a:lvl4pPr marL="16020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4pPr>
            <a:lvl5pPr marL="20592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GB" sz="1800" b="1" dirty="0">
                <a:solidFill>
                  <a:srgbClr val="00B0F0"/>
                </a:solidFill>
              </a:rPr>
              <a:t>Time-limited disruption scenario</a:t>
            </a:r>
            <a:endParaRPr lang="fr-FR" sz="1800" b="1" dirty="0">
              <a:solidFill>
                <a:srgbClr val="00B0F0"/>
              </a:solidFill>
            </a:endParaRPr>
          </a:p>
        </p:txBody>
      </p:sp>
    </p:spTree>
    <p:extLst>
      <p:ext uri="{BB962C8B-B14F-4D97-AF65-F5344CB8AC3E}">
        <p14:creationId xmlns:p14="http://schemas.microsoft.com/office/powerpoint/2010/main" val="3505683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2DE66-8281-007A-D1B2-7F112BEA0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0FF550-D0C9-EF9B-5B88-BCB94B0903AC}"/>
              </a:ext>
            </a:extLst>
          </p:cNvPr>
          <p:cNvSpPr>
            <a:spLocks noGrp="1"/>
          </p:cNvSpPr>
          <p:nvPr>
            <p:ph type="title"/>
          </p:nvPr>
        </p:nvSpPr>
        <p:spPr>
          <a:xfrm>
            <a:off x="307910" y="48182"/>
            <a:ext cx="11657813" cy="1022400"/>
          </a:xfrm>
        </p:spPr>
        <p:txBody>
          <a:bodyPr/>
          <a:lstStyle/>
          <a:p>
            <a:pPr algn="ctr"/>
            <a:r>
              <a:rPr lang="en-US" dirty="0"/>
              <a:t>A </a:t>
            </a:r>
            <a:r>
              <a:rPr lang="en-US" dirty="0">
                <a:solidFill>
                  <a:srgbClr val="A365D1"/>
                </a:solidFill>
              </a:rPr>
              <a:t>prolonged disruption </a:t>
            </a:r>
            <a:r>
              <a:rPr lang="en-US" dirty="0"/>
              <a:t>would cause longer-lasting damage to growth</a:t>
            </a:r>
            <a:endParaRPr lang="fr-FR" sz="2800" dirty="0"/>
          </a:p>
        </p:txBody>
      </p:sp>
      <p:sp>
        <p:nvSpPr>
          <p:cNvPr id="6" name="Text Placeholder 5">
            <a:extLst>
              <a:ext uri="{FF2B5EF4-FFF2-40B4-BE49-F238E27FC236}">
                <a16:creationId xmlns:a16="http://schemas.microsoft.com/office/drawing/2014/main" id="{6ADA7154-1187-5FF0-E0F5-5FDF148D9F4F}"/>
              </a:ext>
            </a:extLst>
          </p:cNvPr>
          <p:cNvSpPr>
            <a:spLocks noGrp="1"/>
          </p:cNvSpPr>
          <p:nvPr>
            <p:ph type="body" sz="quarter" idx="11"/>
          </p:nvPr>
        </p:nvSpPr>
        <p:spPr/>
        <p:txBody>
          <a:bodyPr/>
          <a:lstStyle/>
          <a:p>
            <a:r>
              <a:rPr lang="en-US" dirty="0"/>
              <a:t>Note: World and OECD aggregates use moving nominal GDP weights at purchasing power parities.</a:t>
            </a:r>
          </a:p>
          <a:p>
            <a:r>
              <a:rPr lang="en-US" dirty="0"/>
              <a:t>Source: OECD Economic Outlook 119 databases;</a:t>
            </a:r>
            <a:r>
              <a:rPr lang="en-GB" dirty="0"/>
              <a:t> and OECD calculations</a:t>
            </a:r>
            <a:r>
              <a:rPr lang="en-US" dirty="0"/>
              <a:t>.</a:t>
            </a:r>
          </a:p>
          <a:p>
            <a:endParaRPr lang="fr-FR" dirty="0"/>
          </a:p>
        </p:txBody>
      </p:sp>
      <p:sp>
        <p:nvSpPr>
          <p:cNvPr id="7" name="Text Placeholder 6">
            <a:extLst>
              <a:ext uri="{FF2B5EF4-FFF2-40B4-BE49-F238E27FC236}">
                <a16:creationId xmlns:a16="http://schemas.microsoft.com/office/drawing/2014/main" id="{AB732054-2AD5-D7B7-38B3-DA3204875030}"/>
              </a:ext>
            </a:extLst>
          </p:cNvPr>
          <p:cNvSpPr>
            <a:spLocks noGrp="1"/>
          </p:cNvSpPr>
          <p:nvPr>
            <p:ph type="body" sz="quarter" idx="12"/>
          </p:nvPr>
        </p:nvSpPr>
        <p:spPr>
          <a:xfrm>
            <a:off x="601408" y="1501923"/>
            <a:ext cx="1674078" cy="338138"/>
          </a:xfrm>
        </p:spPr>
        <p:txBody>
          <a:bodyPr/>
          <a:lstStyle/>
          <a:p>
            <a:r>
              <a:rPr lang="en-GB" sz="1800" dirty="0"/>
              <a:t>Year-on-year, %</a:t>
            </a:r>
            <a:endParaRPr lang="fr-FR" sz="1800" dirty="0"/>
          </a:p>
        </p:txBody>
      </p:sp>
      <p:sp>
        <p:nvSpPr>
          <p:cNvPr id="4" name="Flowchart: Alternate Process 3">
            <a:extLst>
              <a:ext uri="{FF2B5EF4-FFF2-40B4-BE49-F238E27FC236}">
                <a16:creationId xmlns:a16="http://schemas.microsoft.com/office/drawing/2014/main" id="{C72CDAD6-C52F-2125-4A4E-F838DD4084A6}"/>
              </a:ext>
            </a:extLst>
          </p:cNvPr>
          <p:cNvSpPr/>
          <p:nvPr/>
        </p:nvSpPr>
        <p:spPr>
          <a:xfrm>
            <a:off x="734824" y="2094790"/>
            <a:ext cx="2268602" cy="821094"/>
          </a:xfrm>
          <a:prstGeom prst="flowChartAlternateProcess">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World</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9" name="Flowchart: Alternate Process 8">
            <a:extLst>
              <a:ext uri="{FF2B5EF4-FFF2-40B4-BE49-F238E27FC236}">
                <a16:creationId xmlns:a16="http://schemas.microsoft.com/office/drawing/2014/main" id="{C162B93B-B47F-6A14-4EBA-553009A80237}"/>
              </a:ext>
            </a:extLst>
          </p:cNvPr>
          <p:cNvSpPr/>
          <p:nvPr/>
        </p:nvSpPr>
        <p:spPr>
          <a:xfrm>
            <a:off x="734824" y="3396226"/>
            <a:ext cx="2268602" cy="821094"/>
          </a:xfrm>
          <a:prstGeom prst="flowChartAlternateProcess">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OECD</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0" name="Flowchart: Alternate Process 9">
            <a:extLst>
              <a:ext uri="{FF2B5EF4-FFF2-40B4-BE49-F238E27FC236}">
                <a16:creationId xmlns:a16="http://schemas.microsoft.com/office/drawing/2014/main" id="{1E11C3D3-B325-D15A-E911-CB3B96B1E834}"/>
              </a:ext>
            </a:extLst>
          </p:cNvPr>
          <p:cNvSpPr/>
          <p:nvPr/>
        </p:nvSpPr>
        <p:spPr>
          <a:xfrm>
            <a:off x="734824" y="4744291"/>
            <a:ext cx="2268602" cy="821094"/>
          </a:xfrm>
          <a:prstGeom prst="flowChartAlternateProcess">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Non-OECD</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1" name="Oval 10">
            <a:extLst>
              <a:ext uri="{FF2B5EF4-FFF2-40B4-BE49-F238E27FC236}">
                <a16:creationId xmlns:a16="http://schemas.microsoft.com/office/drawing/2014/main" id="{C84834A7-57CC-4ED8-FB7B-C7F2C548C5E9}"/>
              </a:ext>
            </a:extLst>
          </p:cNvPr>
          <p:cNvSpPr/>
          <p:nvPr/>
        </p:nvSpPr>
        <p:spPr>
          <a:xfrm>
            <a:off x="3796770" y="1902259"/>
            <a:ext cx="1211535" cy="1206156"/>
          </a:xfrm>
          <a:prstGeom prst="ellipse">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3.4</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2" name="Oval 11">
            <a:extLst>
              <a:ext uri="{FF2B5EF4-FFF2-40B4-BE49-F238E27FC236}">
                <a16:creationId xmlns:a16="http://schemas.microsoft.com/office/drawing/2014/main" id="{BFFA214F-4D89-467E-BDDD-FA7FF37F1001}"/>
              </a:ext>
            </a:extLst>
          </p:cNvPr>
          <p:cNvSpPr/>
          <p:nvPr/>
        </p:nvSpPr>
        <p:spPr>
          <a:xfrm>
            <a:off x="3796770" y="3213370"/>
            <a:ext cx="1211535" cy="1206156"/>
          </a:xfrm>
          <a:prstGeom prst="ellipse">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1.8</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3" name="Oval 12">
            <a:extLst>
              <a:ext uri="{FF2B5EF4-FFF2-40B4-BE49-F238E27FC236}">
                <a16:creationId xmlns:a16="http://schemas.microsoft.com/office/drawing/2014/main" id="{08A56A14-5529-D453-7E4F-B8917C3181EE}"/>
              </a:ext>
            </a:extLst>
          </p:cNvPr>
          <p:cNvSpPr/>
          <p:nvPr/>
        </p:nvSpPr>
        <p:spPr>
          <a:xfrm>
            <a:off x="3796770" y="4575647"/>
            <a:ext cx="1211535" cy="1206156"/>
          </a:xfrm>
          <a:prstGeom prst="ellipse">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4.7</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4" name="Flowchart: Alternate Process 13">
            <a:extLst>
              <a:ext uri="{FF2B5EF4-FFF2-40B4-BE49-F238E27FC236}">
                <a16:creationId xmlns:a16="http://schemas.microsoft.com/office/drawing/2014/main" id="{7F265C77-6FDD-8FEC-9979-14D4D397FB4A}"/>
              </a:ext>
            </a:extLst>
          </p:cNvPr>
          <p:cNvSpPr/>
          <p:nvPr/>
        </p:nvSpPr>
        <p:spPr>
          <a:xfrm>
            <a:off x="3723569" y="1190848"/>
            <a:ext cx="1284737" cy="547099"/>
          </a:xfrm>
          <a:prstGeom prst="flowChartAlternateProcess">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2025</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5" name="Oval 14">
            <a:extLst>
              <a:ext uri="{FF2B5EF4-FFF2-40B4-BE49-F238E27FC236}">
                <a16:creationId xmlns:a16="http://schemas.microsoft.com/office/drawing/2014/main" id="{0F13CAD1-E821-B049-8533-C3F85A5F1994}"/>
              </a:ext>
            </a:extLst>
          </p:cNvPr>
          <p:cNvSpPr/>
          <p:nvPr/>
        </p:nvSpPr>
        <p:spPr>
          <a:xfrm>
            <a:off x="5810188" y="1902259"/>
            <a:ext cx="1211535" cy="120615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2.8</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6" name="Oval 15">
            <a:extLst>
              <a:ext uri="{FF2B5EF4-FFF2-40B4-BE49-F238E27FC236}">
                <a16:creationId xmlns:a16="http://schemas.microsoft.com/office/drawing/2014/main" id="{2B2E66EC-F6F6-A344-390A-8DB8D11910BD}"/>
              </a:ext>
            </a:extLst>
          </p:cNvPr>
          <p:cNvSpPr/>
          <p:nvPr/>
        </p:nvSpPr>
        <p:spPr>
          <a:xfrm>
            <a:off x="5810188" y="3213370"/>
            <a:ext cx="1211535" cy="120615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1.5</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7" name="Oval 16">
            <a:extLst>
              <a:ext uri="{FF2B5EF4-FFF2-40B4-BE49-F238E27FC236}">
                <a16:creationId xmlns:a16="http://schemas.microsoft.com/office/drawing/2014/main" id="{A8FA30D6-FAA0-CAF2-62BB-1F26B3054217}"/>
              </a:ext>
            </a:extLst>
          </p:cNvPr>
          <p:cNvSpPr/>
          <p:nvPr/>
        </p:nvSpPr>
        <p:spPr>
          <a:xfrm>
            <a:off x="5810188" y="4575647"/>
            <a:ext cx="1211535" cy="120615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3.8</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8" name="Flowchart: Alternate Process 17">
            <a:extLst>
              <a:ext uri="{FF2B5EF4-FFF2-40B4-BE49-F238E27FC236}">
                <a16:creationId xmlns:a16="http://schemas.microsoft.com/office/drawing/2014/main" id="{6A87B84F-30F2-7692-08A0-AB07E59912F3}"/>
              </a:ext>
            </a:extLst>
          </p:cNvPr>
          <p:cNvSpPr/>
          <p:nvPr/>
        </p:nvSpPr>
        <p:spPr>
          <a:xfrm>
            <a:off x="6456389" y="1168393"/>
            <a:ext cx="1284737" cy="547099"/>
          </a:xfrm>
          <a:prstGeom prst="flowChartAlternateProcess">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2026</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23" name="Oval 22">
            <a:extLst>
              <a:ext uri="{FF2B5EF4-FFF2-40B4-BE49-F238E27FC236}">
                <a16:creationId xmlns:a16="http://schemas.microsoft.com/office/drawing/2014/main" id="{AD958A85-D7A1-5237-E364-E992A4C3F985}"/>
              </a:ext>
            </a:extLst>
          </p:cNvPr>
          <p:cNvSpPr/>
          <p:nvPr/>
        </p:nvSpPr>
        <p:spPr>
          <a:xfrm>
            <a:off x="8858965" y="1895617"/>
            <a:ext cx="1211535" cy="120615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3.1</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24" name="Oval 23">
            <a:extLst>
              <a:ext uri="{FF2B5EF4-FFF2-40B4-BE49-F238E27FC236}">
                <a16:creationId xmlns:a16="http://schemas.microsoft.com/office/drawing/2014/main" id="{5CF3E6B8-DBAC-D918-6597-E4154F0FC73E}"/>
              </a:ext>
            </a:extLst>
          </p:cNvPr>
          <p:cNvSpPr/>
          <p:nvPr/>
        </p:nvSpPr>
        <p:spPr>
          <a:xfrm>
            <a:off x="8858965" y="3206728"/>
            <a:ext cx="1211535" cy="120615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1.7</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25" name="Oval 24">
            <a:extLst>
              <a:ext uri="{FF2B5EF4-FFF2-40B4-BE49-F238E27FC236}">
                <a16:creationId xmlns:a16="http://schemas.microsoft.com/office/drawing/2014/main" id="{09DADFB6-B64B-D4FA-E673-F24AF2026072}"/>
              </a:ext>
            </a:extLst>
          </p:cNvPr>
          <p:cNvSpPr/>
          <p:nvPr/>
        </p:nvSpPr>
        <p:spPr>
          <a:xfrm>
            <a:off x="8858965" y="4569005"/>
            <a:ext cx="1211535" cy="1206156"/>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4.2</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26" name="Flowchart: Alternate Process 25">
            <a:extLst>
              <a:ext uri="{FF2B5EF4-FFF2-40B4-BE49-F238E27FC236}">
                <a16:creationId xmlns:a16="http://schemas.microsoft.com/office/drawing/2014/main" id="{FFB64058-9552-AFCA-4F98-5249F4074780}"/>
              </a:ext>
            </a:extLst>
          </p:cNvPr>
          <p:cNvSpPr/>
          <p:nvPr/>
        </p:nvSpPr>
        <p:spPr>
          <a:xfrm>
            <a:off x="9428131" y="1184206"/>
            <a:ext cx="1284737" cy="547099"/>
          </a:xfrm>
          <a:prstGeom prst="flowChartAlternateProcess">
            <a:avLst/>
          </a:prstGeom>
          <a:solidFill>
            <a:srgbClr val="3054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2027</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5" name="Text Placeholder 6">
            <a:extLst>
              <a:ext uri="{FF2B5EF4-FFF2-40B4-BE49-F238E27FC236}">
                <a16:creationId xmlns:a16="http://schemas.microsoft.com/office/drawing/2014/main" id="{93A4A213-C935-529A-D168-D2DC00A66C46}"/>
              </a:ext>
            </a:extLst>
          </p:cNvPr>
          <p:cNvSpPr txBox="1">
            <a:spLocks/>
          </p:cNvSpPr>
          <p:nvPr/>
        </p:nvSpPr>
        <p:spPr>
          <a:xfrm>
            <a:off x="8620125" y="5961045"/>
            <a:ext cx="3571875" cy="821094"/>
          </a:xfrm>
          <a:prstGeom prst="rect">
            <a:avLst/>
          </a:prstGeom>
        </p:spPr>
        <p:txBody>
          <a:bodyPr vert="horz">
            <a:noAutofit/>
          </a:bodyPr>
          <a:lstStyle>
            <a:lvl1pPr marL="0" indent="0" algn="l" rtl="0" eaLnBrk="1" latinLnBrk="0" hangingPunct="1">
              <a:spcBef>
                <a:spcPts val="768"/>
              </a:spcBef>
              <a:buClr>
                <a:schemeClr val="tx1"/>
              </a:buClr>
              <a:buFont typeface="Arial" pitchFamily="34" charset="0"/>
              <a:buNone/>
              <a:defRPr kumimoji="0" sz="1400" kern="1200">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vl2pPr marL="741600" indent="-284400" algn="l" rtl="0" eaLnBrk="1" latinLnBrk="0" hangingPunct="1">
              <a:spcBef>
                <a:spcPts val="672"/>
              </a:spcBef>
              <a:buClr>
                <a:schemeClr val="tx1"/>
              </a:buClr>
              <a:buFont typeface="Arial" pitchFamily="34" charset="0"/>
              <a:buChar char="–"/>
              <a:defRPr kumimoji="0" sz="2800" kern="1200">
                <a:solidFill>
                  <a:schemeClr val="tx1"/>
                </a:solidFill>
                <a:latin typeface="+mn-lt"/>
                <a:ea typeface="+mn-ea"/>
                <a:cs typeface="+mn-cs"/>
              </a:defRPr>
            </a:lvl2pPr>
            <a:lvl3pPr marL="1144800" indent="-230400" algn="l" rtl="0" eaLnBrk="1" latinLnBrk="0" hangingPunct="1">
              <a:spcBef>
                <a:spcPts val="576"/>
              </a:spcBef>
              <a:buClr>
                <a:schemeClr val="tx1"/>
              </a:buClr>
              <a:buFont typeface="Arial" pitchFamily="34" charset="0"/>
              <a:buChar char="•"/>
              <a:defRPr kumimoji="0" sz="2400" kern="1200">
                <a:solidFill>
                  <a:schemeClr val="tx1"/>
                </a:solidFill>
                <a:latin typeface="+mn-lt"/>
                <a:ea typeface="+mn-ea"/>
                <a:cs typeface="+mn-cs"/>
              </a:defRPr>
            </a:lvl3pPr>
            <a:lvl4pPr marL="16020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4pPr>
            <a:lvl5pPr marL="20592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GB" sz="1800" b="1" dirty="0">
                <a:solidFill>
                  <a:srgbClr val="00B0F0"/>
                </a:solidFill>
              </a:rPr>
              <a:t>Time-limited disruption scenario</a:t>
            </a:r>
          </a:p>
          <a:p>
            <a:r>
              <a:rPr lang="en-GB" sz="1800" b="1" dirty="0">
                <a:solidFill>
                  <a:srgbClr val="A365D1"/>
                </a:solidFill>
              </a:rPr>
              <a:t>Prolonged disruption scenario</a:t>
            </a:r>
            <a:endParaRPr lang="fr-FR" sz="1800" b="1" dirty="0">
              <a:solidFill>
                <a:srgbClr val="A365D1"/>
              </a:solidFill>
            </a:endParaRPr>
          </a:p>
        </p:txBody>
      </p:sp>
      <p:sp>
        <p:nvSpPr>
          <p:cNvPr id="8" name="Oval 7">
            <a:extLst>
              <a:ext uri="{FF2B5EF4-FFF2-40B4-BE49-F238E27FC236}">
                <a16:creationId xmlns:a16="http://schemas.microsoft.com/office/drawing/2014/main" id="{4D466274-19DA-0596-0669-F3A9EA16055E}"/>
              </a:ext>
            </a:extLst>
          </p:cNvPr>
          <p:cNvSpPr/>
          <p:nvPr/>
        </p:nvSpPr>
        <p:spPr>
          <a:xfrm>
            <a:off x="7098758" y="1892584"/>
            <a:ext cx="1211535" cy="1206156"/>
          </a:xfrm>
          <a:prstGeom prst="ellipse">
            <a:avLst/>
          </a:prstGeom>
          <a:solidFill>
            <a:srgbClr val="A365D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2.1</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19" name="Oval 18">
            <a:extLst>
              <a:ext uri="{FF2B5EF4-FFF2-40B4-BE49-F238E27FC236}">
                <a16:creationId xmlns:a16="http://schemas.microsoft.com/office/drawing/2014/main" id="{AF80589D-EF2E-7BF9-B33F-3BBE4DF496EE}"/>
              </a:ext>
            </a:extLst>
          </p:cNvPr>
          <p:cNvSpPr/>
          <p:nvPr/>
        </p:nvSpPr>
        <p:spPr>
          <a:xfrm>
            <a:off x="7098758" y="3203695"/>
            <a:ext cx="1211535" cy="1206156"/>
          </a:xfrm>
          <a:prstGeom prst="ellipse">
            <a:avLst/>
          </a:prstGeom>
          <a:solidFill>
            <a:srgbClr val="A365D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0.9</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20" name="Oval 19">
            <a:extLst>
              <a:ext uri="{FF2B5EF4-FFF2-40B4-BE49-F238E27FC236}">
                <a16:creationId xmlns:a16="http://schemas.microsoft.com/office/drawing/2014/main" id="{648D2F12-2DAE-0775-80CB-0986F8062818}"/>
              </a:ext>
            </a:extLst>
          </p:cNvPr>
          <p:cNvSpPr/>
          <p:nvPr/>
        </p:nvSpPr>
        <p:spPr>
          <a:xfrm>
            <a:off x="7098758" y="4565972"/>
            <a:ext cx="1211535" cy="1206156"/>
          </a:xfrm>
          <a:prstGeom prst="ellipse">
            <a:avLst/>
          </a:prstGeom>
          <a:solidFill>
            <a:srgbClr val="A365D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3.0</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21" name="Oval 20">
            <a:extLst>
              <a:ext uri="{FF2B5EF4-FFF2-40B4-BE49-F238E27FC236}">
                <a16:creationId xmlns:a16="http://schemas.microsoft.com/office/drawing/2014/main" id="{9ED28C66-21EE-F249-2055-84E3F7CAEEF6}"/>
              </a:ext>
            </a:extLst>
          </p:cNvPr>
          <p:cNvSpPr/>
          <p:nvPr/>
        </p:nvSpPr>
        <p:spPr>
          <a:xfrm>
            <a:off x="10147535" y="1892584"/>
            <a:ext cx="1211535" cy="1206156"/>
          </a:xfrm>
          <a:prstGeom prst="ellipse">
            <a:avLst/>
          </a:prstGeom>
          <a:solidFill>
            <a:srgbClr val="A365D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1.8</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22" name="Oval 21">
            <a:extLst>
              <a:ext uri="{FF2B5EF4-FFF2-40B4-BE49-F238E27FC236}">
                <a16:creationId xmlns:a16="http://schemas.microsoft.com/office/drawing/2014/main" id="{16890777-ECB8-2AD3-78E7-E260CE59D169}"/>
              </a:ext>
            </a:extLst>
          </p:cNvPr>
          <p:cNvSpPr/>
          <p:nvPr/>
        </p:nvSpPr>
        <p:spPr>
          <a:xfrm>
            <a:off x="10147535" y="3203695"/>
            <a:ext cx="1211535" cy="1206156"/>
          </a:xfrm>
          <a:prstGeom prst="ellipse">
            <a:avLst/>
          </a:prstGeom>
          <a:solidFill>
            <a:srgbClr val="A365D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0.5</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27" name="Oval 26">
            <a:extLst>
              <a:ext uri="{FF2B5EF4-FFF2-40B4-BE49-F238E27FC236}">
                <a16:creationId xmlns:a16="http://schemas.microsoft.com/office/drawing/2014/main" id="{8A41513F-74E6-233B-D27B-A00BDBA9DBD6}"/>
              </a:ext>
            </a:extLst>
          </p:cNvPr>
          <p:cNvSpPr/>
          <p:nvPr/>
        </p:nvSpPr>
        <p:spPr>
          <a:xfrm>
            <a:off x="10147535" y="4565972"/>
            <a:ext cx="1211535" cy="1206156"/>
          </a:xfrm>
          <a:prstGeom prst="ellipse">
            <a:avLst/>
          </a:prstGeom>
          <a:solidFill>
            <a:srgbClr val="A365D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rPr>
              <a:t>2.8</a:t>
            </a:r>
            <a:endParaRPr lang="fr-FR" sz="3600" b="1" dirty="0">
              <a:latin typeface="Noto Sans Display ExtraCondense" panose="020B0502040504020204" pitchFamily="34" charset="0"/>
              <a:ea typeface="Noto Sans Display ExtraCondense" panose="020B0502040504020204" pitchFamily="34" charset="0"/>
              <a:cs typeface="Noto Sans Display ExtraCondense" panose="020B0502040504020204" pitchFamily="34" charset="0"/>
            </a:endParaRPr>
          </a:p>
        </p:txBody>
      </p:sp>
      <p:sp>
        <p:nvSpPr>
          <p:cNvPr id="3" name="Text Placeholder 6">
            <a:extLst>
              <a:ext uri="{FF2B5EF4-FFF2-40B4-BE49-F238E27FC236}">
                <a16:creationId xmlns:a16="http://schemas.microsoft.com/office/drawing/2014/main" id="{3281B913-CDC3-8365-6041-FEF100D0E277}"/>
              </a:ext>
            </a:extLst>
          </p:cNvPr>
          <p:cNvSpPr txBox="1">
            <a:spLocks/>
          </p:cNvSpPr>
          <p:nvPr/>
        </p:nvSpPr>
        <p:spPr>
          <a:xfrm>
            <a:off x="585543" y="1144179"/>
            <a:ext cx="2268601" cy="374951"/>
          </a:xfrm>
          <a:prstGeom prst="rect">
            <a:avLst/>
          </a:prstGeom>
        </p:spPr>
        <p:txBody>
          <a:bodyPr vert="horz">
            <a:noAutofit/>
          </a:bodyPr>
          <a:lstStyle>
            <a:lvl1pPr marL="0" indent="0" algn="l" rtl="0" eaLnBrk="1" latinLnBrk="0" hangingPunct="1">
              <a:spcBef>
                <a:spcPts val="768"/>
              </a:spcBef>
              <a:buClr>
                <a:schemeClr val="tx1"/>
              </a:buClr>
              <a:buFont typeface="Arial" pitchFamily="34" charset="0"/>
              <a:buNone/>
              <a:defRPr kumimoji="0" sz="1400" kern="1200">
                <a:solidFill>
                  <a:schemeClr val="bg1"/>
                </a:solidFill>
                <a:latin typeface="Noto Sans Display Condensed Lig" panose="020B0502040504020204" pitchFamily="34" charset="0"/>
                <a:ea typeface="Noto Sans Display Condensed Lig" panose="020B0502040504020204" pitchFamily="34" charset="0"/>
                <a:cs typeface="Noto Sans Display Condensed Lig" panose="020B0502040504020204" pitchFamily="34" charset="0"/>
              </a:defRPr>
            </a:lvl1pPr>
            <a:lvl2pPr marL="741600" indent="-284400" algn="l" rtl="0" eaLnBrk="1" latinLnBrk="0" hangingPunct="1">
              <a:spcBef>
                <a:spcPts val="672"/>
              </a:spcBef>
              <a:buClr>
                <a:schemeClr val="tx1"/>
              </a:buClr>
              <a:buFont typeface="Arial" pitchFamily="34" charset="0"/>
              <a:buChar char="–"/>
              <a:defRPr kumimoji="0" sz="2800" kern="1200">
                <a:solidFill>
                  <a:schemeClr val="tx1"/>
                </a:solidFill>
                <a:latin typeface="+mn-lt"/>
                <a:ea typeface="+mn-ea"/>
                <a:cs typeface="+mn-cs"/>
              </a:defRPr>
            </a:lvl2pPr>
            <a:lvl3pPr marL="1144800" indent="-230400" algn="l" rtl="0" eaLnBrk="1" latinLnBrk="0" hangingPunct="1">
              <a:spcBef>
                <a:spcPts val="576"/>
              </a:spcBef>
              <a:buClr>
                <a:schemeClr val="tx1"/>
              </a:buClr>
              <a:buFont typeface="Arial" pitchFamily="34" charset="0"/>
              <a:buChar char="•"/>
              <a:defRPr kumimoji="0" sz="2400" kern="1200">
                <a:solidFill>
                  <a:schemeClr val="tx1"/>
                </a:solidFill>
                <a:latin typeface="+mn-lt"/>
                <a:ea typeface="+mn-ea"/>
                <a:cs typeface="+mn-cs"/>
              </a:defRPr>
            </a:lvl3pPr>
            <a:lvl4pPr marL="16020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4pPr>
            <a:lvl5pPr marL="20592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GB" sz="1800" b="1"/>
              <a:t>Real GDP growth</a:t>
            </a:r>
            <a:endParaRPr lang="fr-FR" sz="1800" b="1" dirty="0"/>
          </a:p>
        </p:txBody>
      </p:sp>
    </p:spTree>
    <p:extLst>
      <p:ext uri="{BB962C8B-B14F-4D97-AF65-F5344CB8AC3E}">
        <p14:creationId xmlns:p14="http://schemas.microsoft.com/office/powerpoint/2010/main" val="1144208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423F579-FBCD-7B7C-7018-6157F51A7976}"/>
              </a:ext>
            </a:extLst>
          </p:cNvPr>
          <p:cNvSpPr>
            <a:spLocks noGrp="1"/>
          </p:cNvSpPr>
          <p:nvPr>
            <p:ph type="sldNum" sz="quarter" idx="12"/>
          </p:nvPr>
        </p:nvSpPr>
        <p:spPr/>
        <p:txBody>
          <a:bodyPr/>
          <a:lstStyle/>
          <a:p>
            <a:fld id="{C88BD8DC-0F29-4F44-900B-940C0349A13F}" type="slidenum">
              <a:rPr lang="en-GB" smtClean="0"/>
              <a:t>6</a:t>
            </a:fld>
            <a:endParaRPr lang="en-GB"/>
          </a:p>
        </p:txBody>
      </p:sp>
      <p:sp>
        <p:nvSpPr>
          <p:cNvPr id="5" name="Text Placeholder 4">
            <a:extLst>
              <a:ext uri="{FF2B5EF4-FFF2-40B4-BE49-F238E27FC236}">
                <a16:creationId xmlns:a16="http://schemas.microsoft.com/office/drawing/2014/main" id="{01181128-664E-89C1-848E-9705AB4BA80C}"/>
              </a:ext>
            </a:extLst>
          </p:cNvPr>
          <p:cNvSpPr>
            <a:spLocks noGrp="1"/>
          </p:cNvSpPr>
          <p:nvPr>
            <p:ph type="body" sz="quarter" idx="15"/>
          </p:nvPr>
        </p:nvSpPr>
        <p:spPr/>
        <p:txBody>
          <a:bodyPr>
            <a:normAutofit lnSpcReduction="10000"/>
          </a:bodyPr>
          <a:lstStyle/>
          <a:p>
            <a:r>
              <a:rPr lang="en-US" dirty="0"/>
              <a:t>Note: Simulations are based on the forward-looking </a:t>
            </a:r>
            <a:r>
              <a:rPr lang="en-US" dirty="0" err="1"/>
              <a:t>NiGEM</a:t>
            </a:r>
            <a:r>
              <a:rPr lang="en-US" dirty="0"/>
              <a:t> global macroeconomic model. The prolonged disruption scenario assumes oil, gas and </a:t>
            </a:r>
            <a:r>
              <a:rPr lang="en-US" dirty="0" err="1"/>
              <a:t>fertiliser</a:t>
            </a:r>
            <a:r>
              <a:rPr lang="en-US" dirty="0"/>
              <a:t> prices rise by 50% relative to the time-limited disruption scenario till Q3 2027, followed by a gradual decline as supplies recover. The scenario also assumes lower technical efficiency due to energy rationing and supply-chain disruptions, higher household saving and tighter financial conditions, including a 15% decline in equity prices, higher investment risk premia (75-100 basis points) and a 50 basis point increase in long-term government bond term premia.</a:t>
            </a:r>
          </a:p>
          <a:p>
            <a:r>
              <a:rPr lang="en-US" dirty="0"/>
              <a:t>Source: OECD calculations using the </a:t>
            </a:r>
            <a:r>
              <a:rPr lang="en-US" dirty="0" err="1"/>
              <a:t>NiGEM</a:t>
            </a:r>
            <a:r>
              <a:rPr lang="en-US" dirty="0"/>
              <a:t> macroeconomic model.</a:t>
            </a:r>
          </a:p>
          <a:p>
            <a:endParaRPr lang="en-GB" dirty="0"/>
          </a:p>
        </p:txBody>
      </p:sp>
      <p:sp>
        <p:nvSpPr>
          <p:cNvPr id="6" name="Text Placeholder 5">
            <a:extLst>
              <a:ext uri="{FF2B5EF4-FFF2-40B4-BE49-F238E27FC236}">
                <a16:creationId xmlns:a16="http://schemas.microsoft.com/office/drawing/2014/main" id="{5A22F6A5-ABA9-E155-8E1A-62F324914843}"/>
              </a:ext>
            </a:extLst>
          </p:cNvPr>
          <p:cNvSpPr>
            <a:spLocks noGrp="1"/>
          </p:cNvSpPr>
          <p:nvPr>
            <p:ph type="body" sz="quarter" idx="16"/>
          </p:nvPr>
        </p:nvSpPr>
        <p:spPr/>
        <p:txBody>
          <a:bodyPr>
            <a:normAutofit lnSpcReduction="10000"/>
          </a:bodyPr>
          <a:lstStyle/>
          <a:p>
            <a:r>
              <a:rPr lang="en-US" dirty="0"/>
              <a:t>Real GDP growth</a:t>
            </a:r>
          </a:p>
          <a:p>
            <a:endParaRPr lang="en-US" dirty="0"/>
          </a:p>
        </p:txBody>
      </p:sp>
      <p:sp>
        <p:nvSpPr>
          <p:cNvPr id="7" name="Text Placeholder 6">
            <a:extLst>
              <a:ext uri="{FF2B5EF4-FFF2-40B4-BE49-F238E27FC236}">
                <a16:creationId xmlns:a16="http://schemas.microsoft.com/office/drawing/2014/main" id="{4A1E6331-D42A-D402-A3C8-C83924EBBA32}"/>
              </a:ext>
            </a:extLst>
          </p:cNvPr>
          <p:cNvSpPr>
            <a:spLocks noGrp="1"/>
          </p:cNvSpPr>
          <p:nvPr>
            <p:ph type="body" sz="quarter" idx="17"/>
          </p:nvPr>
        </p:nvSpPr>
        <p:spPr/>
        <p:txBody>
          <a:bodyPr/>
          <a:lstStyle/>
          <a:p>
            <a:r>
              <a:rPr lang="en-GB" dirty="0"/>
              <a:t>Consumer price inflation</a:t>
            </a:r>
            <a:endParaRPr lang="en-US" dirty="0"/>
          </a:p>
        </p:txBody>
      </p:sp>
      <p:sp>
        <p:nvSpPr>
          <p:cNvPr id="4" name="Title 3">
            <a:extLst>
              <a:ext uri="{FF2B5EF4-FFF2-40B4-BE49-F238E27FC236}">
                <a16:creationId xmlns:a16="http://schemas.microsoft.com/office/drawing/2014/main" id="{1B51FC4F-3D71-9975-0EE1-0C7EEC459EB8}"/>
              </a:ext>
            </a:extLst>
          </p:cNvPr>
          <p:cNvSpPr>
            <a:spLocks noGrp="1"/>
          </p:cNvSpPr>
          <p:nvPr>
            <p:ph type="title"/>
          </p:nvPr>
        </p:nvSpPr>
        <p:spPr/>
        <p:txBody>
          <a:bodyPr/>
          <a:lstStyle/>
          <a:p>
            <a:r>
              <a:rPr lang="en-GB" dirty="0">
                <a:latin typeface="Noto Sans Display Condensed Ext" panose="020B0502040504020204" pitchFamily="34" charset="0"/>
              </a:rPr>
              <a:t>Economic growth in Asia is particularly exposed to a prolonged disruption</a:t>
            </a:r>
            <a:endParaRPr lang="en-GB" dirty="0"/>
          </a:p>
        </p:txBody>
      </p:sp>
      <p:sp>
        <p:nvSpPr>
          <p:cNvPr id="9" name="Text Placeholder 8">
            <a:extLst>
              <a:ext uri="{FF2B5EF4-FFF2-40B4-BE49-F238E27FC236}">
                <a16:creationId xmlns:a16="http://schemas.microsoft.com/office/drawing/2014/main" id="{3EC4C498-5589-5814-6366-F682CF6AD4E3}"/>
              </a:ext>
            </a:extLst>
          </p:cNvPr>
          <p:cNvSpPr>
            <a:spLocks noGrp="1"/>
          </p:cNvSpPr>
          <p:nvPr>
            <p:ph type="body" sz="quarter" idx="18"/>
          </p:nvPr>
        </p:nvSpPr>
        <p:spPr/>
        <p:txBody>
          <a:bodyPr/>
          <a:lstStyle/>
          <a:p>
            <a:r>
              <a:rPr lang="en-GB" dirty="0"/>
              <a:t>% point difference relative to time-limited disruption scenario</a:t>
            </a:r>
            <a:endParaRPr lang="fr-FR" dirty="0"/>
          </a:p>
          <a:p>
            <a:endParaRPr lang="fr-FR" dirty="0"/>
          </a:p>
        </p:txBody>
      </p:sp>
      <p:sp>
        <p:nvSpPr>
          <p:cNvPr id="10" name="Text Placeholder 9">
            <a:extLst>
              <a:ext uri="{FF2B5EF4-FFF2-40B4-BE49-F238E27FC236}">
                <a16:creationId xmlns:a16="http://schemas.microsoft.com/office/drawing/2014/main" id="{6A544E0D-F42C-2A45-1110-15800B678310}"/>
              </a:ext>
            </a:extLst>
          </p:cNvPr>
          <p:cNvSpPr>
            <a:spLocks noGrp="1"/>
          </p:cNvSpPr>
          <p:nvPr>
            <p:ph type="body" sz="quarter" idx="19"/>
          </p:nvPr>
        </p:nvSpPr>
        <p:spPr/>
        <p:txBody>
          <a:bodyPr/>
          <a:lstStyle/>
          <a:p>
            <a:r>
              <a:rPr lang="en-GB" dirty="0"/>
              <a:t>% point difference relative to time-limited disruption scenario</a:t>
            </a:r>
            <a:endParaRPr lang="fr-FR" dirty="0"/>
          </a:p>
        </p:txBody>
      </p:sp>
      <p:pic>
        <p:nvPicPr>
          <p:cNvPr id="17" name="Picture 16">
            <a:extLst>
              <a:ext uri="{FF2B5EF4-FFF2-40B4-BE49-F238E27FC236}">
                <a16:creationId xmlns:a16="http://schemas.microsoft.com/office/drawing/2014/main" id="{C0AE67EF-53C5-5077-6EEA-A83E44229F53}"/>
              </a:ext>
            </a:extLst>
          </p:cNvPr>
          <p:cNvPicPr>
            <a:picLocks noChangeAspect="1"/>
          </p:cNvPicPr>
          <p:nvPr/>
        </p:nvPicPr>
        <p:blipFill>
          <a:blip r:embed="rId3"/>
          <a:stretch>
            <a:fillRect/>
          </a:stretch>
        </p:blipFill>
        <p:spPr>
          <a:xfrm>
            <a:off x="515238" y="2086774"/>
            <a:ext cx="5401524" cy="3944454"/>
          </a:xfrm>
          <a:prstGeom prst="rect">
            <a:avLst/>
          </a:prstGeom>
        </p:spPr>
      </p:pic>
      <p:pic>
        <p:nvPicPr>
          <p:cNvPr id="19" name="Picture 18">
            <a:extLst>
              <a:ext uri="{FF2B5EF4-FFF2-40B4-BE49-F238E27FC236}">
                <a16:creationId xmlns:a16="http://schemas.microsoft.com/office/drawing/2014/main" id="{6149B123-80FB-C3AE-82C3-6F5DE2815B0A}"/>
              </a:ext>
            </a:extLst>
          </p:cNvPr>
          <p:cNvPicPr>
            <a:picLocks noChangeAspect="1"/>
          </p:cNvPicPr>
          <p:nvPr/>
        </p:nvPicPr>
        <p:blipFill>
          <a:blip r:embed="rId4"/>
          <a:stretch>
            <a:fillRect/>
          </a:stretch>
        </p:blipFill>
        <p:spPr>
          <a:xfrm>
            <a:off x="6275240" y="2130749"/>
            <a:ext cx="5401524" cy="3846909"/>
          </a:xfrm>
          <a:prstGeom prst="rect">
            <a:avLst/>
          </a:prstGeom>
        </p:spPr>
      </p:pic>
    </p:spTree>
    <p:extLst>
      <p:ext uri="{BB962C8B-B14F-4D97-AF65-F5344CB8AC3E}">
        <p14:creationId xmlns:p14="http://schemas.microsoft.com/office/powerpoint/2010/main" val="2184241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AD0B8-1FA3-EA0C-2FC7-80BD6B642D7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0A6A88E-3C6B-261A-1B24-EB6119767B12}"/>
              </a:ext>
            </a:extLst>
          </p:cNvPr>
          <p:cNvSpPr>
            <a:spLocks noGrp="1"/>
          </p:cNvSpPr>
          <p:nvPr>
            <p:ph type="body" sz="quarter" idx="11"/>
          </p:nvPr>
        </p:nvSpPr>
        <p:spPr/>
        <p:txBody>
          <a:bodyPr/>
          <a:lstStyle/>
          <a:p>
            <a:r>
              <a:rPr lang="en-GB" dirty="0">
                <a:latin typeface="Noto Sans Display" panose="020B0502040504020204" pitchFamily="34" charset="0"/>
                <a:ea typeface="Noto Sans Display" panose="020B0502040504020204" pitchFamily="34" charset="0"/>
                <a:cs typeface="Noto Sans Display" panose="020B0502040504020204" pitchFamily="34" charset="0"/>
              </a:rPr>
              <a:t>Risks</a:t>
            </a:r>
            <a:endParaRPr lang="en-US" dirty="0">
              <a:latin typeface="Noto Sans Display" panose="020B0502040504020204" pitchFamily="34" charset="0"/>
              <a:ea typeface="Noto Sans Display" panose="020B0502040504020204" pitchFamily="34" charset="0"/>
              <a:cs typeface="Noto Sans Display" panose="020B0502040504020204" pitchFamily="34" charset="0"/>
            </a:endParaRPr>
          </a:p>
        </p:txBody>
      </p:sp>
      <p:sp>
        <p:nvSpPr>
          <p:cNvPr id="3" name="Text Placeholder 2">
            <a:extLst>
              <a:ext uri="{FF2B5EF4-FFF2-40B4-BE49-F238E27FC236}">
                <a16:creationId xmlns:a16="http://schemas.microsoft.com/office/drawing/2014/main" id="{9415CEFE-4141-7063-905A-82AA9CE6B294}"/>
              </a:ext>
            </a:extLst>
          </p:cNvPr>
          <p:cNvSpPr>
            <a:spLocks noGrp="1"/>
          </p:cNvSpPr>
          <p:nvPr>
            <p:ph type="body" sz="quarter" idx="12"/>
          </p:nvPr>
        </p:nvSpPr>
        <p:spPr/>
        <p:txBody>
          <a:bodyPr/>
          <a:lstStyle/>
          <a:p>
            <a:pPr algn="r"/>
            <a:r>
              <a:rPr lang="en-GB" dirty="0">
                <a:latin typeface="Noto Sans Display" panose="020B0502040504020204" pitchFamily="34" charset="0"/>
                <a:ea typeface="Noto Sans Display" panose="020B0502040504020204" pitchFamily="34" charset="0"/>
                <a:cs typeface="Noto Sans Display" panose="020B0502040504020204" pitchFamily="34" charset="0"/>
              </a:rPr>
              <a:t>OECD</a:t>
            </a:r>
          </a:p>
          <a:p>
            <a:pPr algn="r"/>
            <a:r>
              <a:rPr lang="en-GB" dirty="0">
                <a:latin typeface="Noto Sans Display" panose="020B0502040504020204" pitchFamily="34" charset="0"/>
                <a:ea typeface="Noto Sans Display" panose="020B0502040504020204" pitchFamily="34" charset="0"/>
                <a:cs typeface="Noto Sans Display" panose="020B0502040504020204" pitchFamily="34" charset="0"/>
              </a:rPr>
              <a:t>Economic</a:t>
            </a:r>
          </a:p>
          <a:p>
            <a:pPr algn="r"/>
            <a:r>
              <a:rPr lang="en-GB" dirty="0">
                <a:latin typeface="Noto Sans Display" panose="020B0502040504020204" pitchFamily="34" charset="0"/>
                <a:ea typeface="Noto Sans Display" panose="020B0502040504020204" pitchFamily="34" charset="0"/>
                <a:cs typeface="Noto Sans Display" panose="020B0502040504020204" pitchFamily="34" charset="0"/>
              </a:rPr>
              <a:t>Outlook</a:t>
            </a:r>
          </a:p>
        </p:txBody>
      </p:sp>
    </p:spTree>
    <p:extLst>
      <p:ext uri="{BB962C8B-B14F-4D97-AF65-F5344CB8AC3E}">
        <p14:creationId xmlns:p14="http://schemas.microsoft.com/office/powerpoint/2010/main" val="2726743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826CD-D060-C3DC-AD6E-B8AF3CD0644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F1B374-796E-D2AB-94B4-5C4F30F98A50}"/>
              </a:ext>
            </a:extLst>
          </p:cNvPr>
          <p:cNvSpPr>
            <a:spLocks noGrp="1"/>
          </p:cNvSpPr>
          <p:nvPr>
            <p:ph type="sldNum" sz="quarter" idx="4"/>
          </p:nvPr>
        </p:nvSpPr>
        <p:spPr/>
        <p:txBody>
          <a:bodyPr/>
          <a:lstStyle/>
          <a:p>
            <a:fld id="{C88BD8DC-0F29-4F44-900B-940C0349A13F}" type="slidenum">
              <a:rPr lang="en-GB" smtClean="0"/>
              <a:t>8</a:t>
            </a:fld>
            <a:endParaRPr lang="en-GB"/>
          </a:p>
        </p:txBody>
      </p:sp>
      <p:sp>
        <p:nvSpPr>
          <p:cNvPr id="8" name="Title 7">
            <a:extLst>
              <a:ext uri="{FF2B5EF4-FFF2-40B4-BE49-F238E27FC236}">
                <a16:creationId xmlns:a16="http://schemas.microsoft.com/office/drawing/2014/main" id="{AC74212F-12E9-72F7-1730-14F912CAE706}"/>
              </a:ext>
            </a:extLst>
          </p:cNvPr>
          <p:cNvSpPr>
            <a:spLocks noGrp="1"/>
          </p:cNvSpPr>
          <p:nvPr>
            <p:ph type="title"/>
          </p:nvPr>
        </p:nvSpPr>
        <p:spPr>
          <a:xfrm>
            <a:off x="623999" y="142263"/>
            <a:ext cx="11729731" cy="1022400"/>
          </a:xfrm>
        </p:spPr>
        <p:txBody>
          <a:bodyPr/>
          <a:lstStyle/>
          <a:p>
            <a:r>
              <a:rPr lang="en-GB" dirty="0"/>
              <a:t>Higher food prices would particularly hurt the poorest</a:t>
            </a:r>
            <a:endParaRPr lang="fr-FR" dirty="0"/>
          </a:p>
        </p:txBody>
      </p:sp>
      <p:sp>
        <p:nvSpPr>
          <p:cNvPr id="13" name="Text Placeholder 12">
            <a:extLst>
              <a:ext uri="{FF2B5EF4-FFF2-40B4-BE49-F238E27FC236}">
                <a16:creationId xmlns:a16="http://schemas.microsoft.com/office/drawing/2014/main" id="{8AFF576F-5CCC-4AFC-BBD6-985BC3472C44}"/>
              </a:ext>
            </a:extLst>
          </p:cNvPr>
          <p:cNvSpPr>
            <a:spLocks noGrp="1"/>
          </p:cNvSpPr>
          <p:nvPr>
            <p:ph type="body" sz="quarter" idx="10"/>
          </p:nvPr>
        </p:nvSpPr>
        <p:spPr/>
        <p:txBody>
          <a:bodyPr/>
          <a:lstStyle/>
          <a:p>
            <a:r>
              <a:rPr lang="en-US" dirty="0"/>
              <a:t>Agricultural reliance on nitrogen </a:t>
            </a:r>
            <a:r>
              <a:rPr lang="en-US" dirty="0" err="1"/>
              <a:t>fertiliser</a:t>
            </a:r>
            <a:r>
              <a:rPr lang="en-US" dirty="0"/>
              <a:t> imports from the Persian Gulf</a:t>
            </a:r>
            <a:endParaRPr lang="fr-FR" dirty="0"/>
          </a:p>
        </p:txBody>
      </p:sp>
      <p:sp>
        <p:nvSpPr>
          <p:cNvPr id="14" name="Text Placeholder 13">
            <a:extLst>
              <a:ext uri="{FF2B5EF4-FFF2-40B4-BE49-F238E27FC236}">
                <a16:creationId xmlns:a16="http://schemas.microsoft.com/office/drawing/2014/main" id="{9C5A1F61-CDAE-8F8A-2567-AA70177FD98E}"/>
              </a:ext>
            </a:extLst>
          </p:cNvPr>
          <p:cNvSpPr>
            <a:spLocks noGrp="1"/>
          </p:cNvSpPr>
          <p:nvPr>
            <p:ph type="body" sz="quarter" idx="11"/>
          </p:nvPr>
        </p:nvSpPr>
        <p:spPr/>
        <p:txBody>
          <a:bodyPr>
            <a:normAutofit fontScale="92500" lnSpcReduction="10000"/>
          </a:bodyPr>
          <a:lstStyle/>
          <a:p>
            <a:r>
              <a:rPr lang="en-US" dirty="0"/>
              <a:t>Note: The figure shows the quantity of imported nitrogen-based </a:t>
            </a:r>
            <a:r>
              <a:rPr lang="en-US" dirty="0" err="1"/>
              <a:t>fertilisers</a:t>
            </a:r>
            <a:r>
              <a:rPr lang="en-US" dirty="0"/>
              <a:t> as a share of the total quantity of nitrogen-based </a:t>
            </a:r>
            <a:r>
              <a:rPr lang="en-US" dirty="0" err="1"/>
              <a:t>fertilisers</a:t>
            </a:r>
            <a:r>
              <a:rPr lang="en-US" dirty="0"/>
              <a:t> applied for use agriculturally. Net imports equal to one mean the country relies on imports to meet its </a:t>
            </a:r>
            <a:r>
              <a:rPr lang="en-US" dirty="0" err="1"/>
              <a:t>fertiliser</a:t>
            </a:r>
            <a:r>
              <a:rPr lang="en-US" dirty="0"/>
              <a:t> needs. A figure of less than one suggests domestic production is used to meet </a:t>
            </a:r>
            <a:r>
              <a:rPr lang="en-US" dirty="0" err="1"/>
              <a:t>fertiliser</a:t>
            </a:r>
            <a:r>
              <a:rPr lang="en-US" dirty="0"/>
              <a:t> needs, with numbers close to zero suggesting imports are not very important; a number less than zero (not shown) exists for countries which are net exporters, (e.g. China, Russia and Saudi Arabia). These re-exports account for the difference between net and total imports and are not shown. Persian Gulf countries are Bahrain, Iran, Iraq, Kuwait, Oman, Qatar, Saudi Arabia and United Arab Emirates. Shares of imports from the Persian Gulf are based on the FAO trade matrix database; agricultural use and gross and net imports are based on the FAO nutrient database.</a:t>
            </a:r>
          </a:p>
          <a:p>
            <a:r>
              <a:rPr lang="en-US" dirty="0"/>
              <a:t>Source: Food and Agriculture </a:t>
            </a:r>
            <a:r>
              <a:rPr lang="en-US" dirty="0" err="1"/>
              <a:t>Organisation</a:t>
            </a:r>
            <a:r>
              <a:rPr lang="en-US" dirty="0"/>
              <a:t> (FAO) Agricultural database; and OECD calculations.</a:t>
            </a:r>
          </a:p>
          <a:p>
            <a:endParaRPr lang="fr-FR" dirty="0"/>
          </a:p>
        </p:txBody>
      </p:sp>
      <p:pic>
        <p:nvPicPr>
          <p:cNvPr id="6" name="Picture 5">
            <a:extLst>
              <a:ext uri="{FF2B5EF4-FFF2-40B4-BE49-F238E27FC236}">
                <a16:creationId xmlns:a16="http://schemas.microsoft.com/office/drawing/2014/main" id="{34595D28-6F78-7E41-E9AA-06F127DE22DA}"/>
              </a:ext>
            </a:extLst>
          </p:cNvPr>
          <p:cNvPicPr>
            <a:picLocks noChangeAspect="1"/>
          </p:cNvPicPr>
          <p:nvPr/>
        </p:nvPicPr>
        <p:blipFill>
          <a:blip r:embed="rId3"/>
          <a:stretch>
            <a:fillRect/>
          </a:stretch>
        </p:blipFill>
        <p:spPr>
          <a:xfrm>
            <a:off x="532950" y="1836854"/>
            <a:ext cx="10973751" cy="3956647"/>
          </a:xfrm>
          <a:prstGeom prst="rect">
            <a:avLst/>
          </a:prstGeom>
        </p:spPr>
      </p:pic>
    </p:spTree>
    <p:extLst>
      <p:ext uri="{BB962C8B-B14F-4D97-AF65-F5344CB8AC3E}">
        <p14:creationId xmlns:p14="http://schemas.microsoft.com/office/powerpoint/2010/main" val="531374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7CF4DDC-1E86-1DD2-922C-D9FD3BB4F6C3}"/>
              </a:ext>
            </a:extLst>
          </p:cNvPr>
          <p:cNvSpPr>
            <a:spLocks noGrp="1"/>
          </p:cNvSpPr>
          <p:nvPr>
            <p:ph type="sldNum" sz="quarter" idx="4"/>
          </p:nvPr>
        </p:nvSpPr>
        <p:spPr/>
        <p:txBody>
          <a:bodyPr/>
          <a:lstStyle/>
          <a:p>
            <a:fld id="{C88BD8DC-0F29-4F44-900B-940C0349A13F}" type="slidenum">
              <a:rPr lang="en-GB" smtClean="0"/>
              <a:t>9</a:t>
            </a:fld>
            <a:endParaRPr lang="en-GB"/>
          </a:p>
        </p:txBody>
      </p:sp>
      <p:sp>
        <p:nvSpPr>
          <p:cNvPr id="4" name="Title 3">
            <a:extLst>
              <a:ext uri="{FF2B5EF4-FFF2-40B4-BE49-F238E27FC236}">
                <a16:creationId xmlns:a16="http://schemas.microsoft.com/office/drawing/2014/main" id="{9E121568-7DA7-AC17-87E9-AAE05FD2572D}"/>
              </a:ext>
            </a:extLst>
          </p:cNvPr>
          <p:cNvSpPr>
            <a:spLocks noGrp="1"/>
          </p:cNvSpPr>
          <p:nvPr>
            <p:ph type="title"/>
          </p:nvPr>
        </p:nvSpPr>
        <p:spPr>
          <a:xfrm>
            <a:off x="623999" y="142263"/>
            <a:ext cx="10173309" cy="1022400"/>
          </a:xfrm>
        </p:spPr>
        <p:txBody>
          <a:bodyPr/>
          <a:lstStyle/>
          <a:p>
            <a:r>
              <a:rPr lang="en-US" dirty="0"/>
              <a:t>US import tariffs have decreased, but trade tensions still pose a risk to growth</a:t>
            </a:r>
            <a:endParaRPr lang="fr-FR" dirty="0"/>
          </a:p>
        </p:txBody>
      </p:sp>
      <p:sp>
        <p:nvSpPr>
          <p:cNvPr id="5" name="Text Placeholder 4">
            <a:extLst>
              <a:ext uri="{FF2B5EF4-FFF2-40B4-BE49-F238E27FC236}">
                <a16:creationId xmlns:a16="http://schemas.microsoft.com/office/drawing/2014/main" id="{2A66B5EC-53DE-6AF6-7F14-F2BB7FF47259}"/>
              </a:ext>
            </a:extLst>
          </p:cNvPr>
          <p:cNvSpPr>
            <a:spLocks noGrp="1"/>
          </p:cNvSpPr>
          <p:nvPr>
            <p:ph type="body" sz="quarter" idx="10"/>
          </p:nvPr>
        </p:nvSpPr>
        <p:spPr/>
        <p:txBody>
          <a:bodyPr/>
          <a:lstStyle/>
          <a:p>
            <a:r>
              <a:rPr lang="en-GB" dirty="0"/>
              <a:t>Estimated changes in US effective tariffs</a:t>
            </a:r>
            <a:endParaRPr lang="fr-FR" dirty="0"/>
          </a:p>
        </p:txBody>
      </p:sp>
      <p:sp>
        <p:nvSpPr>
          <p:cNvPr id="6" name="Text Placeholder 5">
            <a:extLst>
              <a:ext uri="{FF2B5EF4-FFF2-40B4-BE49-F238E27FC236}">
                <a16:creationId xmlns:a16="http://schemas.microsoft.com/office/drawing/2014/main" id="{7EAD9F60-8028-462F-82CB-BC3DB9890FD6}"/>
              </a:ext>
            </a:extLst>
          </p:cNvPr>
          <p:cNvSpPr>
            <a:spLocks noGrp="1"/>
          </p:cNvSpPr>
          <p:nvPr>
            <p:ph type="body" sz="quarter" idx="11"/>
          </p:nvPr>
        </p:nvSpPr>
        <p:spPr/>
        <p:txBody>
          <a:bodyPr>
            <a:normAutofit lnSpcReduction="10000"/>
          </a:bodyPr>
          <a:lstStyle/>
          <a:p>
            <a:r>
              <a:rPr lang="en-US" dirty="0"/>
              <a:t>Note: Estimated change in tariff rates based on applicable rates to products and countries at the time they became effective, weighted by country-specific product shares of United States imports in 2024. Changes relative to December 2024 tariff levels. The mid-November 2025 estimates were published in the December 2025 OECD Economic Outlook, prior to the ratification of the framework agreement between the United States and Switzerland.</a:t>
            </a:r>
          </a:p>
          <a:p>
            <a:r>
              <a:rPr lang="en-US" dirty="0"/>
              <a:t>Source: US Census Bureau; the White House; US Federal Register; and OECD calculations.</a:t>
            </a:r>
            <a:endParaRPr lang="fr-FR" dirty="0"/>
          </a:p>
        </p:txBody>
      </p:sp>
      <p:sp>
        <p:nvSpPr>
          <p:cNvPr id="7" name="Text Placeholder 6">
            <a:extLst>
              <a:ext uri="{FF2B5EF4-FFF2-40B4-BE49-F238E27FC236}">
                <a16:creationId xmlns:a16="http://schemas.microsoft.com/office/drawing/2014/main" id="{87EE3481-13B8-244D-25BF-43AA200EBF3A}"/>
              </a:ext>
            </a:extLst>
          </p:cNvPr>
          <p:cNvSpPr>
            <a:spLocks noGrp="1"/>
          </p:cNvSpPr>
          <p:nvPr>
            <p:ph type="body" sz="quarter" idx="12"/>
          </p:nvPr>
        </p:nvSpPr>
        <p:spPr/>
        <p:txBody>
          <a:bodyPr/>
          <a:lstStyle/>
          <a:p>
            <a:r>
              <a:rPr lang="en-GB" dirty="0"/>
              <a:t>%</a:t>
            </a:r>
            <a:endParaRPr lang="fr-FR" dirty="0"/>
          </a:p>
        </p:txBody>
      </p:sp>
      <p:pic>
        <p:nvPicPr>
          <p:cNvPr id="13" name="Picture 12">
            <a:extLst>
              <a:ext uri="{FF2B5EF4-FFF2-40B4-BE49-F238E27FC236}">
                <a16:creationId xmlns:a16="http://schemas.microsoft.com/office/drawing/2014/main" id="{1E3D22AD-F2DC-6427-D001-3C054606993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4070" y="1927747"/>
            <a:ext cx="10748180" cy="4112678"/>
          </a:xfrm>
          <a:prstGeom prst="rect">
            <a:avLst/>
          </a:prstGeom>
        </p:spPr>
      </p:pic>
    </p:spTree>
    <p:extLst>
      <p:ext uri="{BB962C8B-B14F-4D97-AF65-F5344CB8AC3E}">
        <p14:creationId xmlns:p14="http://schemas.microsoft.com/office/powerpoint/2010/main" val="1603229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E17E5-BBFD-2CF6-219C-09C5EDBF48F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A842FBA-EE48-23FD-F314-AFF39FB2490B}"/>
              </a:ext>
            </a:extLst>
          </p:cNvPr>
          <p:cNvSpPr>
            <a:spLocks noGrp="1"/>
          </p:cNvSpPr>
          <p:nvPr>
            <p:ph type="sldNum" sz="quarter" idx="4"/>
          </p:nvPr>
        </p:nvSpPr>
        <p:spPr/>
        <p:txBody>
          <a:bodyPr/>
          <a:lstStyle/>
          <a:p>
            <a:fld id="{C88BD8DC-0F29-4F44-900B-940C0349A13F}" type="slidenum">
              <a:rPr lang="en-GB" smtClean="0"/>
              <a:t>10</a:t>
            </a:fld>
            <a:endParaRPr lang="en-GB"/>
          </a:p>
        </p:txBody>
      </p:sp>
      <p:sp>
        <p:nvSpPr>
          <p:cNvPr id="4" name="Title 3">
            <a:extLst>
              <a:ext uri="{FF2B5EF4-FFF2-40B4-BE49-F238E27FC236}">
                <a16:creationId xmlns:a16="http://schemas.microsoft.com/office/drawing/2014/main" id="{436D136E-CF74-C12F-6911-30E41300F162}"/>
              </a:ext>
            </a:extLst>
          </p:cNvPr>
          <p:cNvSpPr>
            <a:spLocks noGrp="1"/>
          </p:cNvSpPr>
          <p:nvPr>
            <p:ph type="title"/>
          </p:nvPr>
        </p:nvSpPr>
        <p:spPr>
          <a:xfrm>
            <a:off x="623999" y="142263"/>
            <a:ext cx="10173309" cy="1022400"/>
          </a:xfrm>
        </p:spPr>
        <p:txBody>
          <a:bodyPr/>
          <a:lstStyle/>
          <a:p>
            <a:r>
              <a:rPr lang="en-US" dirty="0"/>
              <a:t>US import tariffs have decreased, but trade tensions still pose a risk to growth</a:t>
            </a:r>
            <a:endParaRPr lang="fr-FR" dirty="0"/>
          </a:p>
        </p:txBody>
      </p:sp>
      <p:sp>
        <p:nvSpPr>
          <p:cNvPr id="5" name="Text Placeholder 4">
            <a:extLst>
              <a:ext uri="{FF2B5EF4-FFF2-40B4-BE49-F238E27FC236}">
                <a16:creationId xmlns:a16="http://schemas.microsoft.com/office/drawing/2014/main" id="{46E4E96A-8DEE-0F4A-5932-196A8A3952C4}"/>
              </a:ext>
            </a:extLst>
          </p:cNvPr>
          <p:cNvSpPr>
            <a:spLocks noGrp="1"/>
          </p:cNvSpPr>
          <p:nvPr>
            <p:ph type="body" sz="quarter" idx="10"/>
          </p:nvPr>
        </p:nvSpPr>
        <p:spPr/>
        <p:txBody>
          <a:bodyPr/>
          <a:lstStyle/>
          <a:p>
            <a:r>
              <a:rPr lang="en-GB" dirty="0"/>
              <a:t>Estimated changes in US effective tariffs</a:t>
            </a:r>
            <a:endParaRPr lang="fr-FR" dirty="0"/>
          </a:p>
        </p:txBody>
      </p:sp>
      <p:sp>
        <p:nvSpPr>
          <p:cNvPr id="6" name="Text Placeholder 5">
            <a:extLst>
              <a:ext uri="{FF2B5EF4-FFF2-40B4-BE49-F238E27FC236}">
                <a16:creationId xmlns:a16="http://schemas.microsoft.com/office/drawing/2014/main" id="{AAD05F9A-DF10-20E9-9E3C-EC7265052EE8}"/>
              </a:ext>
            </a:extLst>
          </p:cNvPr>
          <p:cNvSpPr>
            <a:spLocks noGrp="1"/>
          </p:cNvSpPr>
          <p:nvPr>
            <p:ph type="body" sz="quarter" idx="11"/>
          </p:nvPr>
        </p:nvSpPr>
        <p:spPr/>
        <p:txBody>
          <a:bodyPr>
            <a:normAutofit lnSpcReduction="10000"/>
          </a:bodyPr>
          <a:lstStyle/>
          <a:p>
            <a:r>
              <a:rPr lang="en-US" dirty="0"/>
              <a:t>Note: Estimated change in tariff rates based on applicable rates to products and countries at the time they became effective, weighted by country-specific product shares of United States imports in 2024. Changes relative to December 2024 tariff levels. The mid-November 2025 estimates were published in the December 2025 OECD Economic Outlook, prior to the ratification of the framework agreement between the United States and Switzerland.</a:t>
            </a:r>
          </a:p>
          <a:p>
            <a:r>
              <a:rPr lang="en-US" dirty="0"/>
              <a:t>Source: US Census Bureau; the White House; US Federal Register; and OECD calculations.</a:t>
            </a:r>
            <a:endParaRPr lang="fr-FR" dirty="0"/>
          </a:p>
        </p:txBody>
      </p:sp>
      <p:sp>
        <p:nvSpPr>
          <p:cNvPr id="7" name="Text Placeholder 6">
            <a:extLst>
              <a:ext uri="{FF2B5EF4-FFF2-40B4-BE49-F238E27FC236}">
                <a16:creationId xmlns:a16="http://schemas.microsoft.com/office/drawing/2014/main" id="{1FA0F90E-3409-2DB4-9194-D1B74AA0062F}"/>
              </a:ext>
            </a:extLst>
          </p:cNvPr>
          <p:cNvSpPr>
            <a:spLocks noGrp="1"/>
          </p:cNvSpPr>
          <p:nvPr>
            <p:ph type="body" sz="quarter" idx="12"/>
          </p:nvPr>
        </p:nvSpPr>
        <p:spPr/>
        <p:txBody>
          <a:bodyPr/>
          <a:lstStyle/>
          <a:p>
            <a:r>
              <a:rPr lang="en-GB" dirty="0"/>
              <a:t>%</a:t>
            </a:r>
            <a:endParaRPr lang="fr-FR" dirty="0"/>
          </a:p>
        </p:txBody>
      </p:sp>
      <p:pic>
        <p:nvPicPr>
          <p:cNvPr id="13" name="Picture 12">
            <a:extLst>
              <a:ext uri="{FF2B5EF4-FFF2-40B4-BE49-F238E27FC236}">
                <a16:creationId xmlns:a16="http://schemas.microsoft.com/office/drawing/2014/main" id="{6FBEC086-22AA-30F5-2619-2C62BB9B63C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4070" y="1927747"/>
            <a:ext cx="10748180" cy="4112678"/>
          </a:xfrm>
          <a:prstGeom prst="rect">
            <a:avLst/>
          </a:prstGeom>
        </p:spPr>
      </p:pic>
    </p:spTree>
    <p:extLst>
      <p:ext uri="{BB962C8B-B14F-4D97-AF65-F5344CB8AC3E}">
        <p14:creationId xmlns:p14="http://schemas.microsoft.com/office/powerpoint/2010/main" val="3568744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0D751-2AB7-24D1-7F23-769ECB05ADF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5306AC-E1A4-BD8F-00F3-713CEB75BBE2}"/>
              </a:ext>
            </a:extLst>
          </p:cNvPr>
          <p:cNvSpPr>
            <a:spLocks noGrp="1"/>
          </p:cNvSpPr>
          <p:nvPr>
            <p:ph type="sldNum" sz="quarter" idx="12"/>
          </p:nvPr>
        </p:nvSpPr>
        <p:spPr/>
        <p:txBody>
          <a:bodyPr/>
          <a:lstStyle/>
          <a:p>
            <a:fld id="{C88BD8DC-0F29-4F44-900B-940C0349A13F}" type="slidenum">
              <a:rPr lang="en-GB" smtClean="0"/>
              <a:t>11</a:t>
            </a:fld>
            <a:endParaRPr lang="en-GB"/>
          </a:p>
        </p:txBody>
      </p:sp>
      <p:sp>
        <p:nvSpPr>
          <p:cNvPr id="5" name="Text Placeholder 4">
            <a:extLst>
              <a:ext uri="{FF2B5EF4-FFF2-40B4-BE49-F238E27FC236}">
                <a16:creationId xmlns:a16="http://schemas.microsoft.com/office/drawing/2014/main" id="{5A832F72-36CC-4DFC-B405-0B61BF87A0A7}"/>
              </a:ext>
            </a:extLst>
          </p:cNvPr>
          <p:cNvSpPr>
            <a:spLocks noGrp="1"/>
          </p:cNvSpPr>
          <p:nvPr>
            <p:ph type="body" sz="quarter" idx="15"/>
          </p:nvPr>
        </p:nvSpPr>
        <p:spPr/>
        <p:txBody>
          <a:bodyPr>
            <a:normAutofit fontScale="92500" lnSpcReduction="10000"/>
          </a:bodyPr>
          <a:lstStyle/>
          <a:p>
            <a:r>
              <a:rPr lang="en-US" dirty="0"/>
              <a:t>Note: In the left graph, the “Magnificent 7” comprises Alphabet, Amazon, Apple, Meta, Microsoft, Nvidia and Tesla. Other AI companies are identified based on the constituents of the iShares and X-trackers exchange traded funds invested in AI firms as of December 2025. Projections for 2026 and 2027 as of 31 March 2026. Earnings are measured by EBITDA (earnings before interest, tax and amortization). </a:t>
            </a:r>
            <a:r>
              <a:rPr lang="en-US" dirty="0">
                <a:solidFill>
                  <a:prstClr val="white"/>
                </a:solidFill>
                <a:latin typeface="Aptos Display" panose="020B0004020202020204" pitchFamily="34" charset="0"/>
              </a:rPr>
              <a:t>The right-hand side graph shows predicted per capita real income gains due to AI over the next 10 years, in percentage points and </a:t>
            </a:r>
            <a:r>
              <a:rPr lang="en-US" dirty="0" err="1">
                <a:solidFill>
                  <a:prstClr val="white"/>
                </a:solidFill>
                <a:latin typeface="Aptos Display" panose="020B0004020202020204" pitchFamily="34" charset="0"/>
              </a:rPr>
              <a:t>annualised</a:t>
            </a:r>
            <a:r>
              <a:rPr lang="en-US" dirty="0">
                <a:solidFill>
                  <a:prstClr val="white"/>
                </a:solidFill>
                <a:latin typeface="Aptos Display" panose="020B0004020202020204" pitchFamily="34" charset="0"/>
              </a:rPr>
              <a:t> terms. Medium adoption and expanded AI capabilities assume adoption follows the same trajectory as ICT technologies, increasing 40% over 10 years, and that AI reaches higher capabilities thanks to synergies with additional software. </a:t>
            </a:r>
            <a:endParaRPr lang="en-US" dirty="0"/>
          </a:p>
          <a:p>
            <a:r>
              <a:rPr lang="en-US" dirty="0"/>
              <a:t>Source: Bloomberg; LSEG; White &amp; Case; </a:t>
            </a:r>
            <a:r>
              <a:rPr lang="en-GB" dirty="0" err="1"/>
              <a:t>Filippucci</a:t>
            </a:r>
            <a:r>
              <a:rPr lang="en-GB" dirty="0"/>
              <a:t> et al: “AI meets trade: Global linkages and the cross-country distribution of the gains from AI” (forthcoming), </a:t>
            </a:r>
            <a:r>
              <a:rPr lang="en-US" dirty="0"/>
              <a:t>and OECD calculations.</a:t>
            </a:r>
            <a:endParaRPr lang="en-GB" dirty="0"/>
          </a:p>
          <a:p>
            <a:endParaRPr lang="en-GB" dirty="0"/>
          </a:p>
        </p:txBody>
      </p:sp>
      <p:sp>
        <p:nvSpPr>
          <p:cNvPr id="6" name="Text Placeholder 5">
            <a:extLst>
              <a:ext uri="{FF2B5EF4-FFF2-40B4-BE49-F238E27FC236}">
                <a16:creationId xmlns:a16="http://schemas.microsoft.com/office/drawing/2014/main" id="{7D50D979-F90D-7E52-0FA3-511346D41801}"/>
              </a:ext>
            </a:extLst>
          </p:cNvPr>
          <p:cNvSpPr>
            <a:spLocks noGrp="1"/>
          </p:cNvSpPr>
          <p:nvPr>
            <p:ph type="body" sz="quarter" idx="16"/>
          </p:nvPr>
        </p:nvSpPr>
        <p:spPr/>
        <p:txBody>
          <a:bodyPr/>
          <a:lstStyle/>
          <a:p>
            <a:r>
              <a:rPr lang="en-GB" dirty="0"/>
              <a:t>AI Companies’ capital expenditure</a:t>
            </a:r>
          </a:p>
          <a:p>
            <a:endParaRPr lang="en-GB" dirty="0"/>
          </a:p>
        </p:txBody>
      </p:sp>
      <p:sp>
        <p:nvSpPr>
          <p:cNvPr id="7" name="Text Placeholder 6">
            <a:extLst>
              <a:ext uri="{FF2B5EF4-FFF2-40B4-BE49-F238E27FC236}">
                <a16:creationId xmlns:a16="http://schemas.microsoft.com/office/drawing/2014/main" id="{CB08B2CB-61EA-92A7-546C-AEEECECA9998}"/>
              </a:ext>
            </a:extLst>
          </p:cNvPr>
          <p:cNvSpPr>
            <a:spLocks noGrp="1"/>
          </p:cNvSpPr>
          <p:nvPr>
            <p:ph type="body" sz="quarter" idx="17"/>
          </p:nvPr>
        </p:nvSpPr>
        <p:spPr/>
        <p:txBody>
          <a:bodyPr/>
          <a:lstStyle/>
          <a:p>
            <a:r>
              <a:rPr lang="en-GB" sz="1600" dirty="0"/>
              <a:t>Projected per capita real income gains due to AI over the next 10 years</a:t>
            </a:r>
            <a:endParaRPr lang="fr-FR" sz="1600" dirty="0"/>
          </a:p>
        </p:txBody>
      </p:sp>
      <p:sp>
        <p:nvSpPr>
          <p:cNvPr id="8" name="Title 7">
            <a:extLst>
              <a:ext uri="{FF2B5EF4-FFF2-40B4-BE49-F238E27FC236}">
                <a16:creationId xmlns:a16="http://schemas.microsoft.com/office/drawing/2014/main" id="{8A44C9E9-8C09-8F36-72BA-9BCEBC05FC9F}"/>
              </a:ext>
            </a:extLst>
          </p:cNvPr>
          <p:cNvSpPr>
            <a:spLocks noGrp="1"/>
          </p:cNvSpPr>
          <p:nvPr>
            <p:ph type="title"/>
          </p:nvPr>
        </p:nvSpPr>
        <p:spPr/>
        <p:txBody>
          <a:bodyPr/>
          <a:lstStyle/>
          <a:p>
            <a:r>
              <a:rPr lang="en-US" dirty="0"/>
              <a:t>Rapid advances in AI </a:t>
            </a:r>
            <a:r>
              <a:rPr lang="en-US"/>
              <a:t>technologies bring </a:t>
            </a:r>
            <a:r>
              <a:rPr lang="en-US" dirty="0"/>
              <a:t>hopes and risks</a:t>
            </a:r>
            <a:endParaRPr lang="en-GB" dirty="0"/>
          </a:p>
        </p:txBody>
      </p:sp>
      <p:sp>
        <p:nvSpPr>
          <p:cNvPr id="9" name="Text Placeholder 8">
            <a:extLst>
              <a:ext uri="{FF2B5EF4-FFF2-40B4-BE49-F238E27FC236}">
                <a16:creationId xmlns:a16="http://schemas.microsoft.com/office/drawing/2014/main" id="{A0282DBD-DD27-E95E-35BB-B43B85B2C0DA}"/>
              </a:ext>
            </a:extLst>
          </p:cNvPr>
          <p:cNvSpPr>
            <a:spLocks noGrp="1"/>
          </p:cNvSpPr>
          <p:nvPr>
            <p:ph type="body" sz="quarter" idx="18"/>
          </p:nvPr>
        </p:nvSpPr>
        <p:spPr/>
        <p:txBody>
          <a:bodyPr/>
          <a:lstStyle/>
          <a:p>
            <a:r>
              <a:rPr lang="en-GB" dirty="0"/>
              <a:t>USD billion</a:t>
            </a:r>
          </a:p>
          <a:p>
            <a:endParaRPr lang="en-GB" dirty="0"/>
          </a:p>
        </p:txBody>
      </p:sp>
      <p:sp>
        <p:nvSpPr>
          <p:cNvPr id="10" name="Text Placeholder 9">
            <a:extLst>
              <a:ext uri="{FF2B5EF4-FFF2-40B4-BE49-F238E27FC236}">
                <a16:creationId xmlns:a16="http://schemas.microsoft.com/office/drawing/2014/main" id="{1D318680-AC51-5103-5290-CF2E00A0C8D0}"/>
              </a:ext>
            </a:extLst>
          </p:cNvPr>
          <p:cNvSpPr>
            <a:spLocks noGrp="1"/>
          </p:cNvSpPr>
          <p:nvPr>
            <p:ph type="body" sz="quarter" idx="19"/>
          </p:nvPr>
        </p:nvSpPr>
        <p:spPr>
          <a:xfrm>
            <a:off x="6096275" y="1552356"/>
            <a:ext cx="5759450" cy="334962"/>
          </a:xfrm>
        </p:spPr>
        <p:txBody>
          <a:bodyPr/>
          <a:lstStyle/>
          <a:p>
            <a:r>
              <a:rPr lang="en-GB" dirty="0"/>
              <a:t>Percentage points, annualised</a:t>
            </a:r>
            <a:endParaRPr lang="fr-FR" dirty="0"/>
          </a:p>
        </p:txBody>
      </p:sp>
      <p:pic>
        <p:nvPicPr>
          <p:cNvPr id="4" name="Picture 3">
            <a:extLst>
              <a:ext uri="{FF2B5EF4-FFF2-40B4-BE49-F238E27FC236}">
                <a16:creationId xmlns:a16="http://schemas.microsoft.com/office/drawing/2014/main" id="{22FC1F5E-D780-2166-B4A6-84B7BD71F474}"/>
              </a:ext>
            </a:extLst>
          </p:cNvPr>
          <p:cNvPicPr>
            <a:picLocks noChangeAspect="1"/>
          </p:cNvPicPr>
          <p:nvPr/>
        </p:nvPicPr>
        <p:blipFill>
          <a:blip r:embed="rId3"/>
          <a:stretch>
            <a:fillRect/>
          </a:stretch>
        </p:blipFill>
        <p:spPr>
          <a:xfrm>
            <a:off x="6275240" y="2057914"/>
            <a:ext cx="5249111" cy="3950550"/>
          </a:xfrm>
          <a:prstGeom prst="rect">
            <a:avLst/>
          </a:prstGeom>
        </p:spPr>
      </p:pic>
      <p:pic>
        <p:nvPicPr>
          <p:cNvPr id="11" name="Picture 10">
            <a:extLst>
              <a:ext uri="{FF2B5EF4-FFF2-40B4-BE49-F238E27FC236}">
                <a16:creationId xmlns:a16="http://schemas.microsoft.com/office/drawing/2014/main" id="{7DAFB266-79D3-E094-E5C8-2F8E62659323}"/>
              </a:ext>
            </a:extLst>
          </p:cNvPr>
          <p:cNvPicPr>
            <a:picLocks noChangeAspect="1"/>
          </p:cNvPicPr>
          <p:nvPr/>
        </p:nvPicPr>
        <p:blipFill>
          <a:blip r:embed="rId4"/>
          <a:stretch>
            <a:fillRect/>
          </a:stretch>
        </p:blipFill>
        <p:spPr>
          <a:xfrm>
            <a:off x="521334" y="1648009"/>
            <a:ext cx="5389331" cy="4281736"/>
          </a:xfrm>
          <a:prstGeom prst="rect">
            <a:avLst/>
          </a:prstGeom>
        </p:spPr>
      </p:pic>
    </p:spTree>
    <p:extLst>
      <p:ext uri="{BB962C8B-B14F-4D97-AF65-F5344CB8AC3E}">
        <p14:creationId xmlns:p14="http://schemas.microsoft.com/office/powerpoint/2010/main" val="571029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95C414-B153-0098-9CD6-FD8C60C8A158}"/>
              </a:ext>
            </a:extLst>
          </p:cNvPr>
          <p:cNvSpPr>
            <a:spLocks noGrp="1"/>
          </p:cNvSpPr>
          <p:nvPr>
            <p:ph type="body" sz="quarter" idx="11"/>
          </p:nvPr>
        </p:nvSpPr>
        <p:spPr/>
        <p:txBody>
          <a:bodyPr/>
          <a:lstStyle/>
          <a:p>
            <a:r>
              <a:rPr lang="en-GB" dirty="0">
                <a:latin typeface="Noto Sans Display" panose="020B0502040504020204" pitchFamily="34" charset="0"/>
                <a:ea typeface="Noto Sans Display" panose="020B0502040504020204" pitchFamily="34" charset="0"/>
                <a:cs typeface="Noto Sans Display" panose="020B0502040504020204" pitchFamily="34" charset="0"/>
              </a:rPr>
              <a:t>Policies</a:t>
            </a:r>
            <a:endParaRPr lang="en-US" dirty="0">
              <a:latin typeface="Noto Sans Display" panose="020B0502040504020204" pitchFamily="34" charset="0"/>
              <a:ea typeface="Noto Sans Display" panose="020B0502040504020204" pitchFamily="34" charset="0"/>
              <a:cs typeface="Noto Sans Display" panose="020B0502040504020204" pitchFamily="34" charset="0"/>
            </a:endParaRPr>
          </a:p>
        </p:txBody>
      </p:sp>
      <p:sp>
        <p:nvSpPr>
          <p:cNvPr id="3" name="Text Placeholder 2">
            <a:extLst>
              <a:ext uri="{FF2B5EF4-FFF2-40B4-BE49-F238E27FC236}">
                <a16:creationId xmlns:a16="http://schemas.microsoft.com/office/drawing/2014/main" id="{C50C3FE9-FDD6-AE8D-F965-8766D2102F4C}"/>
              </a:ext>
            </a:extLst>
          </p:cNvPr>
          <p:cNvSpPr>
            <a:spLocks noGrp="1"/>
          </p:cNvSpPr>
          <p:nvPr>
            <p:ph type="body" sz="quarter" idx="12"/>
          </p:nvPr>
        </p:nvSpPr>
        <p:spPr/>
        <p:txBody>
          <a:bodyPr/>
          <a:lstStyle/>
          <a:p>
            <a:pPr algn="r"/>
            <a:r>
              <a:rPr lang="en-GB" dirty="0">
                <a:latin typeface="Noto Sans Display" panose="020B0502040504020204" pitchFamily="34" charset="0"/>
                <a:ea typeface="Noto Sans Display" panose="020B0502040504020204" pitchFamily="34" charset="0"/>
                <a:cs typeface="Noto Sans Display" panose="020B0502040504020204" pitchFamily="34" charset="0"/>
              </a:rPr>
              <a:t>OECD</a:t>
            </a:r>
          </a:p>
          <a:p>
            <a:pPr algn="r"/>
            <a:r>
              <a:rPr lang="en-GB" dirty="0">
                <a:latin typeface="Noto Sans Display" panose="020B0502040504020204" pitchFamily="34" charset="0"/>
                <a:ea typeface="Noto Sans Display" panose="020B0502040504020204" pitchFamily="34" charset="0"/>
                <a:cs typeface="Noto Sans Display" panose="020B0502040504020204" pitchFamily="34" charset="0"/>
              </a:rPr>
              <a:t>Economic</a:t>
            </a:r>
          </a:p>
          <a:p>
            <a:pPr algn="r"/>
            <a:r>
              <a:rPr lang="en-GB" dirty="0">
                <a:latin typeface="Noto Sans Display" panose="020B0502040504020204" pitchFamily="34" charset="0"/>
                <a:ea typeface="Noto Sans Display" panose="020B0502040504020204" pitchFamily="34" charset="0"/>
                <a:cs typeface="Noto Sans Display" panose="020B0502040504020204" pitchFamily="34" charset="0"/>
              </a:rPr>
              <a:t>Outlook</a:t>
            </a:r>
          </a:p>
        </p:txBody>
      </p:sp>
    </p:spTree>
    <p:extLst>
      <p:ext uri="{BB962C8B-B14F-4D97-AF65-F5344CB8AC3E}">
        <p14:creationId xmlns:p14="http://schemas.microsoft.com/office/powerpoint/2010/main" val="1252921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222DBE-926E-0752-60C7-F5792468D623}"/>
              </a:ext>
            </a:extLst>
          </p:cNvPr>
          <p:cNvSpPr>
            <a:spLocks noGrp="1"/>
          </p:cNvSpPr>
          <p:nvPr>
            <p:ph type="sldNum" sz="quarter" idx="4"/>
          </p:nvPr>
        </p:nvSpPr>
        <p:spPr/>
        <p:txBody>
          <a:bodyPr/>
          <a:lstStyle/>
          <a:p>
            <a:fld id="{C88BD8DC-0F29-4F44-900B-940C0349A13F}" type="slidenum">
              <a:rPr lang="en-GB" smtClean="0"/>
              <a:t>13</a:t>
            </a:fld>
            <a:endParaRPr lang="en-GB"/>
          </a:p>
        </p:txBody>
      </p:sp>
      <p:sp>
        <p:nvSpPr>
          <p:cNvPr id="11" name="Title 10">
            <a:extLst>
              <a:ext uri="{FF2B5EF4-FFF2-40B4-BE49-F238E27FC236}">
                <a16:creationId xmlns:a16="http://schemas.microsoft.com/office/drawing/2014/main" id="{4F285EAA-500A-A8AC-CD9B-8B9193DD7718}"/>
              </a:ext>
            </a:extLst>
          </p:cNvPr>
          <p:cNvSpPr>
            <a:spLocks noGrp="1"/>
          </p:cNvSpPr>
          <p:nvPr>
            <p:ph type="title"/>
          </p:nvPr>
        </p:nvSpPr>
        <p:spPr/>
        <p:txBody>
          <a:bodyPr/>
          <a:lstStyle/>
          <a:p>
            <a:r>
              <a:rPr lang="fr-FR" dirty="0"/>
              <a:t>Central </a:t>
            </a:r>
            <a:r>
              <a:rPr lang="fr-FR" dirty="0" err="1"/>
              <a:t>banks</a:t>
            </a:r>
            <a:r>
              <a:rPr lang="fr-FR" dirty="0"/>
              <a:t> </a:t>
            </a:r>
            <a:r>
              <a:rPr lang="fr-FR" dirty="0" err="1"/>
              <a:t>need</a:t>
            </a:r>
            <a:r>
              <a:rPr lang="fr-FR" dirty="0"/>
              <a:t> to balance the </a:t>
            </a:r>
            <a:r>
              <a:rPr lang="fr-FR" dirty="0" err="1"/>
              <a:t>risk</a:t>
            </a:r>
            <a:r>
              <a:rPr lang="fr-FR" dirty="0"/>
              <a:t> of persistent inflation </a:t>
            </a:r>
            <a:r>
              <a:rPr lang="fr-FR" dirty="0" err="1"/>
              <a:t>against</a:t>
            </a:r>
            <a:r>
              <a:rPr lang="fr-FR" dirty="0"/>
              <a:t> the </a:t>
            </a:r>
            <a:r>
              <a:rPr lang="fr-FR" dirty="0" err="1"/>
              <a:t>risk</a:t>
            </a:r>
            <a:r>
              <a:rPr lang="fr-FR" dirty="0"/>
              <a:t> of a </a:t>
            </a:r>
            <a:r>
              <a:rPr lang="fr-FR" dirty="0" err="1"/>
              <a:t>sharp</a:t>
            </a:r>
            <a:r>
              <a:rPr lang="fr-FR" dirty="0"/>
              <a:t> </a:t>
            </a:r>
            <a:r>
              <a:rPr lang="fr-FR" dirty="0" err="1"/>
              <a:t>slowdown</a:t>
            </a:r>
            <a:endParaRPr lang="en-US" dirty="0"/>
          </a:p>
        </p:txBody>
      </p:sp>
      <p:sp>
        <p:nvSpPr>
          <p:cNvPr id="13" name="Text Placeholder 12">
            <a:extLst>
              <a:ext uri="{FF2B5EF4-FFF2-40B4-BE49-F238E27FC236}">
                <a16:creationId xmlns:a16="http://schemas.microsoft.com/office/drawing/2014/main" id="{C1AE8F26-62A1-3169-C1A0-B0E9B10F0847}"/>
              </a:ext>
            </a:extLst>
          </p:cNvPr>
          <p:cNvSpPr>
            <a:spLocks noGrp="1"/>
          </p:cNvSpPr>
          <p:nvPr>
            <p:ph type="body" sz="quarter" idx="10"/>
          </p:nvPr>
        </p:nvSpPr>
        <p:spPr/>
        <p:txBody>
          <a:bodyPr/>
          <a:lstStyle/>
          <a:p>
            <a:r>
              <a:rPr lang="en-GB" dirty="0"/>
              <a:t>Two-year inflation expectations</a:t>
            </a:r>
            <a:endParaRPr lang="fr-FR" dirty="0"/>
          </a:p>
          <a:p>
            <a:endParaRPr lang="en-US" dirty="0"/>
          </a:p>
        </p:txBody>
      </p:sp>
      <p:sp>
        <p:nvSpPr>
          <p:cNvPr id="14" name="Text Placeholder 13">
            <a:extLst>
              <a:ext uri="{FF2B5EF4-FFF2-40B4-BE49-F238E27FC236}">
                <a16:creationId xmlns:a16="http://schemas.microsoft.com/office/drawing/2014/main" id="{C28125F8-C79C-B9D3-C553-79D5B63C6417}"/>
              </a:ext>
            </a:extLst>
          </p:cNvPr>
          <p:cNvSpPr>
            <a:spLocks noGrp="1"/>
          </p:cNvSpPr>
          <p:nvPr>
            <p:ph type="body" sz="quarter" idx="11"/>
          </p:nvPr>
        </p:nvSpPr>
        <p:spPr/>
        <p:txBody>
          <a:bodyPr>
            <a:normAutofit/>
          </a:bodyPr>
          <a:lstStyle/>
          <a:p>
            <a:r>
              <a:rPr lang="en-US" dirty="0"/>
              <a:t>Note: </a:t>
            </a:r>
            <a:r>
              <a:rPr lang="en-GB" dirty="0"/>
              <a:t>Financial market-based inflation expectations are derived from two-year inflation swap zero coupon rates, except for Brazil, where the two-year breakeven inflation rate is used.</a:t>
            </a:r>
          </a:p>
          <a:p>
            <a:r>
              <a:rPr lang="en-US" dirty="0"/>
              <a:t>Source: </a:t>
            </a:r>
            <a:r>
              <a:rPr lang="en-GB" dirty="0"/>
              <a:t>Bloomberg; and OECD calculations.</a:t>
            </a:r>
            <a:endParaRPr lang="en-US" dirty="0"/>
          </a:p>
        </p:txBody>
      </p:sp>
      <p:sp>
        <p:nvSpPr>
          <p:cNvPr id="15" name="Text Placeholder 14">
            <a:extLst>
              <a:ext uri="{FF2B5EF4-FFF2-40B4-BE49-F238E27FC236}">
                <a16:creationId xmlns:a16="http://schemas.microsoft.com/office/drawing/2014/main" id="{687C02DD-328D-AD11-E9F3-E71BF2790ECB}"/>
              </a:ext>
            </a:extLst>
          </p:cNvPr>
          <p:cNvSpPr>
            <a:spLocks noGrp="1"/>
          </p:cNvSpPr>
          <p:nvPr>
            <p:ph type="body" sz="quarter" idx="12"/>
          </p:nvPr>
        </p:nvSpPr>
        <p:spPr/>
        <p:txBody>
          <a:bodyPr/>
          <a:lstStyle/>
          <a:p>
            <a:r>
              <a:rPr lang="en-GB" dirty="0"/>
              <a:t>%</a:t>
            </a:r>
            <a:endParaRPr lang="en-US" dirty="0"/>
          </a:p>
        </p:txBody>
      </p:sp>
      <p:pic>
        <p:nvPicPr>
          <p:cNvPr id="4" name="Picture 3">
            <a:extLst>
              <a:ext uri="{FF2B5EF4-FFF2-40B4-BE49-F238E27FC236}">
                <a16:creationId xmlns:a16="http://schemas.microsoft.com/office/drawing/2014/main" id="{7B6D71C5-3D3C-2483-0F50-50EA9ACC7063}"/>
              </a:ext>
            </a:extLst>
          </p:cNvPr>
          <p:cNvPicPr>
            <a:picLocks noChangeAspect="1"/>
          </p:cNvPicPr>
          <p:nvPr/>
        </p:nvPicPr>
        <p:blipFill>
          <a:blip r:embed="rId3"/>
          <a:stretch>
            <a:fillRect/>
          </a:stretch>
        </p:blipFill>
        <p:spPr>
          <a:xfrm>
            <a:off x="660720" y="1884596"/>
            <a:ext cx="10796952" cy="3956647"/>
          </a:xfrm>
          <a:prstGeom prst="rect">
            <a:avLst/>
          </a:prstGeom>
        </p:spPr>
      </p:pic>
    </p:spTree>
    <p:extLst>
      <p:ext uri="{BB962C8B-B14F-4D97-AF65-F5344CB8AC3E}">
        <p14:creationId xmlns:p14="http://schemas.microsoft.com/office/powerpoint/2010/main" val="3334258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5CEF5-6317-0E57-37DD-95CD84D98E4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29D3D0-CB0E-697C-81EC-0E15370C0E1B}"/>
              </a:ext>
            </a:extLst>
          </p:cNvPr>
          <p:cNvSpPr>
            <a:spLocks noGrp="1"/>
          </p:cNvSpPr>
          <p:nvPr>
            <p:ph type="sldNum" sz="quarter" idx="4"/>
          </p:nvPr>
        </p:nvSpPr>
        <p:spPr/>
        <p:txBody>
          <a:bodyPr/>
          <a:lstStyle/>
          <a:p>
            <a:fld id="{C88BD8DC-0F29-4F44-900B-940C0349A13F}" type="slidenum">
              <a:rPr lang="en-GB" smtClean="0"/>
              <a:pPr/>
              <a:t>14</a:t>
            </a:fld>
            <a:endParaRPr lang="en-GB"/>
          </a:p>
        </p:txBody>
      </p:sp>
      <p:sp>
        <p:nvSpPr>
          <p:cNvPr id="10" name="Title 9">
            <a:extLst>
              <a:ext uri="{FF2B5EF4-FFF2-40B4-BE49-F238E27FC236}">
                <a16:creationId xmlns:a16="http://schemas.microsoft.com/office/drawing/2014/main" id="{9F5F12BA-82E7-333F-41D0-54089DED7332}"/>
              </a:ext>
            </a:extLst>
          </p:cNvPr>
          <p:cNvSpPr>
            <a:spLocks noGrp="1"/>
          </p:cNvSpPr>
          <p:nvPr>
            <p:ph type="title"/>
          </p:nvPr>
        </p:nvSpPr>
        <p:spPr/>
        <p:txBody>
          <a:bodyPr/>
          <a:lstStyle/>
          <a:p>
            <a:r>
              <a:rPr lang="en-US" dirty="0"/>
              <a:t>Governments introduced relief mainly via direct price controls or tax measures</a:t>
            </a:r>
          </a:p>
        </p:txBody>
      </p:sp>
      <p:sp>
        <p:nvSpPr>
          <p:cNvPr id="12" name="Text Placeholder 11">
            <a:extLst>
              <a:ext uri="{FF2B5EF4-FFF2-40B4-BE49-F238E27FC236}">
                <a16:creationId xmlns:a16="http://schemas.microsoft.com/office/drawing/2014/main" id="{37D48079-874B-D24F-6169-7F54E710BA13}"/>
              </a:ext>
            </a:extLst>
          </p:cNvPr>
          <p:cNvSpPr>
            <a:spLocks noGrp="1"/>
          </p:cNvSpPr>
          <p:nvPr>
            <p:ph type="body" sz="quarter" idx="10"/>
          </p:nvPr>
        </p:nvSpPr>
        <p:spPr/>
        <p:txBody>
          <a:bodyPr/>
          <a:lstStyle/>
          <a:p>
            <a:r>
              <a:rPr lang="en-US" dirty="0"/>
              <a:t>Type of measures in the OECD Energy Support Measures Tracker</a:t>
            </a:r>
          </a:p>
        </p:txBody>
      </p:sp>
      <p:sp>
        <p:nvSpPr>
          <p:cNvPr id="13" name="Text Placeholder 12">
            <a:extLst>
              <a:ext uri="{FF2B5EF4-FFF2-40B4-BE49-F238E27FC236}">
                <a16:creationId xmlns:a16="http://schemas.microsoft.com/office/drawing/2014/main" id="{D59D5150-31E2-F760-0E18-409196764FE0}"/>
              </a:ext>
            </a:extLst>
          </p:cNvPr>
          <p:cNvSpPr>
            <a:spLocks noGrp="1"/>
          </p:cNvSpPr>
          <p:nvPr>
            <p:ph type="body" sz="quarter" idx="11"/>
          </p:nvPr>
        </p:nvSpPr>
        <p:spPr/>
        <p:txBody>
          <a:bodyPr>
            <a:normAutofit lnSpcReduction="10000"/>
          </a:bodyPr>
          <a:lstStyle/>
          <a:p>
            <a:r>
              <a:rPr lang="en-US" dirty="0"/>
              <a:t>Note: The chart classifies support measures along two dimensions. First, measures are grouped by type of support: energy price relief, income support, credit and equity support, or other measures. Second, measures are classified by implementation mechanism, such as tax measures, regulated or capped prices, budgetary transfers, regulatory actions, or financial support instruments. Data covers 31 OECD countries and 15 non-OECD economies: Argentina, Brazil, Bulgaria, China, Croatia, India, Indonesia, Malaysia, Morocco, the Philippines, Romania, South Africa, Thailand, Ukraine, and Viet Nam. Data as of  18 May 2026.</a:t>
            </a:r>
          </a:p>
          <a:p>
            <a:r>
              <a:rPr lang="en-US" dirty="0"/>
              <a:t>Source: 2026 OECD Energy Support Tracker</a:t>
            </a:r>
          </a:p>
        </p:txBody>
      </p:sp>
      <p:sp>
        <p:nvSpPr>
          <p:cNvPr id="14" name="Text Placeholder 13">
            <a:extLst>
              <a:ext uri="{FF2B5EF4-FFF2-40B4-BE49-F238E27FC236}">
                <a16:creationId xmlns:a16="http://schemas.microsoft.com/office/drawing/2014/main" id="{B8E25273-0C05-207D-CE40-5281AC6959F0}"/>
              </a:ext>
            </a:extLst>
          </p:cNvPr>
          <p:cNvSpPr>
            <a:spLocks noGrp="1"/>
          </p:cNvSpPr>
          <p:nvPr>
            <p:ph type="body" sz="quarter" idx="12"/>
          </p:nvPr>
        </p:nvSpPr>
        <p:spPr/>
        <p:txBody>
          <a:bodyPr/>
          <a:lstStyle/>
          <a:p>
            <a:r>
              <a:rPr lang="en-US" dirty="0"/>
              <a:t>Count of measures</a:t>
            </a:r>
          </a:p>
          <a:p>
            <a:endParaRPr lang="en-US" dirty="0"/>
          </a:p>
        </p:txBody>
      </p:sp>
      <p:pic>
        <p:nvPicPr>
          <p:cNvPr id="8" name="Content Placeholder 7">
            <a:extLst>
              <a:ext uri="{FF2B5EF4-FFF2-40B4-BE49-F238E27FC236}">
                <a16:creationId xmlns:a16="http://schemas.microsoft.com/office/drawing/2014/main" id="{D11CD06D-3CB1-A30C-8CC4-140A4E77ED10}"/>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745331" y="1805781"/>
            <a:ext cx="10715625" cy="4305300"/>
          </a:xfrm>
          <a:prstGeom prst="rect">
            <a:avLst/>
          </a:prstGeom>
        </p:spPr>
      </p:pic>
    </p:spTree>
    <p:extLst>
      <p:ext uri="{BB962C8B-B14F-4D97-AF65-F5344CB8AC3E}">
        <p14:creationId xmlns:p14="http://schemas.microsoft.com/office/powerpoint/2010/main" val="1094050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BFF49-4882-0E14-5C7B-194D9F5191F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A0A50D-EB13-7066-B016-B5786F80B9DA}"/>
              </a:ext>
            </a:extLst>
          </p:cNvPr>
          <p:cNvSpPr>
            <a:spLocks noGrp="1"/>
          </p:cNvSpPr>
          <p:nvPr>
            <p:ph type="sldNum" sz="quarter" idx="4"/>
          </p:nvPr>
        </p:nvSpPr>
        <p:spPr/>
        <p:txBody>
          <a:bodyPr/>
          <a:lstStyle/>
          <a:p>
            <a:fld id="{C88BD8DC-0F29-4F44-900B-940C0349A13F}" type="slidenum">
              <a:rPr lang="en-GB" smtClean="0"/>
              <a:pPr/>
              <a:t>15</a:t>
            </a:fld>
            <a:endParaRPr lang="en-GB"/>
          </a:p>
        </p:txBody>
      </p:sp>
      <p:sp>
        <p:nvSpPr>
          <p:cNvPr id="10" name="Title 9">
            <a:extLst>
              <a:ext uri="{FF2B5EF4-FFF2-40B4-BE49-F238E27FC236}">
                <a16:creationId xmlns:a16="http://schemas.microsoft.com/office/drawing/2014/main" id="{F0EBBC29-3DD5-D3E7-2F1B-6CAE8EDA4019}"/>
              </a:ext>
            </a:extLst>
          </p:cNvPr>
          <p:cNvSpPr>
            <a:spLocks noGrp="1"/>
          </p:cNvSpPr>
          <p:nvPr>
            <p:ph type="title"/>
          </p:nvPr>
        </p:nvSpPr>
        <p:spPr/>
        <p:txBody>
          <a:bodyPr/>
          <a:lstStyle/>
          <a:p>
            <a:r>
              <a:rPr lang="en-US" dirty="0"/>
              <a:t>As the crisis </a:t>
            </a:r>
            <a:r>
              <a:rPr lang="en-US"/>
              <a:t>persists</a:t>
            </a:r>
            <a:r>
              <a:rPr lang="en-US" dirty="0"/>
              <a:t>, measures need to be more targeted and preserve incentives to save energy</a:t>
            </a:r>
          </a:p>
        </p:txBody>
      </p:sp>
      <p:sp>
        <p:nvSpPr>
          <p:cNvPr id="12" name="Text Placeholder 11">
            <a:extLst>
              <a:ext uri="{FF2B5EF4-FFF2-40B4-BE49-F238E27FC236}">
                <a16:creationId xmlns:a16="http://schemas.microsoft.com/office/drawing/2014/main" id="{4A1A2980-38BA-95EA-30A3-168253C7EBA1}"/>
              </a:ext>
            </a:extLst>
          </p:cNvPr>
          <p:cNvSpPr>
            <a:spLocks noGrp="1"/>
          </p:cNvSpPr>
          <p:nvPr>
            <p:ph type="body" sz="quarter" idx="10"/>
          </p:nvPr>
        </p:nvSpPr>
        <p:spPr/>
        <p:txBody>
          <a:bodyPr/>
          <a:lstStyle/>
          <a:p>
            <a:r>
              <a:rPr lang="en-US" dirty="0"/>
              <a:t>Type of measures in the OECD Energy Support Measures Tracker</a:t>
            </a:r>
          </a:p>
        </p:txBody>
      </p:sp>
      <p:sp>
        <p:nvSpPr>
          <p:cNvPr id="13" name="Text Placeholder 12">
            <a:extLst>
              <a:ext uri="{FF2B5EF4-FFF2-40B4-BE49-F238E27FC236}">
                <a16:creationId xmlns:a16="http://schemas.microsoft.com/office/drawing/2014/main" id="{DBB438E4-C081-E439-F283-02AB7AFE13BE}"/>
              </a:ext>
            </a:extLst>
          </p:cNvPr>
          <p:cNvSpPr>
            <a:spLocks noGrp="1"/>
          </p:cNvSpPr>
          <p:nvPr>
            <p:ph type="body" sz="quarter" idx="11"/>
          </p:nvPr>
        </p:nvSpPr>
        <p:spPr/>
        <p:txBody>
          <a:bodyPr>
            <a:normAutofit lnSpcReduction="10000"/>
          </a:bodyPr>
          <a:lstStyle/>
          <a:p>
            <a:r>
              <a:rPr lang="en-US" dirty="0"/>
              <a:t>Note: The chart classifies support measures along two dimensions. First, measures are grouped by type of support: energy price relief, income support, credit and equity support, or other measures. Second, measures are classified by implementation mechanism, such as tax measures, regulated or capped prices, budgetary transfers, regulatory actions, or financial support instruments. Data covers 31 OECD countries and 15 non-OECD economies: Argentina, Brazil, Bulgaria, China, Croatia, India, Indonesia, Malaysia, Morocco, the Philippines, Romania, South Africa, Thailand, Ukraine, and Viet Nam. Data as of  18 May 2026.</a:t>
            </a:r>
          </a:p>
          <a:p>
            <a:r>
              <a:rPr lang="en-US" dirty="0"/>
              <a:t>Source: 2026 OECD Energy Support Tracker</a:t>
            </a:r>
          </a:p>
        </p:txBody>
      </p:sp>
      <p:sp>
        <p:nvSpPr>
          <p:cNvPr id="14" name="Text Placeholder 13">
            <a:extLst>
              <a:ext uri="{FF2B5EF4-FFF2-40B4-BE49-F238E27FC236}">
                <a16:creationId xmlns:a16="http://schemas.microsoft.com/office/drawing/2014/main" id="{98C4A136-A9D3-4D07-F4B1-480BC0301666}"/>
              </a:ext>
            </a:extLst>
          </p:cNvPr>
          <p:cNvSpPr>
            <a:spLocks noGrp="1"/>
          </p:cNvSpPr>
          <p:nvPr>
            <p:ph type="body" sz="quarter" idx="12"/>
          </p:nvPr>
        </p:nvSpPr>
        <p:spPr/>
        <p:txBody>
          <a:bodyPr/>
          <a:lstStyle/>
          <a:p>
            <a:r>
              <a:rPr lang="en-US" dirty="0"/>
              <a:t>Count of measures</a:t>
            </a:r>
          </a:p>
          <a:p>
            <a:endParaRPr lang="en-US" dirty="0"/>
          </a:p>
        </p:txBody>
      </p:sp>
      <p:pic>
        <p:nvPicPr>
          <p:cNvPr id="6" name="Content Placeholder 5">
            <a:extLst>
              <a:ext uri="{FF2B5EF4-FFF2-40B4-BE49-F238E27FC236}">
                <a16:creationId xmlns:a16="http://schemas.microsoft.com/office/drawing/2014/main" id="{8986F404-56A7-C008-F66E-0CD20ED14B91}"/>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745331" y="1805781"/>
            <a:ext cx="10715625" cy="4305300"/>
          </a:xfrm>
          <a:prstGeom prst="rect">
            <a:avLst/>
          </a:prstGeom>
        </p:spPr>
      </p:pic>
    </p:spTree>
    <p:extLst>
      <p:ext uri="{BB962C8B-B14F-4D97-AF65-F5344CB8AC3E}">
        <p14:creationId xmlns:p14="http://schemas.microsoft.com/office/powerpoint/2010/main" val="1033394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9CDE41-8D76-1526-62A7-0F03238CFA0F}"/>
              </a:ext>
            </a:extLst>
          </p:cNvPr>
          <p:cNvSpPr>
            <a:spLocks noGrp="1"/>
          </p:cNvSpPr>
          <p:nvPr>
            <p:ph type="sldNum" sz="quarter" idx="10"/>
          </p:nvPr>
        </p:nvSpPr>
        <p:spPr/>
        <p:txBody>
          <a:bodyPr/>
          <a:lstStyle/>
          <a:p>
            <a:fld id="{C88BD8DC-0F29-4F44-900B-940C0349A13F}" type="slidenum">
              <a:rPr lang="en-GB" smtClean="0"/>
              <a:t>16</a:t>
            </a:fld>
            <a:endParaRPr lang="en-GB"/>
          </a:p>
        </p:txBody>
      </p:sp>
      <p:sp>
        <p:nvSpPr>
          <p:cNvPr id="3" name="Text Placeholder 2">
            <a:extLst>
              <a:ext uri="{FF2B5EF4-FFF2-40B4-BE49-F238E27FC236}">
                <a16:creationId xmlns:a16="http://schemas.microsoft.com/office/drawing/2014/main" id="{40C228A9-E63D-8048-3E2C-BB913F262F92}"/>
              </a:ext>
            </a:extLst>
          </p:cNvPr>
          <p:cNvSpPr>
            <a:spLocks noGrp="1"/>
          </p:cNvSpPr>
          <p:nvPr>
            <p:ph type="body" sz="quarter" idx="11"/>
          </p:nvPr>
        </p:nvSpPr>
        <p:spPr/>
        <p:txBody>
          <a:bodyPr>
            <a:normAutofit/>
          </a:bodyPr>
          <a:lstStyle/>
          <a:p>
            <a:r>
              <a:rPr lang="en-GB" dirty="0">
                <a:latin typeface="Noto Sans Display" panose="020B0502040504020204" pitchFamily="34" charset="0"/>
                <a:ea typeface="Noto Sans Display" panose="020B0502040504020204" pitchFamily="34" charset="0"/>
                <a:cs typeface="Noto Sans Display" panose="020B0502040504020204" pitchFamily="34" charset="0"/>
              </a:rPr>
              <a:t>Find out more about our work:</a:t>
            </a:r>
          </a:p>
        </p:txBody>
      </p:sp>
      <p:sp>
        <p:nvSpPr>
          <p:cNvPr id="4" name="Text Placeholder 3">
            <a:extLst>
              <a:ext uri="{FF2B5EF4-FFF2-40B4-BE49-F238E27FC236}">
                <a16:creationId xmlns:a16="http://schemas.microsoft.com/office/drawing/2014/main" id="{AF5F4143-0E2F-A55F-4ADE-9CC2CB20BDD0}"/>
              </a:ext>
            </a:extLst>
          </p:cNvPr>
          <p:cNvSpPr>
            <a:spLocks noGrp="1"/>
          </p:cNvSpPr>
          <p:nvPr>
            <p:ph type="body" sz="quarter" idx="12"/>
          </p:nvPr>
        </p:nvSpPr>
        <p:spPr>
          <a:xfrm>
            <a:off x="4806995" y="480408"/>
            <a:ext cx="2691085" cy="615950"/>
          </a:xfrm>
        </p:spPr>
        <p:txBody>
          <a:bodyPr/>
          <a:lstStyle/>
          <a:p>
            <a:r>
              <a:rPr lang="en-GB" dirty="0">
                <a:latin typeface="Noto Sans Display" panose="020B0502040504020204" pitchFamily="34" charset="0"/>
                <a:ea typeface="Noto Sans Display" panose="020B0502040504020204" pitchFamily="34" charset="0"/>
                <a:cs typeface="Noto Sans Display" panose="020B0502040504020204" pitchFamily="34" charset="0"/>
              </a:rPr>
              <a:t>Thank you!</a:t>
            </a:r>
          </a:p>
        </p:txBody>
      </p:sp>
      <p:pic>
        <p:nvPicPr>
          <p:cNvPr id="5" name="Picture 4">
            <a:extLst>
              <a:ext uri="{FF2B5EF4-FFF2-40B4-BE49-F238E27FC236}">
                <a16:creationId xmlns:a16="http://schemas.microsoft.com/office/drawing/2014/main" id="{34FC0116-E143-4B9D-BFD4-8CACBEA99A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6747" y="2249242"/>
            <a:ext cx="2665780" cy="2665780"/>
          </a:xfrm>
          <a:prstGeom prst="rect">
            <a:avLst/>
          </a:prstGeom>
        </p:spPr>
      </p:pic>
    </p:spTree>
    <p:extLst>
      <p:ext uri="{BB962C8B-B14F-4D97-AF65-F5344CB8AC3E}">
        <p14:creationId xmlns:p14="http://schemas.microsoft.com/office/powerpoint/2010/main" val="218796887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ECD_English_white">
  <a:themeElements>
    <a:clrScheme name="OECD white">
      <a:dk1>
        <a:srgbClr val="727272"/>
      </a:dk1>
      <a:lt1>
        <a:sysClr val="window" lastClr="FFFFFF"/>
      </a:lt1>
      <a:dk2>
        <a:srgbClr val="006299"/>
      </a:dk2>
      <a:lt2>
        <a:srgbClr val="E6E6E6"/>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ECD">
      <a:majorFont>
        <a:latin typeface="Arial"/>
        <a:ea typeface=""/>
        <a:cs typeface=""/>
      </a:majorFont>
      <a:minorFont>
        <a:latin typeface="Georgia"/>
        <a:ea typeface=""/>
        <a:cs typeface=""/>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txDef>
      <a:spPr/>
      <a:bodyPr vert="horz" lIns="91440" tIns="45720" rIns="91440" bIns="45720" rtlCol="0" anchor="ctr">
        <a:noAutofit/>
      </a:bodyPr>
      <a:lstStyle>
        <a:defPPr algn="l">
          <a:defRPr sz="1800" b="1" dirty="0" smtClean="0">
            <a:solidFill>
              <a:srgbClr val="002060"/>
            </a:solidFill>
            <a:latin typeface="Noto Sans Display Condensed Ext" panose="020B0502040504020204" pitchFamily="34" charset="0"/>
            <a:ea typeface="Noto Sans Display Condensed Ext" panose="020B0502040504020204" pitchFamily="34" charset="0"/>
            <a:cs typeface="Noto Sans Display Condensed Ext" panose="020B0502040504020204"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ct:contentTypeSchema xmlns:ct="http://schemas.microsoft.com/office/2006/metadata/contentType" xmlns:ma="http://schemas.microsoft.com/office/2006/metadata/properties/metaAttributes" ct:_="" ma:_="" ma:contentTypeName="Working Document" ma:contentTypeID="0x0101008B4DD370EC31429186F3AD49F0D3098F00D44DBCB9EB4F45278CB5C9765BE5299500A4858B360C6A491AA753F8BCA47AA91000293773D153AD3C41920164F348570E54" ma:contentTypeVersion="637" ma:contentTypeDescription="" ma:contentTypeScope="" ma:versionID="0c7fba94e9a1ac651bcb6abd143a278c">
  <xsd:schema xmlns:xsd="http://www.w3.org/2001/XMLSchema" xmlns:xs="http://www.w3.org/2001/XMLSchema" xmlns:p="http://schemas.microsoft.com/office/2006/metadata/properties" xmlns:ns1="http://schemas.microsoft.com/sharepoint/v3" xmlns:ns2="54c4cd27-f286-408f-9ce0-33c1e0f3ab39" xmlns:ns3="464847da-6e18-4144-8ad5-5857903e06b6" xmlns:ns4="ca82dde9-3436-4d3d-bddd-d31447390034" xmlns:ns5="b028c3f4-2795-4946-841c-2e1644b148e5" xmlns:ns6="c9f238dd-bb73-4aef-a7a5-d644ad823e52" xmlns:ns7="http://schemas.microsoft.com/sharepoint/v4" targetNamespace="http://schemas.microsoft.com/office/2006/metadata/properties" ma:root="true" ma:fieldsID="32c4f091c11914e07b59a3d75d62f902" ns1:_="" ns2:_="" ns3:_="" ns4:_="" ns5:_="" ns6:_="" ns7:_="">
    <xsd:import namespace="http://schemas.microsoft.com/sharepoint/v3"/>
    <xsd:import namespace="54c4cd27-f286-408f-9ce0-33c1e0f3ab39"/>
    <xsd:import namespace="464847da-6e18-4144-8ad5-5857903e06b6"/>
    <xsd:import namespace="ca82dde9-3436-4d3d-bddd-d31447390034"/>
    <xsd:import namespace="b028c3f4-2795-4946-841c-2e1644b148e5"/>
    <xsd:import namespace="c9f238dd-bb73-4aef-a7a5-d644ad823e52"/>
    <xsd:import namespace="http://schemas.microsoft.com/sharepoint/v4"/>
    <xsd:element name="properties">
      <xsd:complexType>
        <xsd:sequence>
          <xsd:element name="documentManagement">
            <xsd:complexType>
              <xsd:all>
                <xsd:element ref="ns2:OECDMeetingDate" minOccurs="0"/>
                <xsd:element ref="ns4:OECDlanguage" minOccurs="0"/>
                <xsd:element ref="ns3:OECDExpirationDate" minOccurs="0"/>
                <xsd:element ref="ns5:OECDProjectLookup" minOccurs="0"/>
                <xsd:element ref="ns5:OECDProjectManager" minOccurs="0"/>
                <xsd:element ref="ns5:OECDProjectMembers" minOccurs="0"/>
                <xsd:element ref="ns5:OECDMainProject" minOccurs="0"/>
                <xsd:element ref="ns5:OECDPinnedBy" minOccurs="0"/>
                <xsd:element ref="ns2:OECDKimStatus" minOccurs="0"/>
                <xsd:element ref="ns5:OECDTagsCache" minOccurs="0"/>
                <xsd:element ref="ns3:_dlc_DocIdUrl" minOccurs="0"/>
                <xsd:element ref="ns6:eShareCountryTaxHTField0" minOccurs="0"/>
                <xsd:element ref="ns6:eShareTopicTaxHTField0" minOccurs="0"/>
                <xsd:element ref="ns6:eShareKeywordsTaxHTField0" minOccurs="0"/>
                <xsd:element ref="ns6:eShareCommitteeTaxHTField0" minOccurs="0"/>
                <xsd:element ref="ns6:eSharePWBTaxHTField0" minOccurs="0"/>
                <xsd:element ref="ns5:Project_x003a_Project_x0020_status" minOccurs="0"/>
                <xsd:element ref="ns4:TaxCatchAllLabel" minOccurs="0"/>
                <xsd:element ref="ns2:OECDKimBussinessContext" minOccurs="0"/>
                <xsd:element ref="ns3:_dlc_DocIdPersistId" minOccurs="0"/>
                <xsd:element ref="ns4:TaxCatchAll" minOccurs="0"/>
                <xsd:element ref="ns7:IconOverlay" minOccurs="0"/>
                <xsd:element ref="ns3:_dlc_DocId" minOccurs="0"/>
                <xsd:element ref="ns2:OECDKimProvenance" minOccurs="0"/>
                <xsd:element ref="ns3:bc65155f859f476689f41d2e239f3b65" minOccurs="0"/>
                <xsd:element ref="ns5:k521ff600dac4d78b40e1e44ce493525" minOccurs="0"/>
                <xsd:element ref="ns1:DocumentSetDescription" minOccurs="0"/>
                <xsd:element ref="ns5:OECDSharingStatus" minOccurs="0"/>
                <xsd:element ref="ns5:OECDCommunityDocumentURL" minOccurs="0"/>
                <xsd:element ref="ns5:OECDCommunityDocumentID" minOccurs="0"/>
                <xsd:element ref="ns3:eShareHorizProjTaxHTField0" minOccurs="0"/>
                <xsd:element ref="ns3:OECDAllRelatedUsers" minOccurs="0"/>
                <xsd:element ref="ns5:SharedWithUsers" minOccurs="0"/>
                <xsd:element ref="ns2:OECDYear"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DocumentSetDescription" ma:index="40" nillable="true" ma:displayName="Description" ma:description="A description of the Document Set" ma:internalName="DocumentSetDescription" ma:readOnly="fals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4c4cd27-f286-408f-9ce0-33c1e0f3ab39" elementFormDefault="qualified">
    <xsd:import namespace="http://schemas.microsoft.com/office/2006/documentManagement/types"/>
    <xsd:import namespace="http://schemas.microsoft.com/office/infopath/2007/PartnerControls"/>
    <xsd:element name="OECDMeetingDate" ma:index="4" nillable="true" ma:displayName="Meeting Date" ma:default="" ma:format="DateOnly" ma:hidden="true" ma:internalName="OECDMeetingDate">
      <xsd:simpleType>
        <xsd:restriction base="dms:DateTime"/>
      </xsd:simpleType>
    </xsd:element>
    <xsd:element name="OECDKimStatus" ma:index="16" nillable="true" ma:displayName="Kim status" ma:default="Draft" ma:description="" ma:format="Dropdown" ma:hidden="true" ma:internalName="OECDKimStatus">
      <xsd:simpleType>
        <xsd:restriction base="dms:Choice">
          <xsd:enumeration value="Draft"/>
          <xsd:enumeration value="Final"/>
        </xsd:restriction>
      </xsd:simpleType>
    </xsd:element>
    <xsd:element name="OECDKimBussinessContext" ma:index="27" nillable="true" ma:displayName="Kim bussiness context" ma:description="" ma:hidden="true" ma:internalName="OECDKimBussinessContext" ma:readOnly="false">
      <xsd:simpleType>
        <xsd:restriction base="dms:Text"/>
      </xsd:simpleType>
    </xsd:element>
    <xsd:element name="OECDKimProvenance" ma:index="34" nillable="true" ma:displayName="Kim provenance" ma:description="" ma:hidden="true" ma:internalName="OECDKimProvenance" ma:readOnly="false">
      <xsd:simpleType>
        <xsd:restriction base="dms:Text">
          <xsd:maxLength value="255"/>
        </xsd:restriction>
      </xsd:simpleType>
    </xsd:element>
    <xsd:element name="OECDYear" ma:index="49" nillable="true" ma:displayName="Year" ma:description="" ma:internalName="OECDYear"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64847da-6e18-4144-8ad5-5857903e06b6" elementFormDefault="qualified">
    <xsd:import namespace="http://schemas.microsoft.com/office/2006/documentManagement/types"/>
    <xsd:import namespace="http://schemas.microsoft.com/office/infopath/2007/PartnerControls"/>
    <xsd:element name="OECDExpirationDate" ma:index="8" nillable="true" ma:displayName="Highlights" ma:default="" ma:description="" ma:format="DateOnly" ma:hidden="true" ma:indexed="true" ma:internalName="OECDExpirationDate">
      <xsd:simpleType>
        <xsd:restriction base="dms:DateTime"/>
      </xsd:simpleType>
    </xsd:element>
    <xsd:element name="_dlc_DocIdUrl" ma:index="18" nillable="true" ma:displayName="Document ID" ma:description=""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9" nillable="true" ma:displayName="Persist ID" ma:description="Keep ID on add." ma:hidden="true" ma:internalName="_dlc_DocIdPersistId" ma:readOnly="true">
      <xsd:simpleType>
        <xsd:restriction base="dms:Boolean"/>
      </xsd:simpleType>
    </xsd:element>
    <xsd:element name="_dlc_DocId" ma:index="33" nillable="true" ma:displayName="Document ID" ma:description="" ma:hidden="true" ma:internalName="_dlc_DocId" ma:readOnly="true">
      <xsd:simpleType>
        <xsd:restriction base="dms:Text"/>
      </xsd:simpleType>
    </xsd:element>
    <xsd:element name="bc65155f859f476689f41d2e239f3b65" ma:index="37" nillable="true" ma:taxonomy="true" ma:internalName="bc65155f859f476689f41d2e239f3b65" ma:taxonomyFieldName="OECDHorizontalProjects" ma:displayName="Horizontal project" ma:readOnly="false" ma:default="" ma:fieldId="{bc65155f-859f-4766-89f4-1d2e239f3b65}" ma:taxonomyMulti="true" ma:sspId="27ec883c-a62c-444f-a935-fcddb579e39d" ma:termSetId="d3ca0e0e-65f9-44bf-9d98-5271504f6d61" ma:anchorId="00000000-0000-0000-0000-000000000000" ma:open="false" ma:isKeyword="false">
      <xsd:complexType>
        <xsd:sequence>
          <xsd:element ref="pc:Terms" minOccurs="0" maxOccurs="1"/>
        </xsd:sequence>
      </xsd:complexType>
    </xsd:element>
    <xsd:element name="eShareHorizProjTaxHTField0" ma:index="44" nillable="true" ma:displayName="OECDHorizontalProjects_0" ma:description="" ma:hidden="true" ma:internalName="eShareHorizProjTaxHTField0">
      <xsd:simpleType>
        <xsd:restriction base="dms:Note"/>
      </xsd:simpleType>
    </xsd:element>
    <xsd:element name="OECDAllRelatedUsers" ma:index="47" nillable="true" ma:displayName="All related users" ma:description="" ma:hidden="true" ma:internalName="OECDAllRelatedUs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50"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a82dde9-3436-4d3d-bddd-d31447390034" elementFormDefault="qualified">
    <xsd:import namespace="http://schemas.microsoft.com/office/2006/documentManagement/types"/>
    <xsd:import namespace="http://schemas.microsoft.com/office/infopath/2007/PartnerControls"/>
    <xsd:element name="OECDlanguage" ma:index="5" nillable="true" ma:displayName="Document language" ma:default="English" ma:description="" ma:format="Dropdown" ma:hidden="true" ma:internalName="OECDlanguage" ma:readOnly="false">
      <xsd:simpleType>
        <xsd:restriction base="dms:Choice">
          <xsd:enumeration value="English"/>
          <xsd:enumeration value="French"/>
        </xsd:restriction>
      </xsd:simpleType>
    </xsd:element>
    <xsd:element name="TaxCatchAllLabel" ma:index="26" nillable="true" ma:displayName="Taxonomy Catch All Column1" ma:hidden="true" ma:list="{f238c0b0-3384-41ab-af60-ab39d110a44d}" ma:internalName="TaxCatchAllLabel" ma:readOnly="true" ma:showField="CatchAllDataLabel" ma:web="464847da-6e18-4144-8ad5-5857903e06b6">
      <xsd:complexType>
        <xsd:complexContent>
          <xsd:extension base="dms:MultiChoiceLookup">
            <xsd:sequence>
              <xsd:element name="Value" type="dms:Lookup" maxOccurs="unbounded" minOccurs="0" nillable="true"/>
            </xsd:sequence>
          </xsd:extension>
        </xsd:complexContent>
      </xsd:complexType>
    </xsd:element>
    <xsd:element name="TaxCatchAll" ma:index="31" nillable="true" ma:displayName="Taxonomy Catch All Column" ma:hidden="true" ma:list="{f238c0b0-3384-41ab-af60-ab39d110a44d}" ma:internalName="TaxCatchAll" ma:showField="CatchAllData" ma:web="464847da-6e18-4144-8ad5-5857903e06b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028c3f4-2795-4946-841c-2e1644b148e5" elementFormDefault="qualified">
    <xsd:import namespace="http://schemas.microsoft.com/office/2006/documentManagement/types"/>
    <xsd:import namespace="http://schemas.microsoft.com/office/infopath/2007/PartnerControls"/>
    <xsd:element name="OECDProjectLookup" ma:index="9" nillable="true" ma:displayName="Project" ma:description="" ma:hidden="true" ma:indexed="true" ma:list="8fd64a43-52c7-4b87-a931-a975dc3d108c" ma:internalName="OECDProjectLookup" ma:readOnly="false" ma:showField="OECDShortProjectName" ma:web="b028c3f4-2795-4946-841c-2e1644b148e5">
      <xsd:simpleType>
        <xsd:restriction base="dms:Lookup"/>
      </xsd:simpleType>
    </xsd:element>
    <xsd:element name="OECDProjectManager" ma:index="10" nillable="true" ma:displayName="Project manager" ma:description="" ma:hidden="true" ma:indexed="true" ma:internalName="OECDProjectManage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ECDProjectMembers" ma:index="11" nillable="true" ma:displayName="Project members" ma:description="" ma:hidden="true" ma:internalName="OECDProjectMemb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ECDMainProject" ma:index="14" nillable="true" ma:displayName="Main project" ma:description="" ma:hidden="true" ma:indexed="true" ma:list="8fd64a43-52c7-4b87-a931-a975dc3d108c" ma:internalName="OECDMainProject" ma:readOnly="false" ma:showField="OECDShortProjectName">
      <xsd:simpleType>
        <xsd:restriction base="dms:Lookup"/>
      </xsd:simpleType>
    </xsd:element>
    <xsd:element name="OECDPinnedBy" ma:index="15" nillable="true" ma:displayName="Pinned by" ma:description="" ma:hidden="true" ma:internalName="OECDPinn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ECDTagsCache" ma:index="17" nillable="true" ma:displayName="Tags cache" ma:description="" ma:hidden="true" ma:internalName="OECDTagsCache">
      <xsd:simpleType>
        <xsd:restriction base="dms:Note"/>
      </xsd:simpleType>
    </xsd:element>
    <xsd:element name="Project_x003a_Project_x0020_status" ma:index="25" nillable="true" ma:displayName="Project:Project status" ma:hidden="true" ma:list="8fd64a43-52c7-4b87-a931-a975dc3d108c" ma:internalName="Project_x003A_Project_x0020_status" ma:readOnly="true" ma:showField="OECDProjectStatus" ma:web="b028c3f4-2795-4946-841c-2e1644b148e5">
      <xsd:simpleType>
        <xsd:restriction base="dms:Lookup"/>
      </xsd:simpleType>
    </xsd:element>
    <xsd:element name="k521ff600dac4d78b40e1e44ce493525" ma:index="38" nillable="true" ma:taxonomy="true" ma:internalName="k521ff600dac4d78b40e1e44ce493525" ma:taxonomyFieldName="OECDProjectOwnerStructure" ma:displayName="Project owner" ma:readOnly="false" ma:default="" ma:fieldId="4521ff60-0dac-4d78-b40e-1e44ce493525" ma:taxonomyMulti="true" ma:sspId="27ec883c-a62c-444f-a935-fcddb579e39d" ma:termSetId="aeec4dcb-19ee-4bc0-941f-681845b568c9" ma:anchorId="00000000-0000-0000-0000-000000000000" ma:open="false" ma:isKeyword="false">
      <xsd:complexType>
        <xsd:sequence>
          <xsd:element ref="pc:Terms" minOccurs="0" maxOccurs="1"/>
        </xsd:sequence>
      </xsd:complexType>
    </xsd:element>
    <xsd:element name="OECDSharingStatus" ma:index="41" nillable="true" ma:displayName="O.N.E Document Sharing Status" ma:description="" ma:hidden="true" ma:internalName="OECDSharingStatus">
      <xsd:simpleType>
        <xsd:restriction base="dms:Text"/>
      </xsd:simpleType>
    </xsd:element>
    <xsd:element name="OECDCommunityDocumentURL" ma:index="42" nillable="true" ma:displayName="O.N.E Community Document URL" ma:description="" ma:hidden="true" ma:internalName="OECDCommunityDocumentURL">
      <xsd:simpleType>
        <xsd:restriction base="dms:Text"/>
      </xsd:simpleType>
    </xsd:element>
    <xsd:element name="OECDCommunityDocumentID" ma:index="43" nillable="true" ma:displayName="O.N.E Community Document ID" ma:decimals="0" ma:description="" ma:hidden="true" ma:internalName="OECDCommunityDocumentID">
      <xsd:simpleType>
        <xsd:restriction base="dms:Number"/>
      </xsd:simpleType>
    </xsd:element>
    <xsd:element name="SharedWithUsers" ma:index="4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9f238dd-bb73-4aef-a7a5-d644ad823e52" elementFormDefault="qualified">
    <xsd:import namespace="http://schemas.microsoft.com/office/2006/documentManagement/types"/>
    <xsd:import namespace="http://schemas.microsoft.com/office/infopath/2007/PartnerControls"/>
    <xsd:element name="eShareCountryTaxHTField0" ma:index="20" nillable="true" ma:taxonomy="true" ma:internalName="eShareCountryTaxHTField0" ma:taxonomyFieldName="OECDCountry" ma:displayName="Country" ma:readOnly="false" ma:default="" ma:fieldId="{aa366335-bba6-4f71-86c6-f91b1ae503c2}" ma:taxonomyMulti="true" ma:sspId="27ec883c-a62c-444f-a935-fcddb579e39d" ma:termSetId="e1026e78-e24d-4b33-a8f4-6ff75b8e5ad2" ma:anchorId="00000000-0000-0000-0000-000000000000" ma:open="false" ma:isKeyword="false">
      <xsd:complexType>
        <xsd:sequence>
          <xsd:element ref="pc:Terms" minOccurs="0" maxOccurs="1"/>
        </xsd:sequence>
      </xsd:complexType>
    </xsd:element>
    <xsd:element name="eShareTopicTaxHTField0" ma:index="21" nillable="true" ma:taxonomy="true" ma:internalName="eShareTopicTaxHTField0" ma:taxonomyFieldName="OECDTopic" ma:displayName="Topic" ma:readOnly="false" ma:default="" ma:fieldId="{9b5335f8-765c-484a-86dd-d10580650a95}" ma:taxonomyMulti="true" ma:sspId="27ec883c-a62c-444f-a935-fcddb579e39d" ma:termSetId="d0043ed9-7fdc-4b21-8641-a864cc50d2b2" ma:anchorId="00000000-0000-0000-0000-000000000000" ma:open="false" ma:isKeyword="false">
      <xsd:complexType>
        <xsd:sequence>
          <xsd:element ref="pc:Terms" minOccurs="0" maxOccurs="1"/>
        </xsd:sequence>
      </xsd:complexType>
    </xsd:element>
    <xsd:element name="eShareKeywordsTaxHTField0" ma:index="22" nillable="true" ma:taxonomy="true" ma:internalName="eShareKeywordsTaxHTField0" ma:taxonomyFieldName="OECDKeywords" ma:displayName="Keywords" ma:default="" ma:fieldId="{8a7c3663-990d-467c-b1b8-bb4b775674ad}" ma:taxonomyMulti="true" ma:sspId="27ec883c-a62c-444f-a935-fcddb579e39d" ma:termSetId="f51791ee-8e04-4654-a875-fc747102cd45" ma:anchorId="00000000-0000-0000-0000-000000000000" ma:open="true" ma:isKeyword="false">
      <xsd:complexType>
        <xsd:sequence>
          <xsd:element ref="pc:Terms" minOccurs="0" maxOccurs="1"/>
        </xsd:sequence>
      </xsd:complexType>
    </xsd:element>
    <xsd:element name="eShareCommitteeTaxHTField0" ma:index="23" nillable="true" ma:taxonomy="true" ma:internalName="eShareCommitteeTaxHTField0" ma:taxonomyFieldName="OECDCommittee" ma:displayName="Committee" ma:default="" ma:fieldId="{29494d90-e667-47b5-adc1-d09dfb5832ab}" ma:sspId="27ec883c-a62c-444f-a935-fcddb579e39d" ma:termSetId="87919aae-be42-4481-84cf-2389a5c84ac4" ma:anchorId="00000000-0000-0000-0000-000000000000" ma:open="false" ma:isKeyword="false">
      <xsd:complexType>
        <xsd:sequence>
          <xsd:element ref="pc:Terms" minOccurs="0" maxOccurs="1"/>
        </xsd:sequence>
      </xsd:complexType>
    </xsd:element>
    <xsd:element name="eSharePWBTaxHTField0" ma:index="24" nillable="true" ma:taxonomy="true" ma:internalName="eSharePWBTaxHTField0" ma:taxonomyFieldName="OECDPWB" ma:displayName="PWB" ma:default="" ma:fieldId="{fe327ce1-b783-48aa-9b0b-52ad26d1c9f6}" ma:taxonomyMulti="true" ma:sspId="27ec883c-a62c-444f-a935-fcddb579e39d" ma:termSetId="7bc7477d-4ef0-4820-a158-bb7b3cda138d"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32"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30" ma:displayName="Content Type"/>
        <xsd:element ref="dc:title" minOccurs="0" maxOccurs="1" ma:index="0"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OECDListFormCollapsible</Display>
  <Edit>OECDListFormCollapsible</Edit>
  <New>OECDListFormCollapsible</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a82dde9-3436-4d3d-bddd-d31447390034">
      <Value>407</Value>
      <Value>43</Value>
    </TaxCatchAll>
    <bc65155f859f476689f41d2e239f3b65 xmlns="464847da-6e18-4144-8ad5-5857903e06b6">
      <Terms xmlns="http://schemas.microsoft.com/office/infopath/2007/PartnerControls"/>
    </bc65155f859f476689f41d2e239f3b65>
    <OECDProjectLookup xmlns="b028c3f4-2795-4946-841c-2e1644b148e5">34</OECDProjectLookup>
    <OECDKimBussinessContext xmlns="54c4cd27-f286-408f-9ce0-33c1e0f3ab39" xsi:nil="true"/>
    <OECDlanguage xmlns="ca82dde9-3436-4d3d-bddd-d31447390034">English</OECDlanguage>
    <eSharePWBTaxHTField0 xmlns="c9f238dd-bb73-4aef-a7a5-d644ad823e52">
      <Terms xmlns="http://schemas.microsoft.com/office/infopath/2007/PartnerControls">
        <TermInfo xmlns="http://schemas.microsoft.com/office/infopath/2007/PartnerControls">
          <TermName xmlns="http://schemas.microsoft.com/office/infopath/2007/PartnerControls">(n/a)</TermName>
          <TermId xmlns="http://schemas.microsoft.com/office/infopath/2007/PartnerControls">3adabb5f-45b7-4a20-bdde-219e8d9477af</TermId>
        </TermInfo>
      </Terms>
    </eSharePWBTaxHTField0>
    <OECDCommunityDocumentID xmlns="b028c3f4-2795-4946-841c-2e1644b148e5" xsi:nil="true"/>
    <eShareHorizProjTaxHTField0 xmlns="464847da-6e18-4144-8ad5-5857903e06b6" xsi:nil="true"/>
    <IconOverlay xmlns="http://schemas.microsoft.com/sharepoint/v4" xsi:nil="true"/>
    <DocumentSetDescription xmlns="http://schemas.microsoft.com/sharepoint/v3" xsi:nil="true"/>
    <OECDCommunityDocumentURL xmlns="b028c3f4-2795-4946-841c-2e1644b148e5" xsi:nil="true"/>
    <OECDExpirationDate xmlns="464847da-6e18-4144-8ad5-5857903e06b6" xsi:nil="true"/>
    <OECDPinnedBy xmlns="b028c3f4-2795-4946-841c-2e1644b148e5">
      <UserInfo>
        <DisplayName/>
        <AccountId xsi:nil="true"/>
        <AccountType/>
      </UserInfo>
    </OECDPinnedBy>
    <OECDMeetingDate xmlns="54c4cd27-f286-408f-9ce0-33c1e0f3ab39" xsi:nil="true"/>
    <OECDTagsCache xmlns="b028c3f4-2795-4946-841c-2e1644b148e5" xsi:nil="true"/>
    <OECDAllRelatedUsers xmlns="464847da-6e18-4144-8ad5-5857903e06b6">
      <UserInfo>
        <DisplayName/>
        <AccountId xsi:nil="true"/>
        <AccountType/>
      </UserInfo>
    </OECDAllRelatedUsers>
    <eShareCommitteeTaxHTField0 xmlns="c9f238dd-bb73-4aef-a7a5-d644ad823e52">
      <Terms xmlns="http://schemas.microsoft.com/office/infopath/2007/PartnerControls"/>
    </eShareCommitteeTaxHTField0>
    <OECDYear xmlns="54c4cd27-f286-408f-9ce0-33c1e0f3ab39" xsi:nil="true"/>
    <OECDProjectManager xmlns="b028c3f4-2795-4946-841c-2e1644b148e5">
      <UserInfo>
        <DisplayName/>
        <AccountId>2570</AccountId>
        <AccountType/>
      </UserInfo>
    </OECDProjectManager>
    <OECDKimProvenance xmlns="54c4cd27-f286-408f-9ce0-33c1e0f3ab39" xsi:nil="true"/>
    <OECDMainProject xmlns="b028c3f4-2795-4946-841c-2e1644b148e5" xsi:nil="true"/>
    <k521ff600dac4d78b40e1e44ce493525 xmlns="b028c3f4-2795-4946-841c-2e1644b148e5">
      <Terms xmlns="http://schemas.microsoft.com/office/infopath/2007/PartnerControls">
        <TermInfo xmlns="http://schemas.microsoft.com/office/infopath/2007/PartnerControls">
          <TermName xmlns="http://schemas.microsoft.com/office/infopath/2007/PartnerControls">ECO/FO</TermName>
          <TermId xmlns="http://schemas.microsoft.com/office/infopath/2007/PartnerControls">0421869f-dd6d-4a57-aa68-f68dc47925ad</TermId>
        </TermInfo>
      </Terms>
    </k521ff600dac4d78b40e1e44ce493525>
    <OECDKimStatus xmlns="54c4cd27-f286-408f-9ce0-33c1e0f3ab39">Draft</OECDKimStatus>
    <eShareCountryTaxHTField0 xmlns="c9f238dd-bb73-4aef-a7a5-d644ad823e52">
      <Terms xmlns="http://schemas.microsoft.com/office/infopath/2007/PartnerControls"/>
    </eShareCountryTaxHTField0>
    <eShareTopicTaxHTField0 xmlns="c9f238dd-bb73-4aef-a7a5-d644ad823e52">
      <Terms xmlns="http://schemas.microsoft.com/office/infopath/2007/PartnerControls"/>
    </eShareTopicTaxHTField0>
    <eShareKeywordsTaxHTField0 xmlns="c9f238dd-bb73-4aef-a7a5-d644ad823e52">
      <Terms xmlns="http://schemas.microsoft.com/office/infopath/2007/PartnerControls"/>
    </eShareKeywordsTaxHTField0>
    <OECDProjectMembers xmlns="b028c3f4-2795-4946-841c-2e1644b148e5">
      <UserInfo>
        <DisplayName>ELGHADHAB Penny, ECO/FO</DisplayName>
        <AccountId>83</AccountId>
        <AccountType/>
      </UserInfo>
      <UserInfo>
        <DisplayName>PURTELL Susan, ECO</DisplayName>
        <AccountId>71</AccountId>
        <AccountType/>
      </UserInfo>
      <UserInfo>
        <DisplayName>MEYER ZU SCHLOCHTERN Casper, ECO/PRB</DisplayName>
        <AccountId>410</AccountId>
        <AccountType/>
      </UserInfo>
      <UserInfo>
        <DisplayName>ROUZET Dorothee, ECO</DisplayName>
        <AccountId>1937</AccountId>
        <AccountType/>
      </UserInfo>
      <UserInfo>
        <DisplayName>LEHNER Lukas, ECO</DisplayName>
        <AccountId>2050</AccountId>
        <AccountType/>
      </UserInfo>
      <UserInfo>
        <DisplayName>CALDERA SANCHEZ Aida, ECO/CS4</DisplayName>
        <AccountId>217</AccountId>
        <AccountType/>
      </UserInfo>
      <UserInfo>
        <DisplayName>ORLIANGE Patrice, ECO/PRB</DisplayName>
        <AccountId>523</AccountId>
        <AccountType/>
      </UserInfo>
      <UserInfo>
        <DisplayName>RENAULT Theodore, ECO</DisplayName>
        <AccountId>2160</AccountId>
        <AccountType/>
      </UserInfo>
      <UserInfo>
        <DisplayName>SANCHEZ CHICO Ana, ECO</DisplayName>
        <AccountId>4043</AccountId>
        <AccountType/>
      </UserInfo>
      <UserInfo>
        <DisplayName>KERGOZOU Nikki, ECO/CS5</DisplayName>
        <AccountId>4243</AccountId>
        <AccountType/>
      </UserInfo>
      <UserInfo>
        <DisplayName>SAKHA Sahra, ECO/CS6</DisplayName>
        <AccountId>2266</AccountId>
        <AccountType/>
      </UserInfo>
      <UserInfo>
        <DisplayName>GONZALEZ Carolina, ECO/FO</DisplayName>
        <AccountId>1304</AccountId>
        <AccountType/>
      </UserInfo>
      <UserInfo>
        <DisplayName>CASTLE Cassandra, ECO/FO</DisplayName>
        <AccountId>5038</AccountId>
        <AccountType/>
      </UserInfo>
      <UserInfo>
        <DisplayName>HAAS Jörg, ECO/FO</DisplayName>
        <AccountId>4568</AccountId>
        <AccountType/>
      </UserInfo>
      <UserInfo>
        <DisplayName>DLUGOSCH Dennis, ECO/FO</DisplayName>
        <AccountId>855</AccountId>
        <AccountType/>
      </UserInfo>
      <UserInfo>
        <DisplayName>DIALLO Karimatou, ECO/FO</DisplayName>
        <AccountId>4390</AccountId>
        <AccountType/>
      </UserInfo>
      <UserInfo>
        <DisplayName>PHILIP Pilar, ECO/FO</DisplayName>
        <AccountId>1035</AccountId>
        <AccountType/>
      </UserInfo>
    </OECDProjectMembers>
    <OECDSharingStatus xmlns="b028c3f4-2795-4946-841c-2e1644b148e5" xsi:nil="true"/>
  </documentManagement>
</p:properties>
</file>

<file path=customXml/item4.xml><?xml version="1.0" encoding="utf-8"?>
<?mso-contentType ?>
<SharedContentType xmlns="Microsoft.SharePoint.Taxonomy.ContentTypeSync" SourceId="27ec883c-a62c-444f-a935-fcddb579e39d" ContentTypeId="0x0101008B4DD370EC31429186F3AD49F0D3098F00D44DBCB9EB4F45278CB5C9765BE52995" PreviousValue="false"/>
</file>

<file path=customXml/item5.xml><?xml version="1.0" encoding="utf-8"?>
<?mso-contentType ?>
<spe:Receivers xmlns:spe="http://schemas.microsoft.com/sharepoint/events"/>
</file>

<file path=customXml/item6.xml><?xml version="1.0" encoding="utf-8"?>
<?mso-contentType ?>
<CtFieldPriority xmlns="http://www.oecd.org/eshare/projectsentre/CtFieldPriority/" xmlns:i="http://www.w3.org/2001/XMLSchema-instance">
  <PriorityFields xmlns:a="http://schemas.microsoft.com/2003/10/Serialization/Arrays">
    <a:string>Title</a:string>
    <a:string>OECDCountry</a:string>
    <a:string>OECDTopic</a:string>
    <a:string>OECDKeywords</a:string>
  </PriorityFields>
</CtFieldPriority>
</file>

<file path=customXml/itemProps1.xml><?xml version="1.0" encoding="utf-8"?>
<ds:datastoreItem xmlns:ds="http://schemas.openxmlformats.org/officeDocument/2006/customXml" ds:itemID="{7AE5DB25-CF6D-48F3-92F4-D1D71EE5FC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4c4cd27-f286-408f-9ce0-33c1e0f3ab39"/>
    <ds:schemaRef ds:uri="464847da-6e18-4144-8ad5-5857903e06b6"/>
    <ds:schemaRef ds:uri="ca82dde9-3436-4d3d-bddd-d31447390034"/>
    <ds:schemaRef ds:uri="b028c3f4-2795-4946-841c-2e1644b148e5"/>
    <ds:schemaRef ds:uri="c9f238dd-bb73-4aef-a7a5-d644ad823e52"/>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76FFDB2-1DF7-4159-A61B-FF33C5113D39}">
  <ds:schemaRefs>
    <ds:schemaRef ds:uri="http://schemas.microsoft.com/sharepoint/v3/contenttype/forms"/>
  </ds:schemaRefs>
</ds:datastoreItem>
</file>

<file path=customXml/itemProps3.xml><?xml version="1.0" encoding="utf-8"?>
<ds:datastoreItem xmlns:ds="http://schemas.openxmlformats.org/officeDocument/2006/customXml" ds:itemID="{AE04F6AD-0EA7-4A6B-95B8-9ED33F5D8B71}">
  <ds:schemaRefs>
    <ds:schemaRef ds:uri="http://schemas.microsoft.com/sharepoint/v3"/>
    <ds:schemaRef ds:uri="http://schemas.microsoft.com/sharepoint/v4"/>
    <ds:schemaRef ds:uri="http://schemas.microsoft.com/office/2006/metadata/properties"/>
    <ds:schemaRef ds:uri="ca82dde9-3436-4d3d-bddd-d31447390034"/>
    <ds:schemaRef ds:uri="http://schemas.microsoft.com/office/infopath/2007/PartnerControls"/>
    <ds:schemaRef ds:uri="http://www.w3.org/XML/1998/namespace"/>
    <ds:schemaRef ds:uri="http://schemas.openxmlformats.org/package/2006/metadata/core-properties"/>
    <ds:schemaRef ds:uri="http://schemas.microsoft.com/office/2006/documentManagement/types"/>
    <ds:schemaRef ds:uri="http://purl.org/dc/elements/1.1/"/>
    <ds:schemaRef ds:uri="http://purl.org/dc/terms/"/>
    <ds:schemaRef ds:uri="b028c3f4-2795-4946-841c-2e1644b148e5"/>
    <ds:schemaRef ds:uri="c9f238dd-bb73-4aef-a7a5-d644ad823e52"/>
    <ds:schemaRef ds:uri="464847da-6e18-4144-8ad5-5857903e06b6"/>
    <ds:schemaRef ds:uri="54c4cd27-f286-408f-9ce0-33c1e0f3ab39"/>
    <ds:schemaRef ds:uri="http://purl.org/dc/dcmitype/"/>
  </ds:schemaRefs>
</ds:datastoreItem>
</file>

<file path=customXml/itemProps4.xml><?xml version="1.0" encoding="utf-8"?>
<ds:datastoreItem xmlns:ds="http://schemas.openxmlformats.org/officeDocument/2006/customXml" ds:itemID="{E8AEB368-A3E6-462E-9D84-5A075FDD0E3B}">
  <ds:schemaRefs>
    <ds:schemaRef ds:uri="Microsoft.SharePoint.Taxonomy.ContentTypeSync"/>
  </ds:schemaRefs>
</ds:datastoreItem>
</file>

<file path=customXml/itemProps5.xml><?xml version="1.0" encoding="utf-8"?>
<ds:datastoreItem xmlns:ds="http://schemas.openxmlformats.org/officeDocument/2006/customXml" ds:itemID="{EAF75244-E77A-4367-8CDD-7E17D092CC49}">
  <ds:schemaRefs>
    <ds:schemaRef ds:uri="http://schemas.microsoft.com/sharepoint/events"/>
  </ds:schemaRefs>
</ds:datastoreItem>
</file>

<file path=customXml/itemProps6.xml><?xml version="1.0" encoding="utf-8"?>
<ds:datastoreItem xmlns:ds="http://schemas.openxmlformats.org/officeDocument/2006/customXml" ds:itemID="{F3EF20B0-FDDD-41CA-9292-6D518EBEDCFD}">
  <ds:schemaRefs>
    <ds:schemaRef ds:uri="http://www.oecd.org/eshare/projectsentre/CtFieldPriority/"/>
    <ds:schemaRef ds:uri="http://schemas.microsoft.com/2003/10/Serialization/Arrays"/>
  </ds:schemaRefs>
</ds:datastoreItem>
</file>

<file path=docProps/app.xml><?xml version="1.0" encoding="utf-8"?>
<Properties xmlns="http://schemas.openxmlformats.org/officeDocument/2006/extended-properties" xmlns:vt="http://schemas.openxmlformats.org/officeDocument/2006/docPropsVTypes">
  <Template>OECD_English_white</Template>
  <TotalTime>31573</TotalTime>
  <Words>1454</Words>
  <Application>Microsoft Office PowerPoint</Application>
  <PresentationFormat>Widescreen</PresentationFormat>
  <Paragraphs>145</Paragraphs>
  <Slides>16</Slides>
  <Notes>15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16</vt:i4>
      </vt:variant>
    </vt:vector>
  </HeadingPairs>
  <TitlesOfParts>
    <vt:vector size="28" baseType="lpstr">
      <vt:lpstr>Aptos Display</vt:lpstr>
      <vt:lpstr>Arial</vt:lpstr>
      <vt:lpstr>Calibri</vt:lpstr>
      <vt:lpstr>Corbel</vt:lpstr>
      <vt:lpstr>Georgia</vt:lpstr>
      <vt:lpstr>Noto Sans Display</vt:lpstr>
      <vt:lpstr>Noto Sans Display Condensed Ext</vt:lpstr>
      <vt:lpstr>Noto Sans Display Condensed Lig</vt:lpstr>
      <vt:lpstr>Noto Sans Display ExtraBold</vt:lpstr>
      <vt:lpstr>Noto Sans Display ExtraCondense</vt:lpstr>
      <vt:lpstr>Noto Sans Display Light</vt:lpstr>
      <vt:lpstr>OECD_English_white</vt:lpstr>
      <vt:lpstr>PowerPoint Presentation</vt:lpstr>
      <vt:lpstr>A time-limited disruption would slow growth</vt:lpstr>
      <vt:lpstr>GDP growth projections – G20 economies </vt:lpstr>
      <vt:lpstr>GDP growth projections – Non-G20 OECD economies</vt:lpstr>
      <vt:lpstr>A prolonged disruption would cause longer-lasting damage to growth</vt:lpstr>
      <vt:lpstr>Economic growth in Asia is particularly exposed to a prolonged disruption</vt:lpstr>
      <vt:lpstr>PowerPoint Presentation</vt:lpstr>
      <vt:lpstr>Higher food prices would particularly hurt the poorest</vt:lpstr>
      <vt:lpstr>US import tariffs have decreased, but trade tensions still pose a risk to growth</vt:lpstr>
      <vt:lpstr>US import tariffs have decreased, but trade tensions still pose a risk to growth</vt:lpstr>
      <vt:lpstr>Rapid advances in AI technologies bring hopes and risks</vt:lpstr>
      <vt:lpstr>PowerPoint Presentation</vt:lpstr>
      <vt:lpstr>Central banks need to balance the risk of persistent inflation against the risk of a sharp slowdown</vt:lpstr>
      <vt:lpstr>Governments introduced relief mainly via direct price controls or tax measures</vt:lpstr>
      <vt:lpstr>As the crisis persists, measures need to be more targeted and preserve incentives to save energy</vt:lpstr>
      <vt:lpstr>PowerPoint Presentation</vt:lpstr>
    </vt:vector>
  </TitlesOfParts>
  <Company>OECD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PHILIP Pilar, ECO/FO</dc:creator>
  <cp:lastModifiedBy>GARCIA SOTO Natalia Andrea, ECO/FO</cp:lastModifiedBy>
  <cp:revision>384</cp:revision>
  <dcterms:created xsi:type="dcterms:W3CDTF">2024-10-17T15:05:59Z</dcterms:created>
  <dcterms:modified xsi:type="dcterms:W3CDTF">2026-06-02T11:05:26Z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e5510b0-e729-4ef0-a3dd-4ba0dfe56c99_Enabled">
    <vt:lpwstr>true</vt:lpwstr>
  </property>
  <property fmtid="{D5CDD505-2E9C-101B-9397-08002B2CF9AE}" pid="3" name="MSIP_Label_0e5510b0-e729-4ef0-a3dd-4ba0dfe56c99_SetDate">
    <vt:lpwstr>2024-10-17T15:26:20Z</vt:lpwstr>
  </property>
  <property fmtid="{D5CDD505-2E9C-101B-9397-08002B2CF9AE}" pid="4" name="MSIP_Label_0e5510b0-e729-4ef0-a3dd-4ba0dfe56c99_Method">
    <vt:lpwstr>Standard</vt:lpwstr>
  </property>
  <property fmtid="{D5CDD505-2E9C-101B-9397-08002B2CF9AE}" pid="5" name="MSIP_Label_0e5510b0-e729-4ef0-a3dd-4ba0dfe56c99_Name">
    <vt:lpwstr>Restricted Use</vt:lpwstr>
  </property>
  <property fmtid="{D5CDD505-2E9C-101B-9397-08002B2CF9AE}" pid="6" name="MSIP_Label_0e5510b0-e729-4ef0-a3dd-4ba0dfe56c99_SiteId">
    <vt:lpwstr>ac41c7d4-1f61-460d-b0f4-fc925a2b471c</vt:lpwstr>
  </property>
  <property fmtid="{D5CDD505-2E9C-101B-9397-08002B2CF9AE}" pid="7" name="MSIP_Label_0e5510b0-e729-4ef0-a3dd-4ba0dfe56c99_ActionId">
    <vt:lpwstr>b0590d81-23e8-45ca-9833-8de89053edb5</vt:lpwstr>
  </property>
  <property fmtid="{D5CDD505-2E9C-101B-9397-08002B2CF9AE}" pid="8" name="MSIP_Label_0e5510b0-e729-4ef0-a3dd-4ba0dfe56c99_ContentBits">
    <vt:lpwstr>2</vt:lpwstr>
  </property>
  <property fmtid="{D5CDD505-2E9C-101B-9397-08002B2CF9AE}" pid="9" name="ClassificationContentMarkingFooterLocations">
    <vt:lpwstr>OECD_English_white:3</vt:lpwstr>
  </property>
  <property fmtid="{D5CDD505-2E9C-101B-9397-08002B2CF9AE}" pid="10" name="ClassificationContentMarkingFooterText">
    <vt:lpwstr>Restricted Use - À usage restreint</vt:lpwstr>
  </property>
  <property fmtid="{D5CDD505-2E9C-101B-9397-08002B2CF9AE}" pid="11" name="ContentTypeId">
    <vt:lpwstr>0x0101008B4DD370EC31429186F3AD49F0D3098F00D44DBCB9EB4F45278CB5C9765BE5299500A4858B360C6A491AA753F8BCA47AA91000293773D153AD3C41920164F348570E54</vt:lpwstr>
  </property>
  <property fmtid="{D5CDD505-2E9C-101B-9397-08002B2CF9AE}" pid="12" name="MediaServiceImageTags">
    <vt:lpwstr/>
  </property>
  <property fmtid="{D5CDD505-2E9C-101B-9397-08002B2CF9AE}" pid="13" name="OECDCountry">
    <vt:lpwstr/>
  </property>
  <property fmtid="{D5CDD505-2E9C-101B-9397-08002B2CF9AE}" pid="14" name="OECDTopic">
    <vt:lpwstr/>
  </property>
  <property fmtid="{D5CDD505-2E9C-101B-9397-08002B2CF9AE}" pid="15" name="OECDCommittee">
    <vt:lpwstr/>
  </property>
  <property fmtid="{D5CDD505-2E9C-101B-9397-08002B2CF9AE}" pid="16" name="OECDPWB">
    <vt:lpwstr>43;#(n/a)|3adabb5f-45b7-4a20-bdde-219e8d9477af</vt:lpwstr>
  </property>
  <property fmtid="{D5CDD505-2E9C-101B-9397-08002B2CF9AE}" pid="17" name="OECDKeywords">
    <vt:lpwstr/>
  </property>
  <property fmtid="{D5CDD505-2E9C-101B-9397-08002B2CF9AE}" pid="18" name="OECDHorizontalProjects">
    <vt:lpwstr/>
  </property>
  <property fmtid="{D5CDD505-2E9C-101B-9397-08002B2CF9AE}" pid="19" name="OECDProjectOwnerStructure">
    <vt:lpwstr>407;#ECO/FO|0421869f-dd6d-4a57-aa68-f68dc47925ad</vt:lpwstr>
  </property>
  <property fmtid="{D5CDD505-2E9C-101B-9397-08002B2CF9AE}" pid="20" name="eShareOrganisationTaxHTField0">
    <vt:lpwstr/>
  </property>
  <property fmtid="{D5CDD505-2E9C-101B-9397-08002B2CF9AE}" pid="21" name="OECDOrganisation">
    <vt:lpwstr/>
  </property>
</Properties>
</file>