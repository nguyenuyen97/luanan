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1414"/>
                </a:solidFill>
                <a:latin typeface="Times New Roman"/>
              </a:rPr>
              <a:t>KHUNG NGHIÊN CỨU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C3C3C"/>
                </a:solidFill>
                <a:latin typeface="Times New Roman"/>
              </a:rPr>
              <a:t>Quản lý nhà nước về quyền sở hữu trí tuệ trong nền kinh tế số ở Việt Nam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85800"/>
            <a:ext cx="11274552" cy="54864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000">
                <a:solidFill>
                  <a:srgbClr val="1E1E1E"/>
                </a:solidFill>
                <a:latin typeface="Times New Roman"/>
              </a:rPr>
              <a:t>Lý thuyết thể chế   •   Lý thuyết quản lý công   •   Lý thuyết quản trị số   •   Lý thuyết quyền SHTT   •   Lý thuyết hành 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1457432" cy="4937760"/>
          </a:xfrm>
          <a:prstGeom prst="roundRect">
            <a:avLst>
              <a:gd name="adj" fmla="val 2000"/>
            </a:avLst>
          </a:prstGeom>
          <a:solidFill>
            <a:srgbClr val="FDFDFF"/>
          </a:solidFill>
          <a:ln w="19050">
            <a:solidFill>
              <a:srgbClr val="8282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50508C"/>
                </a:solidFill>
                <a:latin typeface="Times New Roman"/>
              </a:rPr>
              <a:t>BỐI CẢNH: NỀN KINH TẾ SỐ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92608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(CÁC YẾU TỐ ẢNH HƯỞNG)</a:t>
            </a:r>
          </a:p>
          <a:p>
            <a:pPr algn="l"/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X₁. Khung pháp lý và chính sách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X₂. Năng lực tổ chức và cán bộ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X₃. Hạ tầng công nghệ số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X₄. Phối hợp liên ngành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X₅. Nhận thức của các chủ thể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468880"/>
            <a:ext cx="2926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(CƠ CHẾ TRUYỀN DẪN)</a:t>
            </a:r>
          </a:p>
          <a:p>
            <a:pPr algn="l"/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M₁. Năng lực phát hiện và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   xử lý vi phạm trên môi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   trường số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M₂. Mức độ tuân thủ pháp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   luật sở hữu trí tuệ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468880"/>
            <a:ext cx="29260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100" b="1">
                <a:solidFill>
                  <a:srgbClr val="1E1E1E"/>
                </a:solidFill>
                <a:latin typeface="Times New Roman"/>
              </a:rPr>
              <a:t>(KẾT QUẢ NGHIÊN CỨU)</a:t>
            </a:r>
          </a:p>
          <a:p>
            <a:pPr algn="l"/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Y: Hiệu quả quản lý nhà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nước về quyền sở hữu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trí tuệ trong nền</a:t>
            </a:r>
          </a:p>
          <a:p>
            <a:pPr algn="l"/>
            <a:r>
              <a:rPr sz="1100">
                <a:solidFill>
                  <a:srgbClr val="1E1E1E"/>
                </a:solidFill>
                <a:latin typeface="Times New Roman"/>
              </a:rPr>
              <a:t>   kinh tế số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3291840"/>
            <a:ext cx="1097280" cy="0"/>
          </a:xfrm>
          <a:prstGeom prst="line">
            <a:avLst/>
          </a:prstGeom>
          <a:ln w="2540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3291840"/>
            <a:ext cx="1097280" cy="0"/>
          </a:xfrm>
          <a:prstGeom prst="line">
            <a:avLst/>
          </a:prstGeom>
          <a:ln w="2540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1691640"/>
            <a:ext cx="29260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1E1E1E"/>
                </a:solidFill>
                <a:latin typeface="Times New Roman"/>
              </a:rPr>
              <a:t>(BỐI CẢNH TÁC ĐỘNG)</a:t>
            </a:r>
          </a:p>
          <a:p>
            <a:pPr algn="l"/>
          </a:p>
          <a:p>
            <a:pPr algn="l"/>
            <a:r>
              <a:rPr sz="1000">
                <a:solidFill>
                  <a:srgbClr val="1E1E1E"/>
                </a:solidFill>
                <a:latin typeface="Times New Roman"/>
              </a:rPr>
              <a:t>W₁. Tốc độ phát triển công nghệ mới</a:t>
            </a:r>
          </a:p>
          <a:p>
            <a:pPr algn="l"/>
            <a:r>
              <a:rPr sz="1000">
                <a:solidFill>
                  <a:srgbClr val="1E1E1E"/>
                </a:solidFill>
                <a:latin typeface="Times New Roman"/>
              </a:rPr>
              <a:t>W₂. Mức độ hội nhập kinh tế quốc tế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971800"/>
            <a:ext cx="0" cy="320040"/>
          </a:xfrm>
          <a:prstGeom prst="line">
            <a:avLst/>
          </a:prstGeom>
          <a:ln w="15240">
            <a:solidFill>
              <a:srgbClr val="64646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7220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  <a:latin typeface="Times New Roman"/>
              </a:rPr>
              <a:t>Tăng/giảm</a:t>
            </a:r>
          </a:p>
          <a:p>
            <a:r>
              <a:t>cường độ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5029200"/>
            <a:ext cx="29260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000" b="1">
                <a:solidFill>
                  <a:srgbClr val="1E1E1E"/>
                </a:solidFill>
                <a:latin typeface="Times New Roman"/>
              </a:rPr>
              <a:t>BIẾN KIỂM SOÁT</a:t>
            </a:r>
          </a:p>
          <a:p>
            <a:pPr algn="l"/>
          </a:p>
          <a:p>
            <a:pPr algn="l"/>
            <a:r>
              <a:rPr sz="1000">
                <a:solidFill>
                  <a:srgbClr val="1E1E1E"/>
                </a:solidFill>
                <a:latin typeface="Times New Roman"/>
              </a:rPr>
              <a:t>C₁. Quy mô và loại hình doanh nghiệp</a:t>
            </a:r>
          </a:p>
          <a:p>
            <a:pPr algn="l"/>
            <a:r>
              <a:rPr sz="1000">
                <a:solidFill>
                  <a:srgbClr val="1E1E1E"/>
                </a:solidFill>
                <a:latin typeface="Times New Roman"/>
              </a:rPr>
              <a:t>C₂. Lĩnh vực hoạt động</a:t>
            </a:r>
          </a:p>
          <a:p>
            <a:pPr algn="l"/>
            <a:r>
              <a:rPr sz="1000">
                <a:solidFill>
                  <a:srgbClr val="1E1E1E"/>
                </a:solidFill>
                <a:latin typeface="Times New Roman"/>
              </a:rPr>
              <a:t>C₃. Khu vực địa lý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149840" y="4572000"/>
            <a:ext cx="0" cy="457200"/>
          </a:xfrm>
          <a:prstGeom prst="line">
            <a:avLst/>
          </a:prstGeom>
          <a:ln w="15240">
            <a:solidFill>
              <a:srgbClr val="64646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95560" y="4681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  <a:latin typeface="Times New Roman"/>
              </a:rPr>
              <a:t>Kiểm soát</a:t>
            </a:r>
          </a:p>
          <a:p>
            <a:r>
              <a:t>tính khách quan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97880"/>
            <a:ext cx="7772400" cy="411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9050">
            <a:solidFill>
              <a:srgbClr val="6464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ctr"/>
            <a:r>
              <a:rPr sz="1000">
                <a:solidFill>
                  <a:srgbClr val="1E1E1E"/>
                </a:solidFill>
                <a:latin typeface="Times New Roman"/>
              </a:rPr>
              <a:t>PHẢN HỒI CHÍNH SÁCH:  Thực tiễn kinh tế số  ➔  Đánh giá hiệu quả  ➔  Điều chỉnh chính sách  ➔  Hoàn thiện quản lý nhà nước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04319" y="3291840"/>
            <a:ext cx="457200" cy="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161519" y="3291840"/>
            <a:ext cx="0" cy="281178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412480" y="6103620"/>
            <a:ext cx="3749039" cy="0"/>
          </a:xfrm>
          <a:prstGeom prst="line">
            <a:avLst/>
          </a:prstGeom>
          <a:ln w="12700">
            <a:solidFill>
              <a:srgbClr val="7878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11480" y="6103620"/>
            <a:ext cx="228600" cy="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1480" y="3291840"/>
            <a:ext cx="0" cy="281178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1480" y="3291840"/>
            <a:ext cx="228600" cy="0"/>
          </a:xfrm>
          <a:prstGeom prst="line">
            <a:avLst/>
          </a:prstGeom>
          <a:ln w="12700">
            <a:solidFill>
              <a:srgbClr val="7878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03320" y="2971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4B4"/>
                </a:solidFill>
                <a:latin typeface="Times New Roman"/>
              </a:rPr>
              <a:t>H₁ – H₆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971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4B4"/>
                </a:solidFill>
                <a:latin typeface="Times New Roman"/>
              </a:rPr>
              <a:t>H₇, H₈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1089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4B4"/>
                </a:solidFill>
                <a:latin typeface="Times New Roman"/>
              </a:rPr>
              <a:t>H₉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03120" y="1234440"/>
            <a:ext cx="0" cy="320040"/>
          </a:xfrm>
          <a:prstGeom prst="line">
            <a:avLst/>
          </a:prstGeom>
          <a:ln w="12700">
            <a:solidFill>
              <a:srgbClr val="82828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26480" y="1234440"/>
            <a:ext cx="0" cy="457200"/>
          </a:xfrm>
          <a:prstGeom prst="line">
            <a:avLst/>
          </a:prstGeom>
          <a:ln w="12700">
            <a:solidFill>
              <a:srgbClr val="82828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49840" y="1234440"/>
            <a:ext cx="0" cy="1234440"/>
          </a:xfrm>
          <a:prstGeom prst="line">
            <a:avLst/>
          </a:prstGeom>
          <a:ln w="12700">
            <a:solidFill>
              <a:srgbClr val="82828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