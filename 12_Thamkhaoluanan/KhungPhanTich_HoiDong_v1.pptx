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688638" cy="7562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57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"/>
            <a:ext cx="9774936" cy="5027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000000"/>
                </a:solidFill>
                <a:latin typeface="Times New Roman"/>
              </a:rPr>
              <a:t>KHUNG PHÂN TÍCH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 i="1">
                <a:solidFill>
                  <a:srgbClr val="333333"/>
                </a:solidFill>
                <a:latin typeface="Times New Roman"/>
              </a:rPr>
              <a:t>Quản lý nhà nước về quyền sở hữu trí tuệ trong nền kinh tế số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34640" y="548640"/>
            <a:ext cx="5303520" cy="4572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 i="0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333333"/>
                </a:solidFill>
                <a:latin typeface="Times New Roman"/>
              </a:rPr>
              <a:t>Lý thuyết quản lý công mới  •  Lý thuyết thể chế  •  Lý thuyết quản trị số  •  Lý thuyết quyền sở hữu trí tuệ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286000" cy="45720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CÁC YẾU TỐ ẢNH HƯỞNG</a:t>
            </a:r>
            <a:endParaRPr sz="105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20040" y="1440000"/>
            <a:ext cx="2011680" cy="172800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33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1">
                <a:solidFill>
                  <a:srgbClr val="777777"/>
                </a:solidFill>
                <a:latin typeface="Times New Roman"/>
              </a:rPr>
              <a:t>Nguồn: Tác giả tổng hợp và đề xuất</a:t>
            </a:r>
            <a:endParaRPr sz="95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20040" y="3348000"/>
            <a:ext cx="2011680" cy="19800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99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50" b="1" i="0">
                <a:solidFill>
                  <a:srgbClr val="663300"/>
                </a:solidFill>
                <a:latin typeface="Times New Roman"/>
              </a:rPr>
              <a:t>NHÓM YẾU TỐ BÊN NGOÀI</a:t>
            </a:r>
            <a:endParaRPr sz="950" b="0" i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4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(5) Hạ tầng công nghệ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(6) Đặc trưng nền kinh tế số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(7) Nhận thức xã hội về quyền SHTT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(8) Hội nhập quốc tế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788920"/>
            <a:ext cx="20116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endParaRPr sz="95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040" y="3474720"/>
            <a:ext cx="20116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endParaRPr sz="95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4160520"/>
            <a:ext cx="20116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endParaRPr sz="95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0040" y="4846320"/>
            <a:ext cx="201168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834640" y="2468880"/>
            <a:ext cx="2194560" cy="194310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NỘI DUNG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(1) Xây dựng chiến lược, chính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     sách và pháp luật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(2) Tổ chức thực hiện chiến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     lược, chính sách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(3) Hỗ trợ xác lập, khai thác,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     thương mại hóa TSTT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(4) Thanh tra, kiểm tra, giám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     sát và thực thi quyền SHTT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468879"/>
            <a:ext cx="2194560" cy="2011677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CHẤT LƯỢNG QLNN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VỀ QUYỀN SHTT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 i="0">
                <a:solidFill>
                  <a:srgbClr val="333333"/>
                </a:solidFill>
                <a:latin typeface="Times New Roman"/>
              </a:rPr>
              <a:t>Tiêu chí đánh giá: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(1) Hiệu lực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(2) Hiệu quả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(3) Tính phù hợp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(4) Tính đồng bộ và thống nhất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(5) Tính minh bạch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560320"/>
            <a:ext cx="219456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KẾT QUẢ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VÀ TÁC ĐỘNG</a:t>
            </a:r>
          </a:p>
          <a:p>
            <a:pPr algn="l">
              <a:spcBef>
                <a:spcPts val="500"/>
              </a:spcBef>
              <a:spcAft>
                <a:spcPts val="100"/>
              </a:spcAft>
            </a:pP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Thúc đẩy đổi mới sáng tạo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Phát triển KT số bền vững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Bảo vệ quyền lợi chủ thể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  sáng tạo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Nâng cao NL cạnh tranh QG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 i="0">
                <a:solidFill>
                  <a:srgbClr val="000000"/>
                </a:solidFill>
                <a:latin typeface="Times New Roman"/>
              </a:rPr>
              <a:t>• Thu hút đầu tư &amp; CGCN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31720" y="1668780"/>
            <a:ext cx="502920" cy="16230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2354579"/>
            <a:ext cx="502920" cy="9372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31720" y="3040379"/>
            <a:ext cx="502920" cy="251461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331720" y="3291840"/>
            <a:ext cx="502920" cy="4343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331720" y="3291840"/>
            <a:ext cx="502920" cy="11201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331720" y="3291840"/>
            <a:ext cx="502920" cy="180594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80960" y="3291840"/>
            <a:ext cx="457200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0" y="1207770"/>
            <a:ext cx="2377440" cy="107822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2286000"/>
            <a:ext cx="0" cy="10058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94078" y="6332220"/>
            <a:ext cx="21945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800" b="0" i="1">
                <a:solidFill>
                  <a:srgbClr val="777777"/>
                </a:solidFill>
                <a:latin typeface="Times New Roman"/>
              </a:rPr>
              <a:t>Nguồn: Tác giả tổng hợp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 flipV="1">
            <a:off x="6583680" y="448056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5943600"/>
            <a:ext cx="7955279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1" i="0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900" b="0" i="1">
                <a:solidFill>
                  <a:srgbClr val="444444"/>
                </a:solidFill>
                <a:latin typeface="Times New Roman"/>
              </a:rPr>
              <a:t>Thực tiễn thực thi  →  Đánh giá, tổng kết kết quả  →  Điều chỉnh chính sách  →  Hoàn thiện QLNN về quyền SHTT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07449" y="4023360"/>
            <a:ext cx="0" cy="19202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325880" y="5669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>
            <a:off x="1250343" y="777240"/>
            <a:ext cx="0" cy="30215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  <a:endCxn id="22" idx="0"/>
          </p:cNvCxnSpPr>
          <p:nvPr/>
        </p:nvCxnSpPr>
        <p:spPr>
          <a:xfrm>
            <a:off x="5303520" y="1005840"/>
            <a:ext cx="0" cy="20193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1005840"/>
            <a:ext cx="0" cy="14630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5F5B025-817E-B693-A29A-524DACCC054C}"/>
              </a:ext>
            </a:extLst>
          </p:cNvPr>
          <p:cNvSpPr txBox="1"/>
          <p:nvPr/>
        </p:nvSpPr>
        <p:spPr>
          <a:xfrm>
            <a:off x="-240776" y="1141660"/>
            <a:ext cx="31333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lang="en-US" sz="1200" b="1" dirty="0">
                <a:solidFill>
                  <a:srgbClr val="000000"/>
                </a:solidFill>
                <a:latin typeface="Times New Roman"/>
              </a:rPr>
              <a:t>CÁC YẾU TỐ ẢNH HƯỞNG</a:t>
            </a:r>
            <a:endParaRPr lang="vi-VN" sz="1200"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37" name="Connector 28">
            <a:extLst>
              <a:ext uri="{FF2B5EF4-FFF2-40B4-BE49-F238E27FC236}">
                <a16:creationId xmlns:a16="http://schemas.microsoft.com/office/drawing/2014/main" id="{E1550334-5FD7-F9D0-D2AC-029377AEAFB5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1250343" y="777240"/>
            <a:ext cx="1584297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344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2026-07-01T17:32:49Z</dcterms:modified>
  <cp:category/>
</cp:coreProperties>
</file>