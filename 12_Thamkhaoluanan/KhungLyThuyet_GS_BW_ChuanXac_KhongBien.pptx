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88638" cy="7562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57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6CB487-BF80-42C1-A5F0-5D261C1DD92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12CEEF-E0BF-484B-8F1F-CB2E4D9CF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67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12CEEF-E0BF-484B-8F1F-CB2E4D9CF3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463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97749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latin typeface="Times New Roman"/>
              </a:rPr>
              <a:t>KHUNG LÝ THUYẾT NGHIÊN CỨU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65760"/>
            <a:ext cx="7946136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Lý thuyết quản lý công  •  Lý thuyết quản lý công mới  •  Lý thuyết quản trị số  •  Lý thuyết quản trị thích ứng  •  Lý thuyết thể chế  •  Lý thuyết về quyền sở hữu trí tuệ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44668" y="91440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371600" y="1097280"/>
            <a:ext cx="794613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KHÁI NIỆM CỐT LÕI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Quyền sở hữu trí tuệ  •  Quản lý nhà nước  •  Kinh tế số  •  Quản trị số  •  Quản lý nhà nước về quyền SHTT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44668" y="1554480"/>
            <a:ext cx="0" cy="228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320" y="2011680"/>
            <a:ext cx="30175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CÁC YẾU TỐ ĐẦU VÀO</a:t>
            </a:r>
          </a:p>
          <a:p>
            <a:pPr algn="ctr"/>
            <a:endParaRPr sz="1000" b="1">
              <a:solidFill>
                <a:srgbClr val="000000"/>
              </a:solidFill>
              <a:latin typeface="Times New Roman"/>
            </a:endParaRP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Nhóm thể chế: Pháp luật, Chính sách, Phối hợp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Nhóm nguồn lực: Nguồn nhân lực, Tài chính, Hạ tầng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Nhóm công nghệ: Dữ liệu số, AI, Nền tảng số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91840" y="2743200"/>
            <a:ext cx="3657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0" y="1783079"/>
            <a:ext cx="36576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000" b="1" dirty="0">
                <a:solidFill>
                  <a:srgbClr val="000000"/>
                </a:solidFill>
                <a:latin typeface="Times New Roman"/>
              </a:rPr>
              <a:t>QUẢN LÝ NHÀ NƯỚC VỀ QUYỀN SHTT TRONG NỀN KINH TẾ SỐ</a:t>
            </a:r>
          </a:p>
          <a:p>
            <a:pPr algn="ctr"/>
            <a:endParaRPr sz="1000" b="1" dirty="0">
              <a:solidFill>
                <a:srgbClr val="000000"/>
              </a:solidFill>
              <a:latin typeface="Times New Roman"/>
            </a:endParaRPr>
          </a:p>
          <a:p>
            <a:pPr algn="l"/>
            <a:r>
              <a:rPr sz="1000" b="1" i="1" dirty="0">
                <a:solidFill>
                  <a:srgbClr val="000000"/>
                </a:solidFill>
                <a:latin typeface="Times New Roman"/>
              </a:rPr>
              <a:t>[</a:t>
            </a:r>
            <a:r>
              <a:rPr sz="1000" b="1" i="1" dirty="0" err="1">
                <a:solidFill>
                  <a:srgbClr val="000000"/>
                </a:solidFill>
                <a:latin typeface="Times New Roman"/>
              </a:rPr>
              <a:t>Nội</a:t>
            </a:r>
            <a:r>
              <a:rPr sz="1000" b="1" i="1" dirty="0">
                <a:solidFill>
                  <a:srgbClr val="000000"/>
                </a:solidFill>
                <a:latin typeface="Times New Roman"/>
              </a:rPr>
              <a:t> dung </a:t>
            </a:r>
            <a:r>
              <a:rPr sz="1000" b="1" i="1" dirty="0" err="1">
                <a:solidFill>
                  <a:srgbClr val="000000"/>
                </a:solidFill>
                <a:latin typeface="Times New Roman"/>
              </a:rPr>
              <a:t>thực</a:t>
            </a:r>
            <a:r>
              <a:rPr sz="1000" b="1" i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1" i="1" dirty="0" err="1">
                <a:solidFill>
                  <a:srgbClr val="000000"/>
                </a:solidFill>
                <a:latin typeface="Times New Roman"/>
              </a:rPr>
              <a:t>hiện</a:t>
            </a:r>
            <a:r>
              <a:rPr sz="1000" b="1" i="1" dirty="0">
                <a:solidFill>
                  <a:srgbClr val="000000"/>
                </a:solidFill>
                <a:latin typeface="Times New Roman"/>
              </a:rPr>
              <a:t>]</a:t>
            </a:r>
          </a:p>
          <a:p>
            <a:pPr algn="l"/>
            <a:r>
              <a:rPr sz="1000" dirty="0">
                <a:solidFill>
                  <a:srgbClr val="000000"/>
                </a:solidFill>
                <a:latin typeface="Times New Roman"/>
              </a:rPr>
              <a:t>•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Xây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dựng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chiến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lược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chính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sách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pháp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luật</a:t>
            </a:r>
            <a:endParaRPr sz="1000" dirty="0">
              <a:solidFill>
                <a:srgbClr val="000000"/>
              </a:solidFill>
              <a:latin typeface="Times New Roman"/>
            </a:endParaRPr>
          </a:p>
          <a:p>
            <a:pPr algn="l"/>
            <a:r>
              <a:rPr sz="1000" dirty="0">
                <a:solidFill>
                  <a:srgbClr val="000000"/>
                </a:solidFill>
                <a:latin typeface="Times New Roman"/>
              </a:rPr>
              <a:t>•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Hỗ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trợ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xác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lập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khai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thác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thương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mại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hóa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tài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sản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trí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tuệ</a:t>
            </a:r>
            <a:endParaRPr sz="1000" dirty="0">
              <a:solidFill>
                <a:srgbClr val="000000"/>
              </a:solidFill>
              <a:latin typeface="Times New Roman"/>
            </a:endParaRPr>
          </a:p>
          <a:p>
            <a:pPr algn="l"/>
            <a:r>
              <a:rPr sz="1000" dirty="0">
                <a:solidFill>
                  <a:srgbClr val="000000"/>
                </a:solidFill>
                <a:latin typeface="Times New Roman"/>
              </a:rPr>
              <a:t>• Thanh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tra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kiểm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tra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giám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sát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thực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thi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quyền</a:t>
            </a:r>
            <a:endParaRPr sz="1000" dirty="0">
              <a:solidFill>
                <a:srgbClr val="000000"/>
              </a:solidFill>
              <a:latin typeface="Times New Roman"/>
            </a:endParaRPr>
          </a:p>
          <a:p>
            <a:pPr algn="ctr"/>
            <a:endParaRPr sz="1000" dirty="0">
              <a:solidFill>
                <a:srgbClr val="000000"/>
              </a:solidFill>
              <a:latin typeface="Times New Roman"/>
            </a:endParaRPr>
          </a:p>
          <a:p>
            <a:pPr algn="l"/>
            <a:r>
              <a:rPr sz="1000" b="1" i="1" dirty="0">
                <a:solidFill>
                  <a:srgbClr val="000000"/>
                </a:solidFill>
                <a:latin typeface="Times New Roman"/>
              </a:rPr>
              <a:t>[</a:t>
            </a:r>
            <a:r>
              <a:rPr sz="1000" b="1" i="1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sz="1000" b="1" i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1" i="1" dirty="0" err="1">
                <a:solidFill>
                  <a:srgbClr val="000000"/>
                </a:solidFill>
                <a:latin typeface="Times New Roman"/>
              </a:rPr>
              <a:t>lực</a:t>
            </a:r>
            <a:r>
              <a:rPr sz="1000" b="1" i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1" i="1" dirty="0" err="1">
                <a:solidFill>
                  <a:srgbClr val="000000"/>
                </a:solidFill>
                <a:latin typeface="Times New Roman"/>
              </a:rPr>
              <a:t>thực</a:t>
            </a:r>
            <a:r>
              <a:rPr sz="1000" b="1" i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1" i="1" dirty="0" err="1">
                <a:solidFill>
                  <a:srgbClr val="000000"/>
                </a:solidFill>
                <a:latin typeface="Times New Roman"/>
              </a:rPr>
              <a:t>thi</a:t>
            </a:r>
            <a:r>
              <a:rPr sz="1000" b="1" i="1" dirty="0">
                <a:solidFill>
                  <a:srgbClr val="000000"/>
                </a:solidFill>
                <a:latin typeface="Times New Roman"/>
              </a:rPr>
              <a:t>]</a:t>
            </a:r>
          </a:p>
          <a:p>
            <a:pPr algn="l"/>
            <a:r>
              <a:rPr sz="1000" dirty="0">
                <a:solidFill>
                  <a:srgbClr val="000000"/>
                </a:solidFill>
                <a:latin typeface="Times New Roman"/>
              </a:rPr>
              <a:t>•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lực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hoạch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định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tổ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chức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thực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hiện</a:t>
            </a:r>
            <a:endParaRPr sz="1000" dirty="0">
              <a:solidFill>
                <a:srgbClr val="000000"/>
              </a:solidFill>
              <a:latin typeface="Times New Roman"/>
            </a:endParaRPr>
          </a:p>
          <a:p>
            <a:pPr algn="l"/>
            <a:r>
              <a:rPr sz="1000" dirty="0">
                <a:solidFill>
                  <a:srgbClr val="000000"/>
                </a:solidFill>
                <a:latin typeface="Times New Roman"/>
              </a:rPr>
              <a:t>•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lực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phối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hợp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liên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ngành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chuyển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đổi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số</a:t>
            </a:r>
            <a:endParaRPr sz="1000" dirty="0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486400" y="3886200"/>
            <a:ext cx="0" cy="4572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40480" y="4343400"/>
            <a:ext cx="3291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CHẤT LƯỢNG QUẢN LÝ NHÀ NƯỚC VỀ QUYỀN SHTT</a:t>
            </a:r>
          </a:p>
          <a:p>
            <a:pPr algn="ctr"/>
            <a:endParaRPr sz="1000" b="1">
              <a:solidFill>
                <a:srgbClr val="000000"/>
              </a:solidFill>
              <a:latin typeface="Times New Roman"/>
            </a:endParaRP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Hiệu lực   • Hiệu quả   • Tính phù hợp   • Tính đồng bộ   • Tính minh bạch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0" y="5166360"/>
            <a:ext cx="0" cy="4572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57600" y="5623560"/>
            <a:ext cx="3657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KẾT QUẢ VÀ TÁC ĐỘNG</a:t>
            </a:r>
          </a:p>
          <a:p>
            <a:pPr algn="ctr"/>
            <a:endParaRPr sz="1000" b="1">
              <a:solidFill>
                <a:srgbClr val="000000"/>
              </a:solidFill>
              <a:latin typeface="Times New Roman"/>
            </a:endParaRP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Bảo vệ hiệu quả quyền SHTT       • Thúc đẩy đổi mới sáng tạo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Phát triển tài sản trí tuệ         • Nâng cao năng lực cạnh tranh quốc gia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Thúc đẩy phát triển kinh tế số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834640"/>
            <a:ext cx="28346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CÁC YẾU TỐ ẢNH HƯỞNG (ĐIỀU TIẾT)</a:t>
            </a:r>
          </a:p>
          <a:p>
            <a:pPr algn="ctr"/>
            <a:endParaRPr sz="1000" b="1">
              <a:solidFill>
                <a:srgbClr val="000000"/>
              </a:solidFill>
              <a:latin typeface="Times New Roman"/>
            </a:endParaRP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phát triển kinh tế số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Năng lực đổi mới sáng tạo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Hội nhập quốc tế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Nhận thức xã hội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cạnh tranh thị trường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5486400" y="4114800"/>
            <a:ext cx="210312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371600" y="6858000"/>
            <a:ext cx="794613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PHẢN HỒI CHÍNH SÁCH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Kết quả thực hiện  ➔  Đánh giá  ➔  Điều chỉnh chính sách, thể chế, công cụ  ➔  Hoàn thiện QLNN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0" y="6537960"/>
            <a:ext cx="0" cy="3200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37160" y="7086600"/>
            <a:ext cx="123444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7160" y="1645920"/>
            <a:ext cx="0" cy="544068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7160" y="1645920"/>
            <a:ext cx="425196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89120" y="1645920"/>
            <a:ext cx="0" cy="13716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347</Words>
  <Application>Microsoft Office PowerPoint</Application>
  <PresentationFormat>Custom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Nguyễn Thị Tố Uyên</cp:lastModifiedBy>
  <cp:revision>2</cp:revision>
  <dcterms:created xsi:type="dcterms:W3CDTF">2013-01-27T09:14:16Z</dcterms:created>
  <dcterms:modified xsi:type="dcterms:W3CDTF">2026-06-29T18:37:59Z</dcterms:modified>
  <cp:category/>
</cp:coreProperties>
</file>