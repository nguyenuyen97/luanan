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Rounded Rectangle 13"/>
          <p:cNvSpPr/>
          <p:nvPr/>
        </p:nvSpPr>
        <p:spPr>
          <a:xfrm>
            <a:off x="182880" y="1371600"/>
            <a:ext cx="8778240" cy="210312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latin typeface="Times New Roman"/>
              </a:rPr>
              <a:t>HÌNH 2.x: KHUNG LÝ THUYẾT NGHIÊN CỨU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CƠ SỞ LÝ THUYẾT NỀN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(Lý thuyết quản lý nhà nước, Lý thuyết quản trị công, Lý thuyết thể chế,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kinh tế số, Lý thuyết đổi mới sáng tạo, Các nghiên cứu trước)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572000" y="1280160"/>
            <a:ext cx="27432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NỘI DUNG QUẢN LÝ NHÀ NƯỚC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(Biến độc lập)</a:t>
            </a:r>
          </a:p>
          <a:p>
            <a:pPr algn="ctr"/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1. Xây dựng chiến lược, chính sách và pháp luật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2. Tổ chức thực hiện chiến lược, chính sách và pháp luật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3. Hỗ trợ xác lập, khai thác, chuyển giao và thương mại hóa tài sản trí tuệ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4. Thanh tra, kiểm tra, giám sát và thực thi quyền trong môi trường số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286000"/>
            <a:ext cx="36576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64592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QUẢN LÝ NHÀ NƯỚC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(Biến phụ thuộc)</a:t>
            </a:r>
          </a:p>
          <a:p>
            <a:pPr algn="ctr"/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1. Hiệu lực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2. Hiệu quả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3. Tính phù hợp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4. Tính đồng bộ, thống nhất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5. Tính minh bạch</a:t>
            </a:r>
          </a:p>
        </p:txBody>
      </p:sp>
      <p:sp>
        <p:nvSpPr>
          <p:cNvPr id="8" name="Left Arrow 7"/>
          <p:cNvSpPr/>
          <p:nvPr/>
        </p:nvSpPr>
        <p:spPr>
          <a:xfrm>
            <a:off x="6492240" y="2286000"/>
            <a:ext cx="365760" cy="274320"/>
          </a:xfrm>
          <a:prstGeom prst="lef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1645920"/>
            <a:ext cx="20116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ẢNH HƯỞNG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(Biến điều tiết/tác động)</a:t>
            </a:r>
          </a:p>
          <a:p>
            <a:pPr algn="ctr"/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 Nhóm yếu tố bên trong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 Nhóm yếu tố bên ngoài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166360" y="329184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ĐÁNH GIÁ THỰC TRẠNG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(Phân tích Nội dung QLNN &amp; Đo lường Chất lượng QLNN)</a:t>
            </a:r>
          </a:p>
          <a:p>
            <a:pPr algn="ctr"/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Xác định: KẾT QUẢ ĐẠT ĐƯỢC - HẠN CHẾ - NGUYÊN NHÂN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457200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4937760"/>
            <a:ext cx="54864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ĐỀ XUẤT GIẢI PHÁP HOÀN THIỆN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(Khắc phục hạn chế, giải quyết nguyên nhân, nâng cao chất lượng QLNN)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1">
                <a:latin typeface="Times New Roman"/>
              </a:rPr>
              <a:t>VẤN ĐỀ NGHIÊN CỨU TRUNG TÂM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