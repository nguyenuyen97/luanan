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NGHIÊN CỨU CỦA LUẬN 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548640"/>
            <a:ext cx="64008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Times New Roman"/>
              </a:rPr>
              <a:t>TỔNG QUAN NGHIÊN CỨU VÀ PHƯƠNG PHÁP NGHIÊN CỨU</a:t>
            </a:r>
          </a:p>
          <a:p>
            <a:pPr algn="ctr"/>
            <a:r>
              <a:rPr sz="1100" b="1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Xác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định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khoảng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trống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nghiên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cứu</a:t>
            </a:r>
            <a:endParaRPr sz="11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100" b="1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Đối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tượng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phạm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vi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nghiên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cứu</a:t>
            </a:r>
            <a:endParaRPr sz="11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100" b="1" dirty="0">
                <a:solidFill>
                  <a:srgbClr val="000000"/>
                </a:solidFill>
                <a:latin typeface="Times New Roman"/>
              </a:rPr>
              <a:t>- Phương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pháp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thu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thập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phân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tích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dữ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liệu</a:t>
            </a:r>
            <a:endParaRPr sz="11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4389120" y="1280160"/>
            <a:ext cx="365760" cy="27432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2880" y="1554480"/>
            <a:ext cx="87782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16125" y="1600200"/>
            <a:ext cx="32429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latin typeface="Times New Roman"/>
              </a:rPr>
              <a:t>CƠ SỞ LÝ LUẬN VÀ BÀI HỌC THỰC TIỄ</a:t>
            </a:r>
            <a:r>
              <a:rPr lang="en-US" sz="1200" b="1" dirty="0">
                <a:latin typeface="Times New Roman"/>
              </a:rPr>
              <a:t>N</a:t>
            </a:r>
            <a:endParaRPr sz="1200" b="1" dirty="0">
              <a:latin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17373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Chủ thể quản lý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(Chính phủ, Các Bộ, Ngành cấp TW)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Khách thể quản lý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(Quyền tác giả, quyền liên quan, quyền sở hữu công nghiệp)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011680"/>
            <a:ext cx="35661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NỘI DUNG QUẢN LÝ NHÀ NƯỚC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1. Xây dựng chiến lược, chính sách và pháp luật về quyền sở hữu trí tuệ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2. Tổ chức thực hiện chiến lược, chính sách và pháp luật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3. Hỗ trợ xác lập, khai thác, chuyển giao và thương mại hóa tài sản trí tuệ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4. Thanh tra, kiểm tra, giám sát và thực thi quyền sở hữu trí tuệ trong môi trường số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11680"/>
            <a:ext cx="1463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TIÊU CHÍ ĐÁNH GIÁ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1. Hiệu lực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2. Hiệu quả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3. Tính phù hợp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4. Tính đồng bộ và thống nhất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5. Tính minh bạch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011680"/>
            <a:ext cx="12801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YẾU TỐ ẢNH HƯỞNG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- Nhóm yếu tố bên trong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- Nhóm yếu tố bên ngoài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389120" y="3657600"/>
            <a:ext cx="365760" cy="27432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2880" y="3931920"/>
            <a:ext cx="87782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8845" y="3977639"/>
            <a:ext cx="688630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latin typeface="Times New Roman"/>
              </a:rPr>
              <a:t>THỰC TRẠNG QUẢN LÝ NHÀ NƯỚC VỀ QUYỀN SỞ HỮU TRÍ TUỆ TRONG NỀN KINH TẾ SỐ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89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Đánh giá theo các nội dung quản lý nhà nước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194560" y="4617720"/>
            <a:ext cx="18288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23160" y="4389120"/>
            <a:ext cx="18288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 err="1">
                <a:solidFill>
                  <a:srgbClr val="000000"/>
                </a:solidFill>
                <a:latin typeface="Times New Roman"/>
              </a:rPr>
              <a:t>Đánh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Times New Roman"/>
              </a:rPr>
              <a:t>giá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Times New Roman"/>
              </a:rPr>
              <a:t>tiêu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Times New Roman"/>
              </a:rPr>
              <a:t>chí</a:t>
            </a:r>
            <a:endParaRPr sz="10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000" b="1" dirty="0">
                <a:solidFill>
                  <a:srgbClr val="000000"/>
                </a:solidFill>
                <a:latin typeface="Times New Roman"/>
              </a:rPr>
              <a:t>(Hiệu </a:t>
            </a:r>
            <a:r>
              <a:rPr sz="1000" b="1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, Hiệu </a:t>
            </a:r>
            <a:r>
              <a:rPr sz="1000" b="1" dirty="0" err="1">
                <a:solidFill>
                  <a:srgbClr val="000000"/>
                </a:solidFill>
                <a:latin typeface="Times New Roman"/>
              </a:rPr>
              <a:t>quả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b="1" dirty="0" err="1">
                <a:solidFill>
                  <a:srgbClr val="000000"/>
                </a:solidFill>
                <a:latin typeface="Times New Roman"/>
              </a:rPr>
              <a:t>Phù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Times New Roman"/>
              </a:rPr>
              <a:t>hợp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,</a:t>
            </a:r>
          </a:p>
          <a:p>
            <a:pPr algn="ctr"/>
            <a:r>
              <a:rPr sz="1000" b="1" dirty="0" err="1">
                <a:solidFill>
                  <a:srgbClr val="000000"/>
                </a:solidFill>
                <a:latin typeface="Times New Roman"/>
              </a:rPr>
              <a:t>Đồng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Times New Roman"/>
              </a:rPr>
              <a:t>bộ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, Minh </a:t>
            </a:r>
            <a:r>
              <a:rPr sz="1000" b="1" dirty="0" err="1">
                <a:solidFill>
                  <a:srgbClr val="000000"/>
                </a:solidFill>
                <a:latin typeface="Times New Roman"/>
              </a:rPr>
              <a:t>bạch</a:t>
            </a:r>
            <a:r>
              <a:rPr sz="1000" b="1" dirty="0">
                <a:solidFill>
                  <a:srgbClr val="000000"/>
                </a:solidFill>
                <a:latin typeface="Times New Roman"/>
              </a:rPr>
              <a:t>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97680" y="4617720"/>
            <a:ext cx="18288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0" y="4389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Phân tích các yếu tố ảnh hưởng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400800" y="4617720"/>
            <a:ext cx="18288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75120" y="4297680"/>
            <a:ext cx="2103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KẾT QUẢ ĐẠT ĐƯỢC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-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HẠN CHẾ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-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NGUYÊN NHÂN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389120" y="5394960"/>
            <a:ext cx="365760" cy="27432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71600" y="5669280"/>
            <a:ext cx="64008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Times New Roman"/>
              </a:rPr>
              <a:t>QUAN ĐIỂM, ĐỊNH HƯỚNG VÀ GIẢI PHÁP HOÀN THIỆN </a:t>
            </a:r>
            <a:endParaRPr lang="en-US" sz="11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100" b="1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xuất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giải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pháp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tương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ứng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với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04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nội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dung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quản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lý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khắc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phục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nguyên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nhân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hạn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chế</a:t>
            </a:r>
            <a:endParaRPr sz="1100" b="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308</Words>
  <Application>Microsoft Office PowerPoint</Application>
  <PresentationFormat>On-screen Show (4:3)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Thị Tố Uyên</cp:lastModifiedBy>
  <cp:revision>2</cp:revision>
  <dcterms:created xsi:type="dcterms:W3CDTF">2013-01-27T09:14:16Z</dcterms:created>
  <dcterms:modified xsi:type="dcterms:W3CDTF">2026-06-29T11:46:42Z</dcterms:modified>
  <cp:category/>
</cp:coreProperties>
</file>