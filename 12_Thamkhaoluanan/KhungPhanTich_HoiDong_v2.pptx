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72000"/>
            <a:ext cx="9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Times New Roman"/>
              </a:rPr>
              <a:t>KHUNG PHÂN TÍCH: QUẢN LÝ NHÀ NƯỚC VỀ QUYỀN SỞ HỮU TRÍ TUỆ TRONG NỀN KINH TẾ SỐ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432000"/>
            <a:ext cx="9972000" cy="576000"/>
          </a:xfrm>
          <a:prstGeom prst="rect">
            <a:avLst/>
          </a:prstGeom>
          <a:solidFill>
            <a:srgbClr val="F0F0F0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600" b="1" i="0" dirty="0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100" b="0" i="0" dirty="0">
                <a:solidFill>
                  <a:srgbClr val="333333"/>
                </a:solidFill>
                <a:latin typeface="Times New Roman"/>
              </a:rPr>
              <a:t>Lý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thuyết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quản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lý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công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mới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  •   Lý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thuyết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thể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chế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  •   Lý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thuyết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quản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trị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số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  •   Lý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thuyết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quyền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sở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hữu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trí</a:t>
            </a:r>
            <a:r>
              <a:rPr sz="1100" b="0" i="0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Times New Roman"/>
              </a:rPr>
              <a:t>tuệ</a:t>
            </a:r>
            <a:endParaRPr sz="1100" b="0" i="0" dirty="0">
              <a:solidFill>
                <a:srgbClr val="333333"/>
              </a:solidFill>
              <a:latin typeface="Times New Roman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346000" y="1007999"/>
            <a:ext cx="0" cy="18000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0000" y="1188000"/>
            <a:ext cx="3131999" cy="4140000"/>
          </a:xfrm>
          <a:prstGeom prst="rect">
            <a:avLst/>
          </a:prstGeom>
          <a:noFill/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CÁC YẾU TỐ ẢNH HƯỞNG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68000" y="1655999"/>
            <a:ext cx="2916000" cy="1620000"/>
          </a:xfrm>
          <a:prstGeom prst="rect">
            <a:avLst/>
          </a:prstGeom>
          <a:solidFill>
            <a:srgbClr val="E8F0FE"/>
          </a:solidFill>
          <a:ln w="12700">
            <a:solidFill>
              <a:srgbClr val="33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200" b="1" i="0" dirty="0" err="1">
                <a:solidFill>
                  <a:srgbClr val="1A3C6E"/>
                </a:solidFill>
                <a:latin typeface="Times New Roman"/>
              </a:rPr>
              <a:t>Nhóm</a:t>
            </a:r>
            <a:r>
              <a:rPr sz="1200" b="1" i="0" dirty="0">
                <a:solidFill>
                  <a:srgbClr val="1A3C6E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1A3C6E"/>
                </a:solidFill>
                <a:latin typeface="Times New Roman"/>
              </a:rPr>
              <a:t>yếu</a:t>
            </a:r>
            <a:r>
              <a:rPr sz="1200" b="1" i="0" dirty="0">
                <a:solidFill>
                  <a:srgbClr val="1A3C6E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1A3C6E"/>
                </a:solidFill>
                <a:latin typeface="Times New Roman"/>
              </a:rPr>
              <a:t>tố</a:t>
            </a:r>
            <a:r>
              <a:rPr sz="1200" b="1" i="0" dirty="0">
                <a:solidFill>
                  <a:srgbClr val="1A3C6E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1A3C6E"/>
                </a:solidFill>
                <a:latin typeface="Times New Roman"/>
              </a:rPr>
              <a:t>bên</a:t>
            </a:r>
            <a:r>
              <a:rPr sz="1200" b="1" i="0" dirty="0">
                <a:solidFill>
                  <a:srgbClr val="1A3C6E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1A3C6E"/>
                </a:solidFill>
                <a:latin typeface="Times New Roman"/>
              </a:rPr>
              <a:t>trong</a:t>
            </a:r>
            <a:endParaRPr sz="1200" b="1" i="0" dirty="0">
              <a:solidFill>
                <a:srgbClr val="1A3C6E"/>
              </a:solidFill>
              <a:latin typeface="Times New Roman"/>
            </a:endParaRPr>
          </a:p>
          <a:p>
            <a:pPr algn="ctr">
              <a:spcBef>
                <a:spcPts val="400"/>
              </a:spcBef>
              <a:spcAft>
                <a:spcPts val="50"/>
              </a:spcAft>
            </a:pPr>
            <a:endParaRPr sz="1200" b="1" i="0" dirty="0">
              <a:solidFill>
                <a:srgbClr val="1A3C6E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(1) Khung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sách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(2)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cán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bộ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(3)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Nguồn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chính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(4)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Phối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hợp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chế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8000" y="3456000"/>
            <a:ext cx="2916000" cy="1800000"/>
          </a:xfrm>
          <a:prstGeom prst="rect">
            <a:avLst/>
          </a:prstGeom>
          <a:solidFill>
            <a:srgbClr val="FFF3E0"/>
          </a:solidFill>
          <a:ln w="12700">
            <a:solidFill>
              <a:srgbClr val="A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 err="1">
                <a:solidFill>
                  <a:srgbClr val="6E3C1A"/>
                </a:solidFill>
                <a:latin typeface="Times New Roman"/>
              </a:rPr>
              <a:t>Nhóm</a:t>
            </a:r>
            <a:r>
              <a:rPr sz="1400" b="1" i="0" dirty="0">
                <a:solidFill>
                  <a:srgbClr val="6E3C1A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6E3C1A"/>
                </a:solidFill>
                <a:latin typeface="Times New Roman"/>
              </a:rPr>
              <a:t>yếu</a:t>
            </a:r>
            <a:r>
              <a:rPr sz="1400" b="1" i="0" dirty="0">
                <a:solidFill>
                  <a:srgbClr val="6E3C1A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6E3C1A"/>
                </a:solidFill>
                <a:latin typeface="Times New Roman"/>
              </a:rPr>
              <a:t>tố</a:t>
            </a:r>
            <a:r>
              <a:rPr sz="1400" b="1" i="0" dirty="0">
                <a:solidFill>
                  <a:srgbClr val="6E3C1A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6E3C1A"/>
                </a:solidFill>
                <a:latin typeface="Times New Roman"/>
              </a:rPr>
              <a:t>bên</a:t>
            </a:r>
            <a:r>
              <a:rPr sz="1400" b="1" i="0" dirty="0">
                <a:solidFill>
                  <a:srgbClr val="6E3C1A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6E3C1A"/>
                </a:solidFill>
                <a:latin typeface="Times New Roman"/>
              </a:rPr>
              <a:t>ngoài</a:t>
            </a:r>
            <a:endParaRPr sz="1400" b="1" i="0" dirty="0">
              <a:solidFill>
                <a:srgbClr val="6E3C1A"/>
              </a:solidFill>
              <a:latin typeface="Times New Roman"/>
            </a:endParaRPr>
          </a:p>
          <a:p>
            <a:pPr algn="ctr">
              <a:spcBef>
                <a:spcPts val="400"/>
              </a:spcBef>
              <a:spcAft>
                <a:spcPts val="50"/>
              </a:spcAft>
            </a:pPr>
            <a:endParaRPr sz="1400" b="1" i="0" dirty="0">
              <a:solidFill>
                <a:srgbClr val="6E3C1A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(5)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</a:t>
            </a:r>
            <a:r>
              <a:rPr lang="en-US" sz="1400" dirty="0" err="1">
                <a:solidFill>
                  <a:srgbClr val="000000"/>
                </a:solidFill>
                <a:latin typeface="Times New Roman"/>
              </a:rPr>
              <a:t>ạ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tầng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công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nghệ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số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(6)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Đặc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trưng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nền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kinh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tế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số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(7)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Nhận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thức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xã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hội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về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quyền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SHTT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(8)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Hội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nhập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quốc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tế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0000" y="1188000"/>
            <a:ext cx="3131999" cy="41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NỘI DUNG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QUẢN LÝ NHÀ NƯỚC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ctr">
              <a:spcBef>
                <a:spcPts val="600"/>
              </a:spcBef>
              <a:spcAft>
                <a:spcPts val="50"/>
              </a:spcAft>
            </a:pPr>
            <a:endParaRPr sz="1050" b="1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(1)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Xây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dựng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lược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sách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luật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400"/>
              </a:spcBef>
              <a:spcAft>
                <a:spcPts val="50"/>
              </a:spcAft>
            </a:pP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(2)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Tổ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chức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hiện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chiến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lược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chính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sách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400"/>
              </a:spcBef>
              <a:spcAft>
                <a:spcPts val="50"/>
              </a:spcAft>
            </a:pP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(3)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Hỗ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trợ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xác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lập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khai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thác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chuyển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giao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thương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mại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hóa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tài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sản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trí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tuệ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400"/>
              </a:spcBef>
              <a:spcAft>
                <a:spcPts val="50"/>
              </a:spcAft>
            </a:pP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(4) Thanh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tra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kiểm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tra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giám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sát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thực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thi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quyền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SHTT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1188000"/>
            <a:ext cx="3131999" cy="252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CHẤT LƯỢNG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QUẢN LÝ NHÀ NƯỚC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ctr">
              <a:spcBef>
                <a:spcPts val="600"/>
              </a:spcBef>
              <a:spcAft>
                <a:spcPts val="50"/>
              </a:spcAft>
            </a:pPr>
            <a:endParaRPr sz="1050" b="1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1" i="1" dirty="0" err="1">
                <a:solidFill>
                  <a:srgbClr val="333333"/>
                </a:solidFill>
                <a:latin typeface="Times New Roman"/>
              </a:rPr>
              <a:t>Tiêu</a:t>
            </a:r>
            <a:r>
              <a:rPr sz="1400" b="1" i="1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400" b="1" i="1" dirty="0" err="1">
                <a:solidFill>
                  <a:srgbClr val="333333"/>
                </a:solidFill>
                <a:latin typeface="Times New Roman"/>
              </a:rPr>
              <a:t>chí</a:t>
            </a:r>
            <a:r>
              <a:rPr sz="1400" b="1" i="1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400" b="1" i="1" dirty="0" err="1">
                <a:solidFill>
                  <a:srgbClr val="333333"/>
                </a:solidFill>
                <a:latin typeface="Times New Roman"/>
              </a:rPr>
              <a:t>đánh</a:t>
            </a:r>
            <a:r>
              <a:rPr sz="1400" b="1" i="1" dirty="0">
                <a:solidFill>
                  <a:srgbClr val="333333"/>
                </a:solidFill>
                <a:latin typeface="Times New Roman"/>
              </a:rPr>
              <a:t> </a:t>
            </a:r>
            <a:r>
              <a:rPr sz="1400" b="1" i="1" dirty="0" err="1">
                <a:solidFill>
                  <a:srgbClr val="333333"/>
                </a:solidFill>
                <a:latin typeface="Times New Roman"/>
              </a:rPr>
              <a:t>giá</a:t>
            </a:r>
            <a:r>
              <a:rPr sz="1400" b="1" i="1" dirty="0">
                <a:solidFill>
                  <a:srgbClr val="333333"/>
                </a:solidFill>
                <a:latin typeface="Times New Roman"/>
              </a:rPr>
              <a:t>:</a:t>
            </a: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(1) Hiệu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lực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(2) Hiệu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quả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(3)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phù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hợp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(4)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bộ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thống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nhất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(5)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minh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Times New Roman"/>
              </a:rPr>
              <a:t>bạch</a:t>
            </a:r>
            <a:endParaRPr sz="1400" b="0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491999" y="2808000"/>
            <a:ext cx="288001" cy="0"/>
          </a:xfrm>
          <a:prstGeom prst="line">
            <a:avLst/>
          </a:prstGeom>
          <a:ln w="2286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12000" y="2808000"/>
            <a:ext cx="288000" cy="0"/>
          </a:xfrm>
          <a:prstGeom prst="line">
            <a:avLst/>
          </a:prstGeom>
          <a:ln w="2286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200000" y="3888000"/>
            <a:ext cx="3131999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KẾT QUẢ VÀ TÁC ĐỘNG</a:t>
            </a:r>
            <a:endParaRPr lang="en-US" sz="1400" b="1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lang="en-US" sz="1200" b="0" i="0" dirty="0">
                <a:solidFill>
                  <a:srgbClr val="000000"/>
                </a:solidFill>
                <a:latin typeface="Times New Roman"/>
              </a:rPr>
              <a:t>(1)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Thúc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đẩy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đổi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mới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sáng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tạo</a:t>
            </a:r>
            <a:endParaRPr sz="12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lang="en-US" sz="1200" dirty="0">
                <a:solidFill>
                  <a:srgbClr val="000000"/>
                </a:solidFill>
                <a:latin typeface="Times New Roman"/>
              </a:rPr>
              <a:t>(2)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Phát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triển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KT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số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bền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vững</a:t>
            </a:r>
            <a:endParaRPr lang="en-US" sz="120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lang="en-US" sz="1200" b="0" i="0" dirty="0">
                <a:solidFill>
                  <a:srgbClr val="000000"/>
                </a:solidFill>
                <a:latin typeface="Times New Roman"/>
              </a:rPr>
              <a:t>(3)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Bảo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vệ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quyền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lợi</a:t>
            </a:r>
            <a:r>
              <a:rPr lang="en-US" sz="1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chủ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thể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sáng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tạo</a:t>
            </a:r>
            <a:endParaRPr sz="12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lang="en-US" sz="1200" dirty="0">
                <a:solidFill>
                  <a:srgbClr val="000000"/>
                </a:solidFill>
                <a:latin typeface="Times New Roman"/>
              </a:rPr>
              <a:t>(4)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Nâng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cao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năng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lực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cạnh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tranh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quốc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gia</a:t>
            </a:r>
            <a:endParaRPr sz="120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50"/>
              </a:spcBef>
              <a:spcAft>
                <a:spcPts val="50"/>
              </a:spcAft>
            </a:pPr>
            <a:r>
              <a:rPr lang="en-US" sz="1200" dirty="0">
                <a:solidFill>
                  <a:srgbClr val="000000"/>
                </a:solidFill>
                <a:latin typeface="Times New Roman"/>
              </a:rPr>
              <a:t>(5)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Thu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hút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đầu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tư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200" b="0" i="0" dirty="0">
                <a:solidFill>
                  <a:srgbClr val="000000"/>
                </a:solidFill>
                <a:latin typeface="Times New Roman"/>
              </a:rPr>
              <a:t> CGCN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66000" y="3708000"/>
            <a:ext cx="0" cy="180000"/>
          </a:xfrm>
          <a:prstGeom prst="line">
            <a:avLst/>
          </a:prstGeom>
          <a:ln w="2286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0000" y="5688000"/>
            <a:ext cx="9972000" cy="576000"/>
          </a:xfrm>
          <a:prstGeom prst="rect">
            <a:avLst/>
          </a:prstGeom>
          <a:solidFill>
            <a:srgbClr val="F5F5F5"/>
          </a:solidFill>
          <a:ln w="1524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1" i="0" dirty="0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>
              <a:spcBef>
                <a:spcPts val="50"/>
              </a:spcBef>
              <a:spcAft>
                <a:spcPts val="50"/>
              </a:spcAft>
            </a:pP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Thực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tiễn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thực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thi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 → 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Đánh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giá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,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tổng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kết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 → 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Điều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chỉnh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chính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sách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 →  Hoàn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thiện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QLNN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về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</a:t>
            </a:r>
            <a:r>
              <a:rPr sz="1400" b="0" i="1" dirty="0" err="1">
                <a:solidFill>
                  <a:srgbClr val="444444"/>
                </a:solidFill>
                <a:latin typeface="Times New Roman"/>
              </a:rPr>
              <a:t>quyền</a:t>
            </a:r>
            <a:r>
              <a:rPr sz="1400" b="0" i="1" dirty="0">
                <a:solidFill>
                  <a:srgbClr val="444444"/>
                </a:solidFill>
                <a:latin typeface="Times New Roman"/>
              </a:rPr>
              <a:t> SHTT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66000" y="5328000"/>
            <a:ext cx="0" cy="360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 flipH="1">
            <a:off x="179999" y="5976000"/>
            <a:ext cx="180001" cy="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 flipV="1">
            <a:off x="179999" y="3339000"/>
            <a:ext cx="0" cy="2637000"/>
          </a:xfrm>
          <a:prstGeom prst="line">
            <a:avLst/>
          </a:prstGeom>
          <a:ln w="1524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>
          <a:xfrm>
            <a:off x="179999" y="3337512"/>
            <a:ext cx="180001" cy="0"/>
          </a:xfrm>
          <a:prstGeom prst="line">
            <a:avLst/>
          </a:prstGeom>
          <a:ln w="1524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-90001" y="3779837"/>
            <a:ext cx="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Times New Roman"/>
              </a:rPr>
              <a:t>Vòng
phản
hồi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6408000"/>
            <a:ext cx="997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777777"/>
                </a:solidFill>
                <a:latin typeface="Times New Roman"/>
              </a:rPr>
              <a:t>Nguồn: Tác giả tổng hợp và đề xuất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341</Words>
  <Application>Microsoft Office PowerPoint</Application>
  <PresentationFormat>Custom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Tố Uyên</cp:lastModifiedBy>
  <cp:revision>2</cp:revision>
  <dcterms:created xsi:type="dcterms:W3CDTF">2013-01-27T09:14:16Z</dcterms:created>
  <dcterms:modified xsi:type="dcterms:W3CDTF">2026-07-01T18:47:09Z</dcterms:modified>
  <cp:category/>
</cp:coreProperties>
</file>