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"/>
            <a:ext cx="977493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latin typeface="Times New Roman"/>
              </a:rPr>
              <a:t>KHUNG LÝ THUYẾT NGHIÊN CỨU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365760"/>
            <a:ext cx="7946136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LÝ THUYẾT NỀN TẢNG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Lý thuyết quản lý công  •  Lý thuyết quản lý công mới  •  Lý thuyết quản trị số  •  Lý thuyết quản trị thích ứng  •  Lý thuyết thể chế  •  Lý thuyết về quyền sở hữu trí tuệ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44668" y="914400"/>
            <a:ext cx="0" cy="18288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371600" y="1097280"/>
            <a:ext cx="7946136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KHÁI NIỆM CỐT LÕI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Quyền sở hữu trí tuệ  •  Quản lý nhà nước  •  Kinh tế số  •  Quản trị số  •  Quản lý nhà nước về quyền SHTT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344668" y="1554480"/>
            <a:ext cx="0" cy="18288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74320" y="2011680"/>
            <a:ext cx="301752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CÁC YẾU TỐ ĐẦU VÀO</a:t>
            </a:r>
          </a:p>
          <a:p>
            <a:pPr algn="ctr"/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Nhóm thể chế: Pháp luật, Chính sách, Phối hợp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Nhóm nguồn lực: Nguồn nhân lực, Tài chính, Hạ tầng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Nhóm công nghệ: Dữ liệu số, AI, Nền tảng số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91840" y="2743200"/>
            <a:ext cx="36576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657600" y="1737360"/>
            <a:ext cx="384048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QUẢN LÝ NHÀ NƯỚC VỀ QUYỀN SHTT TRONG NỀN KINH TẾ SỐ</a:t>
            </a:r>
          </a:p>
          <a:p>
            <a:pPr algn="ctr"/>
          </a:p>
          <a:p>
            <a:pPr algn="l"/>
            <a:r>
              <a:rPr sz="1000" b="1" i="1">
                <a:solidFill>
                  <a:srgbClr val="000000"/>
                </a:solidFill>
                <a:latin typeface="Times New Roman"/>
              </a:rPr>
              <a:t>[Nội dung thực hiện]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1. Xây dựng chiến lược, chính sách và pháp luật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2. Tổ chức thực hiện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3. Hỗ trợ xác lập, khai thác, chuyển giao, thương mại hóa TSTT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4. Thanh tra, kiểm tra, giám sát và thực thi quyền SHTT</a:t>
            </a:r>
          </a:p>
          <a:p>
            <a:pPr algn="ctr"/>
          </a:p>
          <a:p>
            <a:pPr algn="l"/>
            <a:r>
              <a:rPr sz="1000" b="1" i="1">
                <a:solidFill>
                  <a:srgbClr val="000000"/>
                </a:solidFill>
                <a:latin typeface="Times New Roman"/>
              </a:rPr>
              <a:t>[Năng lực thực thi]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Năng lực hoạch định và tổ chức thực hiện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Năng lực phối hợp liên ngành và chuyển đổi số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577840" y="4206240"/>
            <a:ext cx="0" cy="36576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931920" y="4572000"/>
            <a:ext cx="329184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CHẤT LƯỢNG QUẢN LÝ NHÀ NƯỚC VỀ QUYỀN SHTT</a:t>
            </a:r>
          </a:p>
          <a:p>
            <a:pPr algn="ctr"/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Hiệu lực   • Hiệu quả   • Tính phù hợp   • Tính đồng bộ   • Tính minh bạch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577840" y="5394960"/>
            <a:ext cx="0" cy="36576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749039" y="5760720"/>
            <a:ext cx="36576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KẾT QUẢ VÀ TÁC ĐỘNG</a:t>
            </a:r>
          </a:p>
          <a:p>
            <a:pPr algn="ctr"/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Bảo vệ hiệu quả quyền SHTT       • Thúc đẩy đổi mới sáng tạo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Phát triển tài sản trí tuệ         • Nâng cao năng lực cạnh tranh quốc gia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Thúc đẩy phát triển kinh tế số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2834640"/>
            <a:ext cx="274320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CÁC YẾU TỐ ẢNH HƯỞNG (ĐIỀU TIẾT)</a:t>
            </a:r>
          </a:p>
          <a:p>
            <a:pPr algn="ctr"/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Mức độ phát triển kinh tế số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Năng lực đổi mới sáng tạo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Hội nhập quốc tế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Nhận thức xã hội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Mức độ cạnh tranh thị trường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5577840" y="4389120"/>
            <a:ext cx="2103120" cy="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371600" y="6858000"/>
            <a:ext cx="7946136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PHẢN HỒI CHÍNH SÁCH</a:t>
            </a:r>
          </a:p>
          <a:p>
            <a:pPr algn="ctr"/>
            <a:r>
              <a:rPr sz="1000">
                <a:solidFill>
                  <a:srgbClr val="000000"/>
                </a:solidFill>
                <a:latin typeface="Times New Roman"/>
              </a:rPr>
              <a:t>Kết quả thực hiện  ➔  Đánh giá  ➔  Điều chỉnh chính sách, thể chế, công cụ  ➔  Hoàn thiện QLNN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577840" y="6675120"/>
            <a:ext cx="0" cy="18288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137160" y="7086600"/>
            <a:ext cx="1234440" cy="0"/>
          </a:xfrm>
          <a:prstGeom prst="line">
            <a:avLst/>
          </a:prstGeom>
          <a:ln w="1905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37160" y="1600200"/>
            <a:ext cx="0" cy="5486400"/>
          </a:xfrm>
          <a:prstGeom prst="line">
            <a:avLst/>
          </a:prstGeom>
          <a:ln w="1905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37160" y="1600200"/>
            <a:ext cx="4251960" cy="0"/>
          </a:xfrm>
          <a:prstGeom prst="line">
            <a:avLst/>
          </a:prstGeom>
          <a:ln w="1905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389120" y="1600200"/>
            <a:ext cx="0" cy="13716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