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raight Connector 1"/>
          <p:cNvSpPr/>
          <p:nvPr/>
        </p:nvSpPr>
        <p:spPr>
          <a:xfrm>
            <a:off x="182880" y="274320"/>
            <a:ext cx="7196328" cy="0"/>
          </a:xfrm>
          <a:prstGeom prst="lineInv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82879"/>
            <a:ext cx="7196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latin typeface="Times New Roman"/>
              </a:rPr>
              <a:t>TẦNG 1: THEORETICAL FRAMEWORK (Nghiên cứu dựa trên lý thuyết nào?)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6647688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Lý thuyết Quản lý công                 Lý thuyết Quản trị số                 Lý thuyết Đổi mới sáng tạo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Lý thuyết Quản trị công mới            Lý thuyết Thể chế                  Lý thuyết Quyền SHTT</a:t>
            </a:r>
          </a:p>
        </p:txBody>
      </p:sp>
      <p:sp>
        <p:nvSpPr>
          <p:cNvPr id="5" name="Down Arrow 4"/>
          <p:cNvSpPr/>
          <p:nvPr/>
        </p:nvSpPr>
        <p:spPr>
          <a:xfrm>
            <a:off x="3657600" y="1280160"/>
            <a:ext cx="246888" cy="18288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5733288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Khái niệm cốt lõi: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Quyền SHTT  -  Nhà nước  -  Quản lý nhà nước  -  Kinh tế số  -  Quản trị số</a:t>
            </a:r>
          </a:p>
        </p:txBody>
      </p:sp>
      <p:sp>
        <p:nvSpPr>
          <p:cNvPr id="7" name="Straight Connector 6"/>
          <p:cNvSpPr/>
          <p:nvPr/>
        </p:nvSpPr>
        <p:spPr>
          <a:xfrm>
            <a:off x="182880" y="2103120"/>
            <a:ext cx="7196328" cy="0"/>
          </a:xfrm>
          <a:prstGeom prst="lineInv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011679"/>
            <a:ext cx="7196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latin typeface="Times New Roman"/>
              </a:rPr>
              <a:t>TẦNG 2: ANALYTICAL / CONCEPTUAL FRAMEWORK (Phân tích cái gì?)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77440"/>
            <a:ext cx="4818888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QUẢN LÝ NHÀ NƯỚC VỀ QUYỀN SHTT TRONG NỀN KINH TẾ SỐ</a:t>
            </a:r>
          </a:p>
        </p:txBody>
      </p:sp>
      <p:sp>
        <p:nvSpPr>
          <p:cNvPr id="10" name="Straight Connector 9"/>
          <p:cNvSpPr/>
          <p:nvPr/>
        </p:nvSpPr>
        <p:spPr>
          <a:xfrm>
            <a:off x="3781044" y="2834640"/>
            <a:ext cx="0" cy="182880"/>
          </a:xfrm>
          <a:prstGeom prst="lineInv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aight Connector 10"/>
          <p:cNvSpPr/>
          <p:nvPr/>
        </p:nvSpPr>
        <p:spPr>
          <a:xfrm>
            <a:off x="1463040" y="3017520"/>
            <a:ext cx="4636008" cy="0"/>
          </a:xfrm>
          <a:prstGeom prst="lineInv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1371600" y="3017520"/>
            <a:ext cx="182880" cy="18288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3689604" y="3017520"/>
            <a:ext cx="182880" cy="18288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6007608" y="3017520"/>
            <a:ext cx="182880" cy="18288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20116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NỘI DUNG QLNN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Chiến lược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Chính sách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Pháp luật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Tổ chức thực hiện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Hỗ trợ thương mại hóa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Thanh tra, thực thi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75204" y="3200400"/>
            <a:ext cx="20116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CÔNG CỤ QLNN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Công cụ Pháp luật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Công cụ Hành chính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Công cụ Kinh tế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Công cụ Công nghệ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93208" y="3200400"/>
            <a:ext cx="20116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YẾU TỐ ẢNH HƯỞNG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Thể chế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Công nghệ số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Trí tuệ nhân tạo (AI)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Dữ liệu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Nguồn nhân lực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Phối hợp liên ngành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• Hợp tác, Nhận thức</a:t>
            </a:r>
          </a:p>
        </p:txBody>
      </p:sp>
      <p:sp>
        <p:nvSpPr>
          <p:cNvPr id="18" name="Straight Connector 17"/>
          <p:cNvSpPr/>
          <p:nvPr/>
        </p:nvSpPr>
        <p:spPr>
          <a:xfrm>
            <a:off x="1463040" y="5212080"/>
            <a:ext cx="4636008" cy="0"/>
          </a:xfrm>
          <a:prstGeom prst="lineInv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aight Connector 18"/>
          <p:cNvSpPr/>
          <p:nvPr/>
        </p:nvSpPr>
        <p:spPr>
          <a:xfrm>
            <a:off x="1463040" y="5029200"/>
            <a:ext cx="0" cy="182880"/>
          </a:xfrm>
          <a:prstGeom prst="lineInv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aight Connector 19"/>
          <p:cNvSpPr/>
          <p:nvPr/>
        </p:nvSpPr>
        <p:spPr>
          <a:xfrm>
            <a:off x="3781044" y="5029200"/>
            <a:ext cx="0" cy="182880"/>
          </a:xfrm>
          <a:prstGeom prst="lineInv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6099048" y="5029200"/>
            <a:ext cx="0" cy="182880"/>
          </a:xfrm>
          <a:prstGeom prst="lineInv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3689604" y="5212080"/>
            <a:ext cx="182880" cy="18288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0" y="5394960"/>
            <a:ext cx="4818888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CHẤT LƯỢNG QLNN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Hiệu lực - Hiệu quả - Phù hợp - Đồng bộ - Minh bạch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657600" y="5852160"/>
            <a:ext cx="246888" cy="18288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6035040"/>
            <a:ext cx="4818888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TÁC ĐỘNG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Bảo vệ quyền SHTT - Đổi mới sáng tạo - Phát triển kinh tế số</a:t>
            </a:r>
          </a:p>
        </p:txBody>
      </p:sp>
      <p:sp>
        <p:nvSpPr>
          <p:cNvPr id="26" name="Straight Connector 25"/>
          <p:cNvSpPr/>
          <p:nvPr/>
        </p:nvSpPr>
        <p:spPr>
          <a:xfrm>
            <a:off x="182880" y="6675120"/>
            <a:ext cx="7196328" cy="0"/>
          </a:xfrm>
          <a:prstGeom prst="lineInv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6583680"/>
            <a:ext cx="7196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latin typeface="Times New Roman"/>
              </a:rPr>
              <a:t>TẦNG 3: RESEARCH FRAMEWORK (Luận án triển khai nghiên cứu như thế nào?)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7040880"/>
            <a:ext cx="3904487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Tổng quan nghiên cứu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3657600" y="7498079"/>
            <a:ext cx="246888" cy="22860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7726679"/>
            <a:ext cx="3904487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Cơ sở lý luận và khung phân tích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3657600" y="8183879"/>
            <a:ext cx="246888" cy="22860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8412480"/>
            <a:ext cx="3904487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Phân tích thực trạng QLNN về quyền SHTT trong nền kinh tế số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3657600" y="8869680"/>
            <a:ext cx="246888" cy="22860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0" y="9098280"/>
            <a:ext cx="3904487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Đánh giá kết quả, hạn chế, nguyên nhân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3657600" y="9555480"/>
            <a:ext cx="246888" cy="22860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8800" y="9784080"/>
            <a:ext cx="3904487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Quan điểm, định hướng và giải pháp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