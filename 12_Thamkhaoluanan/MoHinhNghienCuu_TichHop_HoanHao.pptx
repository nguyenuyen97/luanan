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774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latin typeface="Times New Roman"/>
              </a:rPr>
              <a:t>KHUNG NGHIÊN CỨU TỔNG THỂ</a:t>
            </a:r>
          </a:p>
          <a:p>
            <a:pPr algn="ctr"/>
            <a:r>
              <a:rPr sz="1200" i="1">
                <a:latin typeface="Times New Roman"/>
              </a:rPr>
              <a:t>(Tích hợp Mô hình định lượng SEM &amp; Chuỗi giá trị IPOOIF)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548640"/>
            <a:ext cx="7946136" cy="4572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Lý thuyết quản lý công   •   Lý thuyết thể chế   •   Lý thuyết quyền SHTT   •   Lý thuyết KT số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097280"/>
            <a:ext cx="2286000" cy="4572000"/>
          </a:xfrm>
          <a:prstGeom prst="roundRect">
            <a:avLst/>
          </a:prstGeom>
          <a:noFill/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CÁC BIẾN ĐỘC LẬP (INPUT)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4173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Khung pháp lý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1031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Năng lực cán bộ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7889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Nguồn lực tài chính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34747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Hạ tầng số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41605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Phối hợp thể chế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8463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Nhận thức xã hội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468880"/>
            <a:ext cx="2194560" cy="1645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TRUNG GIAN (OUTPUT)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Mức độ CĐS trong quản lý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Số hóa &amp; liên thông CSDL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Tự động hóa quy trình nội bộ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Cung cấp dịch vụ công trực tuyến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468880"/>
            <a:ext cx="2194560" cy="17373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PHỤ THUỘC (KẾT QUẢ)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Hiệu quả QLNN về quyền SHTT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Hiệu lực bảo vệ pháp lý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Tính minh bạch thông tin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Tốc độ &amp; năng lực phản ứng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hài lòng của xã hội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560320"/>
            <a:ext cx="2194560" cy="1463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TÁC ĐỘNG VĨ MÔ (IMPACT)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Thúc đẩy Đổi mới sáng tạo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Gia tăng tài sản trí tuệ quốc gia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Đóng góp Phát triển KT số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1668780"/>
            <a:ext cx="502920" cy="16230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2354579"/>
            <a:ext cx="502920" cy="93726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31720" y="3040379"/>
            <a:ext cx="502920" cy="25146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331720" y="3291840"/>
            <a:ext cx="502920" cy="4343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331720" y="3291840"/>
            <a:ext cx="502920" cy="11201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331720" y="3291840"/>
            <a:ext cx="502920" cy="18059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29200" y="3291840"/>
            <a:ext cx="45720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80960" y="3291840"/>
            <a:ext cx="45720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14800" y="1097280"/>
            <a:ext cx="2377440" cy="11887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ĐIỀU TIẾT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Mức độ phát triển KT số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Hạ tầng số của địa phương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ứng dụng TMĐT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Tính phổ cập công nghệ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03520" y="2286000"/>
            <a:ext cx="0" cy="10058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486400" y="4480560"/>
            <a:ext cx="2194560" cy="11887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KIỂM SOÁT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Loại địa phương (Tỉnh/Thành)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Quy mô kinh tế (GRDP)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Đặc thù ngành nghề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583680" y="420624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280160" y="5943600"/>
            <a:ext cx="7955279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PHẢN HỒI CHÍNH SÁCH (FEEDBACK)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Điều chỉnh chính sách   •   Hoàn thiện pháp luật   •   Nâng cấp nguồn lực   •   Đổi mới mô hình quản lý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35440" y="4023360"/>
            <a:ext cx="0" cy="19202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25880" y="566928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286000" y="1005840"/>
            <a:ext cx="0" cy="914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03520" y="1005840"/>
            <a:ext cx="0" cy="914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83680" y="1005840"/>
            <a:ext cx="0" cy="14630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