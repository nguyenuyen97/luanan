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365760"/>
            <a:ext cx="10506456" cy="6858000"/>
          </a:xfrm>
          <a:prstGeom prst="roundRect">
            <a:avLst/>
          </a:prstGeom>
          <a:solidFill>
            <a:srgbClr val="F8FCFF"/>
          </a:solidFill>
          <a:ln w="25400">
            <a:solidFill>
              <a:srgbClr val="0066C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0"/>
            <a:ext cx="10506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3399"/>
                </a:solidFill>
                <a:latin typeface="Times New Roman"/>
              </a:rPr>
              <a:t>NỀN KINH TẾ SỐ (Bối cảnh nghiên cứu bao trùm toàn bộ hệ thống)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1920240" cy="457200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INPUT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(Các biến độc lập)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Khung pháp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9456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Nguồn nhân lực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834639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Nguồn lực tài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47472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Hạ tầng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1480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Dữ liệu số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754880"/>
            <a:ext cx="173736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Phối hợp thể chế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103120"/>
            <a:ext cx="17373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PROCESS</a:t>
            </a:r>
          </a:p>
          <a:p>
            <a:pPr algn="ctr"/>
            <a:r>
              <a:rPr sz="1000" i="1" b="1">
                <a:solidFill>
                  <a:srgbClr val="000000"/>
                </a:solidFill>
                <a:latin typeface="Times New Roman"/>
              </a:rPr>
              <a:t>Năng lực quản trị số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(Biến trung gian)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Hoạch định chính sách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thực thi &amp; vận hành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Quản trị nền tảng SHTT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17373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OUTPUT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(Kết quả đầu ra)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CSDL SHTT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Dịch vụ công trực tuyến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Hồ sơ điện tử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Kết nối &amp; chia sẻ dữ liệu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Phát hiện vi phạm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103120"/>
            <a:ext cx="17373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OUTCOME</a:t>
            </a:r>
          </a:p>
          <a:p>
            <a:pPr algn="ctr"/>
            <a:r>
              <a:rPr sz="1000" i="1" b="1">
                <a:solidFill>
                  <a:srgbClr val="000000"/>
                </a:solidFill>
                <a:latin typeface="Times New Roman"/>
              </a:rPr>
              <a:t>Hiệu quả QLNN về SHTT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(Biến phụ thuộc)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quản lý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quả quản lý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Tính minh bạch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Khả năng thích ứng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hài lòng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554480"/>
            <a:ext cx="19202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Times New Roman"/>
              </a:rPr>
              <a:t>IMPACT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(Tác động vĩ mô)</a:t>
            </a:r>
          </a:p>
          <a:p>
            <a:pPr algn="ctr"/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Hiệu quả bảo vệ quyền SHTT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 ⬇ 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Đổi mới sáng tạo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 ⬇ 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Gia tăng giá trị TSTT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 ⬇ 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Nâng cao năng lực cạnh tranh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 ⬇ </a:t>
            </a:r>
          </a:p>
          <a:p>
            <a:pPr algn="ctr"/>
            <a:r>
              <a:rPr sz="900">
                <a:solidFill>
                  <a:srgbClr val="000000"/>
                </a:solidFill>
                <a:latin typeface="Times New Roman"/>
              </a:rPr>
              <a:t>Phát triển kinh tế số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11680" y="1805940"/>
            <a:ext cx="320040" cy="14859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11680" y="2446020"/>
            <a:ext cx="320040" cy="8458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1680" y="3086099"/>
            <a:ext cx="320040" cy="20574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011680" y="3291840"/>
            <a:ext cx="320040" cy="4343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11680" y="3291840"/>
            <a:ext cx="320040" cy="10744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11680" y="3291840"/>
            <a:ext cx="320040" cy="17145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69080" y="3291840"/>
            <a:ext cx="32004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3291840"/>
            <a:ext cx="32004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83879" y="3291840"/>
            <a:ext cx="320041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03520" y="1005840"/>
            <a:ext cx="20116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Mức độ phát triển KT số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1737360"/>
            <a:ext cx="0" cy="15544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97280" y="6217920"/>
            <a:ext cx="83210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POLICY FEEDBACK (Phản hồi chính sách)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Điều chỉnh chính sách   •   Hoàn thiện pháp luật   •   Nâng cấp nguồn lực   •   Đổi mới mô hình quản lý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64040" y="502920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418320" y="6492240"/>
            <a:ext cx="4572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97280" y="5669280"/>
            <a:ext cx="45720" cy="8229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