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65760"/>
            <a:ext cx="7946136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Lý thuyết quản lý công  •  Lý thuyết quản lý công mới  •  Lý thuyết quản trị số  •  Lý thuyết quản trị thích ứng  •  Lý thuyết thể chế  •  Lý thuyết về quyền sở hữu trí tuệ</a:t>
            </a:r>
          </a:p>
        </p:txBody>
      </p:sp>
      <p:sp>
        <p:nvSpPr>
          <p:cNvPr id="4" name="Down Arrow 3"/>
          <p:cNvSpPr/>
          <p:nvPr/>
        </p:nvSpPr>
        <p:spPr>
          <a:xfrm>
            <a:off x="5257800" y="914400"/>
            <a:ext cx="182880" cy="18288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09728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KHÁI NIỆM CỐT LÕI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Quyền sở hữu trí tuệ  •  Quản lý nhà nước  •  Kinh tế số  •  Quản trị số  •  Quản lý nhà nước về quyền SHTT</a:t>
            </a:r>
          </a:p>
        </p:txBody>
      </p:sp>
      <p:sp>
        <p:nvSpPr>
          <p:cNvPr id="6" name="Down Arrow 5"/>
          <p:cNvSpPr/>
          <p:nvPr/>
        </p:nvSpPr>
        <p:spPr>
          <a:xfrm>
            <a:off x="5257800" y="1554480"/>
            <a:ext cx="182880" cy="22860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2926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ĐỘC LẬP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CÁC YẾU TỐ ĐẦU VÀO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thể chế: Pháp luật, Chính sách, Cơ chế phối hợp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nguồn lực: Nguồn nhân lực, Tài chính, Hạ tầng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công nghệ: Dữ liệu số, AI, Nền tảng số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83280" y="2514600"/>
            <a:ext cx="457200" cy="18288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1783080"/>
            <a:ext cx="3383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TÂM NGHIÊN CỨU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QUẢN LÝ NHÀ NƯỚC VỀ QUYỀN SHTT TRONG NỀN KINH TẾ SỐ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1. Xây dựng chiến lược, chính sách,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2.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3. Hỗ trợ xác lập, khai thác, chuyển giao, thương mại hóa tài sản trí tuệ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4. Thanh tra, kiểm tra, giám sát, thực thi quyền sở hữu trí tuệ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440680" y="3246120"/>
            <a:ext cx="182880" cy="22860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23360" y="3474720"/>
            <a:ext cx="3017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GIAN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NĂNG LỰC QLNN VỀ QUYỀN SHTT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hoạch định chính sách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phối hợp liên ngành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chuyển đổi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thanh tra và thực thi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440680" y="4754880"/>
            <a:ext cx="182880" cy="22860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023360" y="4983480"/>
            <a:ext cx="30175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CHẤT LƯỢNG QLNN VỀ QUYỀN SỞ HỮU TRÍ TUỆ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Hiệu lực   • Hiệu quả   • Tính phù hợp   • Tính đồng bộ   • Tính minh bạch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440680" y="5715000"/>
            <a:ext cx="182880" cy="22860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40480" y="5943600"/>
            <a:ext cx="3383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Bảo vệ hiệu quả quyền SHTT       • Thúc đẩy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Phát triển tài sản trí tuệ         • Nâng cao năng lực cạnh tranh quốc gia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phát triển kinh tế số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65176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YẾU TỐ ĐIỀU TIẾT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(Các yếu tố ảnh hưởng)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phát triển kinh tế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Hội nhập quốc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Nhận thức xã hội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cạnh tranh thị trường</a:t>
            </a:r>
          </a:p>
        </p:txBody>
      </p:sp>
      <p:sp>
        <p:nvSpPr>
          <p:cNvPr id="17" name="Straight Connector 16"/>
          <p:cNvSpPr/>
          <p:nvPr/>
        </p:nvSpPr>
        <p:spPr>
          <a:xfrm>
            <a:off x="7589520" y="3360420"/>
            <a:ext cx="-1874519" cy="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6200000">
            <a:off x="5715000" y="3305556"/>
            <a:ext cx="109728" cy="109728"/>
          </a:xfrm>
          <a:prstGeom prst="triangl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aight Connector 18"/>
          <p:cNvSpPr/>
          <p:nvPr/>
        </p:nvSpPr>
        <p:spPr>
          <a:xfrm>
            <a:off x="7589520" y="4869180"/>
            <a:ext cx="-1874519" cy="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6200000">
            <a:off x="5715000" y="4814316"/>
            <a:ext cx="109728" cy="109728"/>
          </a:xfrm>
          <a:prstGeom prst="triangl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raight Connector 20"/>
          <p:cNvSpPr/>
          <p:nvPr/>
        </p:nvSpPr>
        <p:spPr>
          <a:xfrm>
            <a:off x="7589520" y="3360420"/>
            <a:ext cx="0" cy="150876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71600" y="694944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Kết quả thực hiện  ➔  Đánh giá  ➔  Điều chỉnh chính sách, thể chế, công cụ  ➔  Hoàn thiện QLNN</a:t>
            </a:r>
          </a:p>
        </p:txBody>
      </p:sp>
      <p:sp>
        <p:nvSpPr>
          <p:cNvPr id="23" name="Straight Connector 22"/>
          <p:cNvSpPr/>
          <p:nvPr/>
        </p:nvSpPr>
        <p:spPr>
          <a:xfrm>
            <a:off x="5532120" y="6766560"/>
            <a:ext cx="0" cy="18288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5477256" y="6839712"/>
            <a:ext cx="109728" cy="109728"/>
          </a:xfrm>
          <a:prstGeom prst="triangl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raight Connector 24"/>
          <p:cNvSpPr/>
          <p:nvPr/>
        </p:nvSpPr>
        <p:spPr>
          <a:xfrm>
            <a:off x="1371600" y="7178040"/>
            <a:ext cx="-1188720" cy="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raight Connector 25"/>
          <p:cNvSpPr/>
          <p:nvPr/>
        </p:nvSpPr>
        <p:spPr>
          <a:xfrm>
            <a:off x="182880" y="7178040"/>
            <a:ext cx="0" cy="-557784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raight Connector 26"/>
          <p:cNvSpPr/>
          <p:nvPr/>
        </p:nvSpPr>
        <p:spPr>
          <a:xfrm>
            <a:off x="182880" y="1600200"/>
            <a:ext cx="4297680" cy="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raight Connector 27"/>
          <p:cNvSpPr/>
          <p:nvPr/>
        </p:nvSpPr>
        <p:spPr>
          <a:xfrm>
            <a:off x="4480560" y="1600200"/>
            <a:ext cx="0" cy="182880"/>
          </a:xfrm>
          <a:prstGeom prst="lineInv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4425696" y="1673352"/>
            <a:ext cx="109728" cy="109728"/>
          </a:xfrm>
          <a:prstGeom prst="triangl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