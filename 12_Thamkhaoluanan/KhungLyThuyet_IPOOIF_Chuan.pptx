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97749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KHUNG LÝ THUYẾT: QUẢN LÝ NHÀ NƯỚC VỀ QUYỀN SHTT TRONG NỀN KINH TẾ SỐ</a:t>
            </a:r>
          </a:p>
          <a:p>
            <a:pPr algn="ctr"/>
            <a:r>
              <a:rPr sz="1200" i="1">
                <a:latin typeface="Times New Roman"/>
              </a:rPr>
              <a:t>(Tiếp cận theo hệ thống IPOOIF)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822960"/>
            <a:ext cx="10415016" cy="6492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1">
                <a:latin typeface="Times New Roman"/>
              </a:rPr>
              <a:t>BỐI CẢNH: NỀN KINH TẾ SỐ (Môi trường nghiên cứu)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164592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1. INPUT (Đầu vào)</a:t>
            </a:r>
          </a:p>
          <a:p>
            <a:pPr algn="ctr"/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Khung pháp lý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Nguồn nhân lực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Nguồn lực tài chính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Hạ tầng số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Dữ liệu số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Phối hợp thể chế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63040"/>
            <a:ext cx="2194560" cy="3474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2. PROCESS (Quá trình)</a:t>
            </a:r>
          </a:p>
          <a:p>
            <a:pPr algn="ctr"/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Hoạch định chính sách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Ban hành &amp; thực thi pháp luật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Đăng ký &amp; xác lập quyền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Thanh tra, kiểm tra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Xử lý vi phạm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Giải quyết tranh chấp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Quản lý dữ liệu SHTT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Giám sát môi trường số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Hợp tác quốc tế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Quản trị nền tảng số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103120"/>
            <a:ext cx="192024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3. OUTPUT (Đầu ra)</a:t>
            </a:r>
          </a:p>
          <a:p>
            <a:pPr algn="ctr"/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Cơ sở dữ liệu SHTT số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Dịch vụ công trực tuyến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Hồ sơ điện tử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Kết nối &amp; chia sẻ dữ liệu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Nâng cao phát hiện vi phạm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03120"/>
            <a:ext cx="1920240" cy="21945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4. OUTCOME (Kết quả)</a:t>
            </a:r>
          </a:p>
          <a:p>
            <a:pPr algn="ctr"/>
          </a:p>
          <a:p>
            <a:pPr algn="ctr"/>
            <a:r>
              <a:rPr sz="900" i="1">
                <a:solidFill>
                  <a:srgbClr val="000000"/>
                </a:solidFill>
                <a:latin typeface="Times New Roman"/>
              </a:rPr>
              <a:t>Hiệu quả QLNN về quyền SHTT: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Hiệu lực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Hiệu quả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Tính minh bạch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Khả năng thích ứng số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Mức độ hài lòng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194560"/>
            <a:ext cx="164592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5. IMPACT (Tác động)</a:t>
            </a:r>
          </a:p>
          <a:p>
            <a:pPr algn="ctr"/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Hiệu quả bảo vệ quyền SHTT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Thúc đẩy Đổi mới sáng tạo</a:t>
            </a:r>
          </a:p>
          <a:p>
            <a:pPr algn="l"/>
            <a:r>
              <a:rPr sz="900">
                <a:solidFill>
                  <a:srgbClr val="000000"/>
                </a:solidFill>
                <a:latin typeface="Times New Roman"/>
              </a:rPr>
              <a:t>• Phát triển kinh tế số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320040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320040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92240" y="320040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95360" y="320040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88720" y="5486400"/>
            <a:ext cx="8412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6. FEEDBACK (Phản hồi chính sách)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Điều chỉnh chính sách   •   Hoàn thiện pháp luật   •   Nâng cấp nguồn lực   •   Đổi mới mô hình quản lý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0" y="4206240"/>
            <a:ext cx="0" cy="12801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88720" y="4297680"/>
            <a:ext cx="0" cy="11887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