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88155" y="137160"/>
            <a:ext cx="381213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latin typeface="Times New Roman"/>
              </a:rPr>
              <a:t>KHUNG NGHIÊN CỨU CỦA LUẬN ÁN</a:t>
            </a:r>
            <a:endParaRPr lang="en-US" sz="1600" b="1" dirty="0">
              <a:latin typeface="Times New Roman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71600" y="548640"/>
            <a:ext cx="64008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Times New Roman"/>
              </a:rPr>
              <a:t>TỔNG QUAN NGHIÊN CỨU VÀ PHƯƠNG PHÁP NGHIÊN CỨU </a:t>
            </a:r>
            <a:endParaRPr lang="en-US" sz="11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100" b="1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Xác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định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khoảng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trống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nghiên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cứu</a:t>
            </a:r>
            <a:endParaRPr sz="11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100" b="1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Đối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tượng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phạm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vi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nghiên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cứu</a:t>
            </a:r>
            <a:endParaRPr sz="11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100" b="1" dirty="0">
                <a:solidFill>
                  <a:srgbClr val="000000"/>
                </a:solidFill>
                <a:latin typeface="Times New Roman"/>
              </a:rPr>
              <a:t>- Phương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pháp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thu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thập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phân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tích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dữ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liệu</a:t>
            </a:r>
            <a:endParaRPr sz="11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Down Arrow 3"/>
          <p:cNvSpPr/>
          <p:nvPr/>
        </p:nvSpPr>
        <p:spPr>
          <a:xfrm>
            <a:off x="4389120" y="1280160"/>
            <a:ext cx="365760" cy="27432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8351822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2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82880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Chủ thể quản lý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(Chính phủ, Các Bộ, Ngành cấp TW)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18288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Khách thể quản lý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Times New Roman"/>
              </a:rPr>
              <a:t>(Quyền tác giả, quyền liên quan, quyền sở hữu công nghiệp)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2011680"/>
            <a:ext cx="29260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NỘI DUNG QUẢN LÝ NHÀ NƯỚC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1. Xây dựng chiến lược, chính sách, pháp luật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2. Tổ chức thực hiện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3. Hỗ trợ xác lập, khai thác, thương mại hóa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4. Thanh tra, kiểm tra, thực thi quyền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2011680"/>
            <a:ext cx="146304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Times New Roman"/>
              </a:rPr>
              <a:t>TIÊU CHÍ ĐÁNH GIÁ</a:t>
            </a:r>
          </a:p>
          <a:p>
            <a:pPr algn="ctr"/>
            <a:r>
              <a:rPr sz="1000" b="0" dirty="0">
                <a:solidFill>
                  <a:srgbClr val="000000"/>
                </a:solidFill>
                <a:latin typeface="Times New Roman"/>
              </a:rPr>
              <a:t>1. Hiệu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lực</a:t>
            </a:r>
            <a:endParaRPr sz="1000" b="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000" b="0" dirty="0">
                <a:solidFill>
                  <a:srgbClr val="000000"/>
                </a:solidFill>
                <a:latin typeface="Times New Roman"/>
              </a:rPr>
              <a:t>2. Hiệu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quả</a:t>
            </a:r>
            <a:endParaRPr sz="1000" b="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000" b="0" dirty="0">
                <a:solidFill>
                  <a:srgbClr val="000000"/>
                </a:solidFill>
                <a:latin typeface="Times New Roman"/>
              </a:rPr>
              <a:t>3.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phù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hợp</a:t>
            </a:r>
            <a:endParaRPr sz="1000" b="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000" b="0" dirty="0">
                <a:solidFill>
                  <a:srgbClr val="000000"/>
                </a:solidFill>
                <a:latin typeface="Times New Roman"/>
              </a:rPr>
              <a:t>4.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đồng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bộ</a:t>
            </a:r>
            <a:endParaRPr sz="1000" b="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000" b="0" dirty="0">
                <a:solidFill>
                  <a:srgbClr val="000000"/>
                </a:solidFill>
                <a:latin typeface="Times New Roman"/>
              </a:rPr>
              <a:t>5.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Tính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minh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bạch</a:t>
            </a:r>
            <a:endParaRPr sz="1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23759" y="2011680"/>
            <a:ext cx="1463039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0" dirty="0">
                <a:solidFill>
                  <a:srgbClr val="000000"/>
                </a:solidFill>
                <a:latin typeface="Times New Roman"/>
              </a:rPr>
              <a:t>YẾU TỐ ẢNH HƯỞNG</a:t>
            </a:r>
          </a:p>
          <a:p>
            <a:pPr algn="ctr"/>
            <a:r>
              <a:rPr sz="1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Yếu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tố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bên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trong</a:t>
            </a:r>
            <a:endParaRPr sz="1000" b="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000" b="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Yếu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tố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bên</a:t>
            </a:r>
            <a:r>
              <a:rPr sz="1000" b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Times New Roman"/>
              </a:rPr>
              <a:t>ngoài</a:t>
            </a:r>
            <a:endParaRPr sz="1000" b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4389120" y="3657600"/>
            <a:ext cx="365760" cy="27432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8229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12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4297680"/>
            <a:ext cx="2743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ĐÁNH GIÁ THỰC TRẠNG THEO 04 NỘI DUNG QUẢN LÝ NHÀ NƯỚC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74720" y="4389120"/>
            <a:ext cx="27432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0" y="4297680"/>
            <a:ext cx="210312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ĐO LƯỜNG THEO 05 TIÊU CHÍ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(Hiệu lực, Hiệu quả, Phù hợp,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Đồng bộ, Minh bạch)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35040" y="4389120"/>
            <a:ext cx="27432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4297680"/>
            <a:ext cx="21031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RÚT RA KẾT LUẬN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- Kết quả đạt được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- Hạn chế, yếu kém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- Nguyên nhân (từ các yếu tố ảnh hưởng)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389120" y="5577840"/>
            <a:ext cx="365760" cy="274320"/>
          </a:xfrm>
          <a:prstGeom prst="downArrow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371600" y="5852160"/>
            <a:ext cx="64008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0000"/>
                </a:solidFill>
                <a:latin typeface="Times New Roman"/>
              </a:rPr>
              <a:t>QUAN ĐIỂM, ĐỊNH HƯỚNG VÀ GIẢI PHÁP HOÀN THIỆN </a:t>
            </a:r>
            <a:endParaRPr lang="en-US" sz="1100" b="1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100" b="1" dirty="0" err="1">
                <a:solidFill>
                  <a:srgbClr val="000000"/>
                </a:solidFill>
                <a:latin typeface="Times New Roman"/>
              </a:rPr>
              <a:t>Đề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xuất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nhóm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giải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pháp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tương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ứng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với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04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nội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dung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quản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lý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khắc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phục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các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nguyên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nhân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hạn</a:t>
            </a:r>
            <a:r>
              <a:rPr sz="11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100" b="1" dirty="0" err="1">
                <a:solidFill>
                  <a:srgbClr val="000000"/>
                </a:solidFill>
                <a:latin typeface="Times New Roman"/>
              </a:rPr>
              <a:t>chế</a:t>
            </a:r>
            <a:endParaRPr sz="11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D5E862-7782-8431-CC76-1D1D6C0706BE}"/>
              </a:ext>
            </a:extLst>
          </p:cNvPr>
          <p:cNvSpPr txBox="1"/>
          <p:nvPr/>
        </p:nvSpPr>
        <p:spPr>
          <a:xfrm>
            <a:off x="2203457" y="1593500"/>
            <a:ext cx="5377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000000"/>
                </a:solidFill>
                <a:latin typeface="Times New Roman"/>
              </a:rPr>
              <a:t>CƠ SỞ LÝ LUẬN VÀ KINH NGHIỆM QUỐC TẾ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341876-8F69-A984-3529-580E79A7A5BA}"/>
              </a:ext>
            </a:extLst>
          </p:cNvPr>
          <p:cNvSpPr txBox="1"/>
          <p:nvPr/>
        </p:nvSpPr>
        <p:spPr>
          <a:xfrm>
            <a:off x="681046" y="3931920"/>
            <a:ext cx="8147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600" b="1" dirty="0">
                <a:solidFill>
                  <a:srgbClr val="000000"/>
                </a:solidFill>
                <a:latin typeface="Times New Roman"/>
              </a:rPr>
              <a:t>THỰC TRẠNG QUẢN LÝ NHÀ NƯỚC VỀ SỞ HỮU TRÍ TUỆ TRONG KINH TẾ</a:t>
            </a: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 SỐ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279</Words>
  <Application>Microsoft Office PowerPoint</Application>
  <PresentationFormat>On-screen Show (4:3)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Thị Tố Uyên</cp:lastModifiedBy>
  <cp:revision>2</cp:revision>
  <dcterms:created xsi:type="dcterms:W3CDTF">2013-01-27T09:14:16Z</dcterms:created>
  <dcterms:modified xsi:type="dcterms:W3CDTF">2026-06-29T11:46:49Z</dcterms:modified>
  <cp:category/>
</cp:coreProperties>
</file>