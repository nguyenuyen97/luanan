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KHUNG PHÂN TÍCH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444444"/>
                </a:solidFill>
                <a:latin typeface="Times New Roman"/>
              </a:rPr>
              <a:t>Quản lý nhà nước về quyền sở hữu trí tuệ trong nền kinh tế số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7946136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333333"/>
                </a:solidFill>
                <a:latin typeface="Times New Roman"/>
              </a:rPr>
              <a:t>Lý thuyết quản lý công mới  •  Lý thuyết thể chế  •  Lý thuyết quản trị số  •  Lý thuyết quyền sở hữu trí tuệ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28600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CÁC YẾU TỐ ẢNH HƯỞNG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(1) Khung pháp lý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và chính sách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(2) Năng lực tổ chức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và cán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7889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(3) Nguồn lực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4747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(4) Hạ tầng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công nghệ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1605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(5) Phối hợp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thể chế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46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(6) Nhận thức xã hội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Times New Roman"/>
              </a:rPr>
              <a:t>về quyền SHTT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68880"/>
            <a:ext cx="219456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NỘI DUNG QLNN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(1) Hoạch định chính sách,
     chiến lược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(2) Xây dựng và hoàn thiện
     hệ thống pháp luật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(3) Tổ chức bộ máy quản lý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(4) Thanh tra, kiểm tra,
     xử lý vi phạm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(5) Ứng dụng công nghệ số
     trong quản lý quyền SHTT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468880"/>
            <a:ext cx="219456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HIỆU QUẢ QLNN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(1) Hiệu lực thực thi
     pháp luật về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(2) Bảo vệ quyền SHTT
     trên không gian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(3) Tính minh bạch,
     công khai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(4) Mức độ hài lòng
     của chủ thể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(5) Khả năng thích ứng
     với công nghệ mới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219456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KẾT QUẢ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VÀ TÁC ĐỘNG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Phát triển KT số bền vững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Bảo vệ quyền lợi chủ thể
  sáng tạo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Nâng cao NL cạnh tranh QG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Thu hút đầu tư &amp; CGCN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668780"/>
            <a:ext cx="502920" cy="16230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354579"/>
            <a:ext cx="502920" cy="9372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040379"/>
            <a:ext cx="502920" cy="2514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291840"/>
            <a:ext cx="50292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3291840"/>
            <a:ext cx="502920" cy="11201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3291840"/>
            <a:ext cx="502920" cy="18059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0" y="1097280"/>
            <a:ext cx="237744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Times New Roman"/>
              </a:rPr>
              <a:t>ĐẶC TRƯNG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Times New Roman"/>
              </a:rPr>
              <a:t>NỀN KINH TẾ SỐ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Hạ tầng số quốc gia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Mức độ chuyển đổi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Thương mại điện tử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Tài sản số và nền tảng số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28600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0" y="4480560"/>
            <a:ext cx="21945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1">
                <a:solidFill>
                  <a:srgbClr val="777777"/>
                </a:solidFill>
                <a:latin typeface="Times New Roman"/>
              </a:rPr>
              <a:t>Nguồn: Tác giả tổng hợp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0" y="42062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5943600"/>
            <a:ext cx="795527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444444"/>
                </a:solidFill>
                <a:latin typeface="Times New Roman"/>
              </a:rPr>
              <a:t>Thực tiễn thực thi  →  Đánh giá, tổng kết kết quả  →  Điều chỉnh chính sách  →  Hoàn thiện QLNN về quyền SHTT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023360"/>
            <a:ext cx="0" cy="19202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5669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352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100584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