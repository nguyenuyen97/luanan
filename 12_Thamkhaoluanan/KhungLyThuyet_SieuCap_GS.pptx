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562088" cy="10689336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"/>
            <a:ext cx="6647688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latin typeface="Times New Roman"/>
              </a:rPr>
              <a:t>KHUNG LÝ THUYẾT VÀ MÔ HÌNH PHÂN TÍCH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" y="365760"/>
            <a:ext cx="719632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>
                <a:latin typeface="Times New Roman"/>
              </a:rPr>
              <a:t>TẦNG 1: LÝ THUYẾT NỀN TẢNG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640080"/>
            <a:ext cx="6647688" cy="54864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000000"/>
                </a:solidFill>
                <a:latin typeface="Times New Roman"/>
              </a:rPr>
              <a:t>Lý thuyết quản lý công        |        Lý thuyết quản lý công mới        |        Lý thuyết quản trị số</a:t>
            </a:r>
          </a:p>
          <a:p>
            <a:pPr algn="ctr"/>
            <a:r>
              <a:rPr sz="1100" b="1">
                <a:solidFill>
                  <a:srgbClr val="000000"/>
                </a:solidFill>
                <a:latin typeface="Times New Roman"/>
              </a:rPr>
              <a:t>Lý thuyết quản trị thích ứng        |        Lý thuyết thể chế        |        Lý thuyết về quyền sở hữu trí tuệ</a:t>
            </a:r>
          </a:p>
        </p:txBody>
      </p:sp>
      <p:sp>
        <p:nvSpPr>
          <p:cNvPr id="5" name="Down Arrow 4"/>
          <p:cNvSpPr/>
          <p:nvPr/>
        </p:nvSpPr>
        <p:spPr>
          <a:xfrm>
            <a:off x="3657600" y="1188720"/>
            <a:ext cx="246888" cy="182880"/>
          </a:xfrm>
          <a:prstGeom prst="downArrow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" y="1371600"/>
            <a:ext cx="719632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>
                <a:latin typeface="Times New Roman"/>
              </a:rPr>
              <a:t>TẦNG 2: KHÁI NIỆM CỐT LÕI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645920"/>
            <a:ext cx="6647688" cy="54864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000000"/>
                </a:solidFill>
                <a:latin typeface="Times New Roman"/>
              </a:rPr>
              <a:t>Quyền sở hữu trí tuệ  -  Quản lý nhà nước  -  Kinh tế số  -  Quản trị số</a:t>
            </a:r>
          </a:p>
          <a:p>
            <a:pPr algn="ctr"/>
            <a:r>
              <a:rPr sz="1100" b="1">
                <a:solidFill>
                  <a:srgbClr val="000000"/>
                </a:solidFill>
                <a:latin typeface="Times New Roman"/>
              </a:rPr>
              <a:t>Quản lý nhà nước về quyền sở hữu trí tuệ trong nền kinh tế số</a:t>
            </a:r>
          </a:p>
        </p:txBody>
      </p:sp>
      <p:sp>
        <p:nvSpPr>
          <p:cNvPr id="8" name="Down Arrow 7"/>
          <p:cNvSpPr/>
          <p:nvPr/>
        </p:nvSpPr>
        <p:spPr>
          <a:xfrm>
            <a:off x="3657600" y="2194560"/>
            <a:ext cx="246888" cy="182880"/>
          </a:xfrm>
          <a:prstGeom prst="downArrow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2880" y="2377440"/>
            <a:ext cx="719632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>
                <a:latin typeface="Times New Roman"/>
              </a:rPr>
              <a:t>MÔ HÌNH NHÂN QUẢ GIỮA CÁC BIẾN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651760"/>
            <a:ext cx="3840480" cy="128016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1100" b="1">
                <a:solidFill>
                  <a:srgbClr val="000000"/>
                </a:solidFill>
                <a:latin typeface="Times New Roman"/>
              </a:rPr>
              <a:t>BIẾN ĐỘC LẬP: NỘI DUNG QUẢN LÝ NHÀ NƯỚC</a:t>
            </a:r>
          </a:p>
          <a:p/>
          <a:p>
            <a:r>
              <a:rPr sz="1100" b="1">
                <a:solidFill>
                  <a:srgbClr val="000000"/>
                </a:solidFill>
                <a:latin typeface="Times New Roman"/>
              </a:rPr>
              <a:t>X1. Xây dựng chiến lược, chính sách, pháp luật</a:t>
            </a:r>
          </a:p>
          <a:p>
            <a:r>
              <a:rPr sz="1100" b="1">
                <a:solidFill>
                  <a:srgbClr val="000000"/>
                </a:solidFill>
                <a:latin typeface="Times New Roman"/>
              </a:rPr>
              <a:t>X2. Tổ chức thực hiện</a:t>
            </a:r>
          </a:p>
          <a:p>
            <a:r>
              <a:rPr sz="1100" b="1">
                <a:solidFill>
                  <a:srgbClr val="000000"/>
                </a:solidFill>
                <a:latin typeface="Times New Roman"/>
              </a:rPr>
              <a:t>X3. Hỗ trợ xác lập, khai thác, chuyển giao, thương mại hóa</a:t>
            </a:r>
          </a:p>
          <a:p>
            <a:r>
              <a:rPr sz="1100" b="1">
                <a:solidFill>
                  <a:srgbClr val="000000"/>
                </a:solidFill>
                <a:latin typeface="Times New Roman"/>
              </a:rPr>
              <a:t>X4. Thanh tra, kiểm tra, giám sát và thực thi quyền</a:t>
            </a:r>
          </a:p>
        </p:txBody>
      </p:sp>
      <p:sp>
        <p:nvSpPr>
          <p:cNvPr id="11" name="Down Arrow 10"/>
          <p:cNvSpPr/>
          <p:nvPr/>
        </p:nvSpPr>
        <p:spPr>
          <a:xfrm>
            <a:off x="2286000" y="3931920"/>
            <a:ext cx="246888" cy="274320"/>
          </a:xfrm>
          <a:prstGeom prst="downArrow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4206240"/>
            <a:ext cx="3840480" cy="128016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1100" b="1">
                <a:solidFill>
                  <a:srgbClr val="000000"/>
                </a:solidFill>
                <a:latin typeface="Times New Roman"/>
              </a:rPr>
              <a:t>BIẾN TRUNG GIAN: NĂNG LỰC QUẢN LÝ NHÀ NƯỚC</a:t>
            </a:r>
          </a:p>
          <a:p/>
          <a:p>
            <a:r>
              <a:rPr sz="1100" b="1">
                <a:solidFill>
                  <a:srgbClr val="000000"/>
                </a:solidFill>
                <a:latin typeface="Times New Roman"/>
              </a:rPr>
              <a:t>M1. Năng lực hoạch định chính sách</a:t>
            </a:r>
          </a:p>
          <a:p>
            <a:r>
              <a:rPr sz="1100" b="1">
                <a:solidFill>
                  <a:srgbClr val="000000"/>
                </a:solidFill>
                <a:latin typeface="Times New Roman"/>
              </a:rPr>
              <a:t>M2. Năng lực tổ chức thực hiện</a:t>
            </a:r>
          </a:p>
          <a:p>
            <a:r>
              <a:rPr sz="1100" b="1">
                <a:solidFill>
                  <a:srgbClr val="000000"/>
                </a:solidFill>
                <a:latin typeface="Times New Roman"/>
              </a:rPr>
              <a:t>M3. Năng lực phối hợp liên ngành</a:t>
            </a:r>
          </a:p>
          <a:p>
            <a:r>
              <a:rPr sz="1100" b="1">
                <a:solidFill>
                  <a:srgbClr val="000000"/>
                </a:solidFill>
                <a:latin typeface="Times New Roman"/>
              </a:rPr>
              <a:t>M4. Năng lực ứng dụng công nghệ số</a:t>
            </a:r>
          </a:p>
          <a:p>
            <a:r>
              <a:rPr sz="1100" b="1">
                <a:solidFill>
                  <a:srgbClr val="000000"/>
                </a:solidFill>
                <a:latin typeface="Times New Roman"/>
              </a:rPr>
              <a:t>M5. Năng lực thanh tra, giám sát và thực thi</a:t>
            </a:r>
          </a:p>
        </p:txBody>
      </p:sp>
      <p:sp>
        <p:nvSpPr>
          <p:cNvPr id="13" name="Down Arrow 12"/>
          <p:cNvSpPr/>
          <p:nvPr/>
        </p:nvSpPr>
        <p:spPr>
          <a:xfrm>
            <a:off x="2286000" y="5486400"/>
            <a:ext cx="246888" cy="274320"/>
          </a:xfrm>
          <a:prstGeom prst="downArrow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5760720"/>
            <a:ext cx="3840480" cy="128016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1100" b="1">
                <a:solidFill>
                  <a:srgbClr val="000000"/>
                </a:solidFill>
                <a:latin typeface="Times New Roman"/>
              </a:rPr>
              <a:t>BIẾN PHỤ THUỘC: CHẤT LƯỢNG QUẢN LÝ NHÀ NƯỚC</a:t>
            </a:r>
          </a:p>
          <a:p/>
          <a:p>
            <a:r>
              <a:rPr sz="1100" b="1">
                <a:solidFill>
                  <a:srgbClr val="000000"/>
                </a:solidFill>
                <a:latin typeface="Times New Roman"/>
              </a:rPr>
              <a:t>Y1. Hiệu lực</a:t>
            </a:r>
          </a:p>
          <a:p>
            <a:r>
              <a:rPr sz="1100" b="1">
                <a:solidFill>
                  <a:srgbClr val="000000"/>
                </a:solidFill>
                <a:latin typeface="Times New Roman"/>
              </a:rPr>
              <a:t>Y2. Hiệu quả</a:t>
            </a:r>
          </a:p>
          <a:p>
            <a:r>
              <a:rPr sz="1100" b="1">
                <a:solidFill>
                  <a:srgbClr val="000000"/>
                </a:solidFill>
                <a:latin typeface="Times New Roman"/>
              </a:rPr>
              <a:t>Y3. Tính phù hợp</a:t>
            </a:r>
          </a:p>
          <a:p>
            <a:r>
              <a:rPr sz="1100" b="1">
                <a:solidFill>
                  <a:srgbClr val="000000"/>
                </a:solidFill>
                <a:latin typeface="Times New Roman"/>
              </a:rPr>
              <a:t>Y4. Tính đồng bộ và thống nhất</a:t>
            </a:r>
          </a:p>
          <a:p>
            <a:r>
              <a:rPr sz="1100" b="1">
                <a:solidFill>
                  <a:srgbClr val="000000"/>
                </a:solidFill>
                <a:latin typeface="Times New Roman"/>
              </a:rPr>
              <a:t>Y5. Tính minh bạch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0" y="3200400"/>
            <a:ext cx="2560320" cy="32004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1100" b="1">
                <a:solidFill>
                  <a:srgbClr val="000000"/>
                </a:solidFill>
                <a:latin typeface="Times New Roman"/>
              </a:rPr>
              <a:t>BIẾN ĐIỀU TIẾT</a:t>
            </a:r>
          </a:p>
          <a:p/>
          <a:p>
            <a:r>
              <a:rPr sz="1100" b="1">
                <a:solidFill>
                  <a:srgbClr val="000000"/>
                </a:solidFill>
                <a:latin typeface="Times New Roman"/>
              </a:rPr>
              <a:t>NHÓM THỂ CHẾ:</a:t>
            </a:r>
          </a:p>
          <a:p>
            <a:r>
              <a:rPr sz="1100" b="1">
                <a:solidFill>
                  <a:srgbClr val="000000"/>
                </a:solidFill>
                <a:latin typeface="Times New Roman"/>
              </a:rPr>
              <a:t>- Mức độ hoàn thiện pháp luật</a:t>
            </a:r>
          </a:p>
          <a:p>
            <a:r>
              <a:rPr sz="1100" b="1">
                <a:solidFill>
                  <a:srgbClr val="000000"/>
                </a:solidFill>
                <a:latin typeface="Times New Roman"/>
              </a:rPr>
              <a:t>- Chính sách phát triển kinh tế số</a:t>
            </a:r>
          </a:p>
          <a:p/>
          <a:p>
            <a:r>
              <a:rPr sz="1100" b="1">
                <a:solidFill>
                  <a:srgbClr val="000000"/>
                </a:solidFill>
                <a:latin typeface="Times New Roman"/>
              </a:rPr>
              <a:t>NHÓM CÔNG NGHỆ:</a:t>
            </a:r>
          </a:p>
          <a:p>
            <a:r>
              <a:rPr sz="1100" b="1">
                <a:solidFill>
                  <a:srgbClr val="000000"/>
                </a:solidFill>
                <a:latin typeface="Times New Roman"/>
              </a:rPr>
              <a:t>- Hạ tầng số, AI, Dữ liệu, Nền tảng</a:t>
            </a:r>
          </a:p>
          <a:p/>
          <a:p>
            <a:r>
              <a:rPr sz="1100" b="1">
                <a:solidFill>
                  <a:srgbClr val="000000"/>
                </a:solidFill>
                <a:latin typeface="Times New Roman"/>
              </a:rPr>
              <a:t>NHÓM MÔI TRƯỜNG:</a:t>
            </a:r>
          </a:p>
          <a:p>
            <a:r>
              <a:rPr sz="1100" b="1">
                <a:solidFill>
                  <a:srgbClr val="000000"/>
                </a:solidFill>
                <a:latin typeface="Times New Roman"/>
              </a:rPr>
              <a:t>- Trình độ phát triển kinh tế số</a:t>
            </a:r>
          </a:p>
          <a:p>
            <a:r>
              <a:rPr sz="1100" b="1">
                <a:solidFill>
                  <a:srgbClr val="000000"/>
                </a:solidFill>
                <a:latin typeface="Times New Roman"/>
              </a:rPr>
              <a:t>- Năng lực đổi mới sáng tạo</a:t>
            </a:r>
          </a:p>
          <a:p>
            <a:r>
              <a:rPr sz="1100" b="1">
                <a:solidFill>
                  <a:srgbClr val="000000"/>
                </a:solidFill>
                <a:latin typeface="Times New Roman"/>
              </a:rPr>
              <a:t>- Hội nhập quốc tế, Nhận thức XH</a:t>
            </a:r>
          </a:p>
        </p:txBody>
      </p:sp>
      <p:sp>
        <p:nvSpPr>
          <p:cNvPr id="16" name="Left Arrow 15"/>
          <p:cNvSpPr/>
          <p:nvPr/>
        </p:nvSpPr>
        <p:spPr>
          <a:xfrm>
            <a:off x="4297680" y="4754880"/>
            <a:ext cx="274320" cy="182880"/>
          </a:xfrm>
          <a:prstGeom prst="leftArrow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Down Arrow 16"/>
          <p:cNvSpPr/>
          <p:nvPr/>
        </p:nvSpPr>
        <p:spPr>
          <a:xfrm>
            <a:off x="3657600" y="7040880"/>
            <a:ext cx="246888" cy="274320"/>
          </a:xfrm>
          <a:prstGeom prst="downArrow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7315200"/>
            <a:ext cx="6675120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1100" b="1">
                <a:solidFill>
                  <a:srgbClr val="000000"/>
                </a:solidFill>
                <a:latin typeface="Times New Roman"/>
              </a:rPr>
              <a:t>KẾT QUẢ / TÁC ĐỘNG</a:t>
            </a:r>
          </a:p>
          <a:p/>
          <a:p>
            <a:r>
              <a:rPr sz="1100" b="1">
                <a:solidFill>
                  <a:srgbClr val="000000"/>
                </a:solidFill>
                <a:latin typeface="Times New Roman"/>
              </a:rPr>
              <a:t>O1. Bảo vệ hiệu quả quyền SHTT      O2. Thúc đẩy đổi mới sáng tạo      O3. Phát triển tài sản trí tuệ</a:t>
            </a:r>
          </a:p>
          <a:p>
            <a:r>
              <a:rPr sz="1100" b="1">
                <a:solidFill>
                  <a:srgbClr val="000000"/>
                </a:solidFill>
                <a:latin typeface="Times New Roman"/>
              </a:rPr>
              <a:t>O4. Nâng cao năng lực cạnh tranh quốc gia      O5. Thúc đẩy phát triển kinh tế số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2880" y="8229600"/>
            <a:ext cx="719632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>
                <a:latin typeface="Times New Roman"/>
              </a:rPr>
              <a:t>VÒNG PHẢN HỒI CHÍNH SÁCH (FEEDBACK)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8595360"/>
            <a:ext cx="6675120" cy="54864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000000"/>
                </a:solidFill>
                <a:latin typeface="Times New Roman"/>
              </a:rPr>
              <a:t>Kết quả thực hiện   ➜   Đánh giá hiệu quả quản lý   ➜   Điều chỉnh (Chính sách, Thể chế, Công cụ, Tổ chức)   ➜   Hoàn thiện QLNN</a:t>
            </a:r>
          </a:p>
        </p:txBody>
      </p:sp>
      <p:sp>
        <p:nvSpPr>
          <p:cNvPr id="21" name="Straight Connector 20"/>
          <p:cNvSpPr/>
          <p:nvPr/>
        </p:nvSpPr>
        <p:spPr>
          <a:xfrm>
            <a:off x="274320" y="8869680"/>
            <a:ext cx="0" cy="5760720"/>
          </a:xfrm>
          <a:prstGeom prst="lineInv">
            <a:avLst/>
          </a:prstGeom>
          <a:ln w="19050">
            <a:solidFill>
              <a:srgbClr val="00000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Straight Connector 21"/>
          <p:cNvSpPr/>
          <p:nvPr/>
        </p:nvSpPr>
        <p:spPr>
          <a:xfrm>
            <a:off x="274320" y="8869680"/>
            <a:ext cx="182880" cy="0"/>
          </a:xfrm>
          <a:prstGeom prst="lineInv">
            <a:avLst/>
          </a:prstGeom>
          <a:ln w="19050">
            <a:solidFill>
              <a:srgbClr val="00000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Straight Connector 22"/>
          <p:cNvSpPr/>
          <p:nvPr/>
        </p:nvSpPr>
        <p:spPr>
          <a:xfrm>
            <a:off x="274320" y="3108960"/>
            <a:ext cx="182880" cy="0"/>
          </a:xfrm>
          <a:prstGeom prst="lineInv">
            <a:avLst/>
          </a:prstGeom>
          <a:ln w="19050">
            <a:solidFill>
              <a:srgbClr val="00000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ight Arrow 23"/>
          <p:cNvSpPr/>
          <p:nvPr/>
        </p:nvSpPr>
        <p:spPr>
          <a:xfrm>
            <a:off x="365760" y="3017520"/>
            <a:ext cx="91440" cy="182880"/>
          </a:xfrm>
          <a:prstGeom prst="rightArrow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