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"/>
            <a:ext cx="97749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latin typeface="Times New Roman"/>
              </a:rPr>
              <a:t>KHUNG LÝ THUYẾT NGHIÊN CỨU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365760"/>
            <a:ext cx="7946136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LÝ THUYẾT NỀN TẢNG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Lý thuyết quản lý công  •  Lý thuyết quản lý công mới  •  Lý thuyết quản trị số  •  Lý thuyết quản trị thích ứng  •  Lý thuyết thể chế  •  Lý thuyết về quyền sở hữu trí tuệ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44668" y="914400"/>
            <a:ext cx="0" cy="1828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371600" y="1097280"/>
            <a:ext cx="794613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KHÁI NIỆM CỐT LÕI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Quyền sở hữu trí tuệ  •  Quản lý nhà nước  •  Kinh tế số  •  Quản trị số  •  Quản lý nhà nước về quyền SHTT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44668" y="1554480"/>
            <a:ext cx="0" cy="22860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0" y="1783080"/>
            <a:ext cx="29260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BIẾN ĐỘC LẬP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CÁC YẾU TỐ ĐẦU VÀO</a:t>
            </a:r>
          </a:p>
          <a:p>
            <a:pPr algn="ctr"/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Nhóm thể chế: Pháp luật, Chính sách, Cơ chế phối hợp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Nhóm nguồn lực: Nguồn nhân lực, Tài chính, Hạ tầng số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Nhóm công nghệ: Dữ liệu số, AI, Nền tảng số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383280" y="2606040"/>
            <a:ext cx="45720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840480" y="1783080"/>
            <a:ext cx="33832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BIẾN TRUNG TÂM NGHIÊN CỨU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QUẢN LÝ NHÀ NƯỚC VỀ QUYỀN SHTT TRONG NỀN KINH TẾ SỐ</a:t>
            </a:r>
          </a:p>
          <a:p>
            <a:pPr algn="ctr"/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1. Xây dựng chiến lược, chính sách, pháp luật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2. Tổ chức thực hiện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3. Hỗ trợ xác lập, khai thác, chuyển giao, thương mại hóa tài sản trí tuệ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4. Thanh tra, kiểm tra, giám sát, thực thi quyền sở hữu trí tuệ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532120" y="3246120"/>
            <a:ext cx="0" cy="22860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023360" y="3474720"/>
            <a:ext cx="301752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BIẾN TRUNG GIAN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NĂNG LỰC QLNN VỀ QUYỀN SHTT</a:t>
            </a:r>
          </a:p>
          <a:p>
            <a:pPr algn="ctr"/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Năng lực hoạch định chính sách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Năng lực tổ chức thực hiện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Năng lực phối hợp liên ngành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Năng lực chuyển đổi số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Năng lực thanh tra và thực thi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532120" y="4754880"/>
            <a:ext cx="0" cy="22860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023360" y="4983480"/>
            <a:ext cx="30175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BIẾN PHỤ THUỘC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CHẤT LƯỢNG QLNN VỀ QUYỀN SỞ HỮU TRÍ TUỆ</a:t>
            </a:r>
          </a:p>
          <a:p>
            <a:pPr algn="ctr"/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Hiệu lực   • Hiệu quả   • Tính phù hợp   • Tính đồng bộ   • Tính minh bạch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532120" y="5715000"/>
            <a:ext cx="0" cy="22860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840480" y="5943600"/>
            <a:ext cx="33832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KẾT QUẢ VÀ TÁC ĐỘNG</a:t>
            </a:r>
          </a:p>
          <a:p>
            <a:pPr algn="ctr"/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Bảo vệ hiệu quả quyền SHTT       • Thúc đẩy đổi mới sáng tạo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Phát triển tài sản trí tuệ         • Nâng cao năng lực cạnh tranh quốc gia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Thúc đẩy phát triển kinh tế số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2651760"/>
            <a:ext cx="265176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YẾU TỐ ĐIỀU TIẾT</a:t>
            </a:r>
          </a:p>
          <a:p>
            <a:pPr algn="ctr"/>
            <a:r>
              <a:rPr sz="1000">
                <a:solidFill>
                  <a:srgbClr val="000000"/>
                </a:solidFill>
                <a:latin typeface="Times New Roman"/>
              </a:rPr>
              <a:t>(Các yếu tố ảnh hưởng)</a:t>
            </a:r>
          </a:p>
          <a:p>
            <a:pPr algn="ctr"/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Mức độ phát triển kinh tế số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Năng lực đổi mới sáng tạo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Hội nhập quốc tế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Nhận thức xã hội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Mức độ cạnh tranh thị trường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5532120" y="3360420"/>
            <a:ext cx="2057400" cy="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532120" y="4869180"/>
            <a:ext cx="2057400" cy="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589520" y="3360420"/>
            <a:ext cx="0" cy="1508760"/>
          </a:xfrm>
          <a:prstGeom prst="line">
            <a:avLst/>
          </a:prstGeom>
          <a:ln w="1905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371600" y="6949440"/>
            <a:ext cx="794613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PHẢN HỒI CHÍNH SÁCH</a:t>
            </a:r>
          </a:p>
          <a:p>
            <a:pPr algn="ctr"/>
            <a:r>
              <a:rPr sz="1000">
                <a:solidFill>
                  <a:srgbClr val="000000"/>
                </a:solidFill>
                <a:latin typeface="Times New Roman"/>
              </a:rPr>
              <a:t>Kết quả thực hiện  ➔  Đánh giá  ➔  Điều chỉnh chính sách, thể chế, công cụ  ➔  Hoàn thiện QLNN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532120" y="6766560"/>
            <a:ext cx="0" cy="18288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82880" y="7178040"/>
            <a:ext cx="1188720" cy="0"/>
          </a:xfrm>
          <a:prstGeom prst="line">
            <a:avLst/>
          </a:prstGeom>
          <a:ln w="1905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82880" y="1600200"/>
            <a:ext cx="0" cy="5577840"/>
          </a:xfrm>
          <a:prstGeom prst="line">
            <a:avLst/>
          </a:prstGeom>
          <a:ln w="1905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1600200"/>
            <a:ext cx="4114800" cy="0"/>
          </a:xfrm>
          <a:prstGeom prst="line">
            <a:avLst/>
          </a:prstGeom>
          <a:ln w="1905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297680" y="1600200"/>
            <a:ext cx="0" cy="18288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