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1">
                <a:latin typeface="Times New Roman"/>
              </a:rPr>
              <a:t>Khung Phân Tích Hoàn Chỉnh: Quản Lý Nhà Nước Về Sở Hữu Trí Tuệ Trong Kinh Tế Số</a:t>
            </a:r>
          </a:p>
        </p:txBody>
      </p:sp>
      <p:sp>
        <p:nvSpPr>
          <p:cNvPr id="3" name="Rectangle 2"/>
          <p:cNvSpPr/>
          <p:nvPr/>
        </p:nvSpPr>
        <p:spPr>
          <a:xfrm>
            <a:off x="182880" y="1645920"/>
            <a:ext cx="210312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000000"/>
                </a:solidFill>
                <a:latin typeface="Times New Roman"/>
              </a:rPr>
              <a:t>CÁC NHÂN TỐ ẢNH HƯỞNG</a:t>
            </a:r>
          </a:p>
          <a:p>
            <a:pPr algn="ctr"/>
          </a:p>
          <a:p>
            <a:pPr algn="ctr"/>
            <a:r>
              <a:rPr sz="1200" b="0">
                <a:solidFill>
                  <a:srgbClr val="000000"/>
                </a:solidFill>
                <a:latin typeface="Times New Roman"/>
              </a:rPr>
              <a:t>1. Đặc trưng của kinh tế số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Times New Roman"/>
              </a:rPr>
              <a:t>2. Hạ tầng công nghệ số quốc gia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Times New Roman"/>
              </a:rPr>
              <a:t>3. Bối cảnh hội nhập quốc tế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Times New Roman"/>
              </a:rPr>
              <a:t>4. Năng lực cơ quan nhà nước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Times New Roman"/>
              </a:rPr>
              <a:t>5. Nhận thức của xã hội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0" y="731520"/>
            <a:ext cx="4114800" cy="5486400"/>
          </a:xfrm>
          <a:prstGeom prst="roundRect">
            <a:avLst/>
          </a:prstGeom>
          <a:noFill/>
          <a:ln w="19050">
            <a:solidFill>
              <a:srgbClr val="000000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017520" y="914400"/>
            <a:ext cx="356616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00000"/>
                </a:solidFill>
                <a:latin typeface="Times New Roman"/>
              </a:rPr>
              <a:t>CHỦ THỂ QUẢN LÝ</a:t>
            </a:r>
          </a:p>
          <a:p>
            <a:pPr algn="ctr"/>
            <a:r>
              <a:rPr sz="1100" b="1">
                <a:solidFill>
                  <a:srgbClr val="000000"/>
                </a:solidFill>
                <a:latin typeface="Times New Roman"/>
              </a:rPr>
              <a:t>(Chính phủ, Bộ KH&amp;CN, Bộ TT&amp;TT, Cơ quan Tư pháp)</a:t>
            </a:r>
          </a:p>
        </p:txBody>
      </p:sp>
      <p:sp>
        <p:nvSpPr>
          <p:cNvPr id="6" name="Rectangle 5"/>
          <p:cNvSpPr/>
          <p:nvPr/>
        </p:nvSpPr>
        <p:spPr>
          <a:xfrm>
            <a:off x="3017520" y="1828800"/>
            <a:ext cx="3566160" cy="54864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000000"/>
                </a:solidFill>
                <a:latin typeface="Times New Roman"/>
              </a:rPr>
              <a:t>CÔNG CỤ QUẢN LÝ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Times New Roman"/>
              </a:rPr>
              <a:t>(Pháp luật, Hành chính, Kinh tế, Công nghệ)</a:t>
            </a:r>
          </a:p>
        </p:txBody>
      </p:sp>
      <p:sp>
        <p:nvSpPr>
          <p:cNvPr id="7" name="Rectangle 6"/>
          <p:cNvSpPr/>
          <p:nvPr/>
        </p:nvSpPr>
        <p:spPr>
          <a:xfrm>
            <a:off x="3017520" y="2743200"/>
            <a:ext cx="3566160" cy="173736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000000"/>
                </a:solidFill>
                <a:latin typeface="Times New Roman"/>
              </a:rPr>
              <a:t>NỘI DUNG QUẢN LÝ NHÀ NƯỚC</a:t>
            </a:r>
          </a:p>
          <a:p>
            <a:pPr algn="ctr"/>
          </a:p>
          <a:p>
            <a:pPr algn="ctr"/>
            <a:r>
              <a:rPr sz="1100" b="0">
                <a:solidFill>
                  <a:srgbClr val="000000"/>
                </a:solidFill>
                <a:latin typeface="Times New Roman"/>
              </a:rPr>
              <a:t>1. Hoạch định và ban hành chính sách, pháp luật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Times New Roman"/>
              </a:rPr>
              <a:t>2. Tuyên truyền, phổ biến, giáo dục pháp luật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Times New Roman"/>
              </a:rPr>
              <a:t>3. Quản lý việc xác lập quyền sở hữu trí tuệ trực tuyến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Times New Roman"/>
              </a:rPr>
              <a:t>4. Thanh tra, kiểm tra và xử lý vi phạm trên mạng</a:t>
            </a:r>
          </a:p>
          <a:p>
            <a:pPr algn="ctr"/>
            <a:r>
              <a:rPr sz="1100" b="0">
                <a:solidFill>
                  <a:srgbClr val="000000"/>
                </a:solidFill>
                <a:latin typeface="Times New Roman"/>
              </a:rPr>
              <a:t>5. Hỗ trợ phát triển và Hợp tác quốc tế về sở hữu trí tuệ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4846320"/>
            <a:ext cx="3566160" cy="640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000000"/>
                </a:solidFill>
                <a:latin typeface="Times New Roman"/>
              </a:rPr>
              <a:t>KHÁCH THỂ QUẢN LÝ</a:t>
            </a:r>
          </a:p>
          <a:p>
            <a:pPr algn="ctr"/>
            <a:r>
              <a:rPr sz="1100" b="1">
                <a:solidFill>
                  <a:srgbClr val="000000"/>
                </a:solidFill>
                <a:latin typeface="Times New Roman"/>
              </a:rPr>
              <a:t>(Người sáng tạo số, Doanh nghiệp, Nền tảng số trung gian)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0" y="1645920"/>
            <a:ext cx="164592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000000"/>
                </a:solidFill>
                <a:latin typeface="Times New Roman"/>
              </a:rPr>
              <a:t>MỤC TIÊU ĐẠT ĐƯỢC</a:t>
            </a:r>
          </a:p>
          <a:p>
            <a:pPr algn="ctr"/>
          </a:p>
          <a:p>
            <a:pPr algn="ctr"/>
            <a:r>
              <a:rPr sz="1200" b="0">
                <a:solidFill>
                  <a:srgbClr val="000000"/>
                </a:solidFill>
                <a:latin typeface="Times New Roman"/>
              </a:rPr>
              <a:t>1. Bảo vệ hiệu quả quyền lợi chủ thể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Times New Roman"/>
              </a:rPr>
              <a:t>2. Thúc đẩy hệ sinh thái đổi mới sáng tạo</a:t>
            </a:r>
          </a:p>
          <a:p>
            <a:pPr algn="ctr"/>
            <a:r>
              <a:rPr sz="1200" b="0">
                <a:solidFill>
                  <a:srgbClr val="000000"/>
                </a:solidFill>
                <a:latin typeface="Times New Roman"/>
              </a:rPr>
              <a:t>3. Phát triển an toàn, bền vững nền kinh tế số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331720" y="3017520"/>
            <a:ext cx="365760" cy="365760"/>
          </a:xfrm>
          <a:prstGeom prst="rightArrow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own Arrow 10"/>
          <p:cNvSpPr/>
          <p:nvPr/>
        </p:nvSpPr>
        <p:spPr>
          <a:xfrm>
            <a:off x="4663440" y="1600200"/>
            <a:ext cx="274320" cy="182880"/>
          </a:xfrm>
          <a:prstGeom prst="downArrow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wn Arrow 11"/>
          <p:cNvSpPr/>
          <p:nvPr/>
        </p:nvSpPr>
        <p:spPr>
          <a:xfrm>
            <a:off x="4663440" y="2423160"/>
            <a:ext cx="274320" cy="274320"/>
          </a:xfrm>
          <a:prstGeom prst="downArrow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own Arrow 12"/>
          <p:cNvSpPr/>
          <p:nvPr/>
        </p:nvSpPr>
        <p:spPr>
          <a:xfrm>
            <a:off x="4663440" y="4526280"/>
            <a:ext cx="274320" cy="274320"/>
          </a:xfrm>
          <a:prstGeom prst="downArrow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ight Arrow 13"/>
          <p:cNvSpPr/>
          <p:nvPr/>
        </p:nvSpPr>
        <p:spPr>
          <a:xfrm>
            <a:off x="6903720" y="3017520"/>
            <a:ext cx="365760" cy="365760"/>
          </a:xfrm>
          <a:prstGeom prst="rightArrow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