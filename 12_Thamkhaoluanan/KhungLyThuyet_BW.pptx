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182880" y="3291840"/>
            <a:ext cx="7196328" cy="512064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91440"/>
            <a:ext cx="66476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6647688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Lý thuyết quản lý công                              • Lý thuyết quản trị thích ứng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Lý thuyết quản lý công mới                        • Lý thuyết thể chế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Lý thuyết quản trị số                                  • Lý thuyết về quyền sở hữu trí tuệ</a:t>
            </a:r>
          </a:p>
        </p:txBody>
      </p:sp>
      <p:sp>
        <p:nvSpPr>
          <p:cNvPr id="4" name="Down Arrow 3"/>
          <p:cNvSpPr/>
          <p:nvPr/>
        </p:nvSpPr>
        <p:spPr>
          <a:xfrm>
            <a:off x="3657600" y="1737360"/>
            <a:ext cx="246888" cy="27432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664768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KHÁI NIỆM CỐT LÕI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Quyền sở hữu trí tuệ     • Quản lý nhà nước     • Kinh tế số     • Quản trị số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Quản lý nhà nước về quyền sở hữu trí tuệ trong nền kinh tế số</a:t>
            </a:r>
          </a:p>
        </p:txBody>
      </p:sp>
      <p:sp>
        <p:nvSpPr>
          <p:cNvPr id="6" name="Down Arrow 5"/>
          <p:cNvSpPr/>
          <p:nvPr/>
        </p:nvSpPr>
        <p:spPr>
          <a:xfrm>
            <a:off x="3657600" y="2926080"/>
            <a:ext cx="246888" cy="27432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383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1">
                <a:latin typeface="Times New Roman"/>
              </a:rPr>
              <a:t>MÔ HÌNH NHÂN QUẢ GIỮA CÁC BIẾN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3840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ĐỘC LẬP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(Nội dung quản lý nhà nước)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Xây dựng chiến lược, chính sách, pháp luật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Tổ chức thực hiện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Hỗ trợ xác lập, khai thác, thương mại hóa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Thanh tra, kiểm tra, giám sát, thực thi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240280" y="5029200"/>
            <a:ext cx="274320" cy="27432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3840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(Năng lực quản lý nhà nước)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hoạch định chính sách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tổ chức thực hiện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phối hợp liên ngành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ứng dụng công nghệ số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thanh tra, giám sát, thực thi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240280" y="6675120"/>
            <a:ext cx="274320" cy="27432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7040880"/>
            <a:ext cx="3840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(Chất lượng quản lý nhà nước)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Tính hiệu lực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Tính hiệu quả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Tính phù hợp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Tính đồng bộ và thống nhất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Tính minh bạch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297680"/>
            <a:ext cx="25603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(Các yếu tố ảnh hưởng)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Nhóm thể chế: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Mức độ hoàn thiện pháp luật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Chính sách phát triển kinh tế số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Nhóm công nghệ: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Hạ tầng số, AI, dữ liệu, nền tảng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Nhóm môi trường: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Trình độ phát triển kinh tế số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đổi mới sáng tạo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Hội nhập, nhận thức xã hội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4389120" y="5852160"/>
            <a:ext cx="274320" cy="182880"/>
          </a:xfrm>
          <a:prstGeom prst="lef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3657600" y="8503920"/>
            <a:ext cx="246888" cy="27432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8869680"/>
            <a:ext cx="66751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Bảo vệ hiệu quả quyền SHTT        • Thúc đẩy đổi mới sáng tạo        • Phát triển tài sản trí tuệ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Nâng cao năng lực cạnh tranh quốc gia        • Thúc đẩy phát triển kinh tế số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875520"/>
            <a:ext cx="66751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VÒNG PHẢN HỒI CHÍNH SÁCH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Kết quả thực hiện  ➔  Đánh giá  ➔  Điều chỉnh (chính sách, thể chế, công cụ)  ➔  Hoàn thiện</a:t>
            </a:r>
          </a:p>
        </p:txBody>
      </p:sp>
      <p:sp>
        <p:nvSpPr>
          <p:cNvPr id="19" name="Straight Connector 18"/>
          <p:cNvSpPr/>
          <p:nvPr/>
        </p:nvSpPr>
        <p:spPr>
          <a:xfrm>
            <a:off x="274320" y="10149840"/>
            <a:ext cx="0" cy="630936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274320" y="10149840"/>
            <a:ext cx="182880" cy="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274320" y="3840480"/>
            <a:ext cx="182880" cy="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365760" y="3749039"/>
            <a:ext cx="91440" cy="18288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