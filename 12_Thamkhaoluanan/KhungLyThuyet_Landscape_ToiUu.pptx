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ounded Rectangle 4"/>
          <p:cNvSpPr/>
          <p:nvPr/>
        </p:nvSpPr>
        <p:spPr>
          <a:xfrm>
            <a:off x="2011680" y="2194560"/>
            <a:ext cx="6583680" cy="137160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9144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VÀ MÔ HÌNH PHÂN TÍCH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77493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Lý thuyết quản lý công   •   Lý thuyết quản lý công mới   •   Lý thuyết quản trị số   •   Lý thuyết quản trị thích ứng   •   Lý thuyết thể chế   •   Lý thuyết về quyền sở hữu trí tuệ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9774936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KHÁI NIỆM CỐT LÕI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Quyền sở hữu trí tuệ   •   Quản lý nhà nước   •   Kinh tế số   •   Quản trị số   •   Quản lý nhà nước về quyền sở hữu trí tuệ trong nền kinh tế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240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latin typeface="Times New Roman"/>
              </a:rPr>
              <a:t>BIẾN ĐIỀU TIẾT (Các yếu tố ảnh hưởng)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560320"/>
            <a:ext cx="20116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NHÓM THỂ CHẾ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Mức độ hoàn thiện pháp luật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Chính sách kinh tế số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560320"/>
            <a:ext cx="20116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NHÓM CÔNG NGHỆ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Hạ tầng số, nền tảng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AI, dữ liệu lớn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560320"/>
            <a:ext cx="20116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NHÓM MÔI TRƯỜNG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Trình độ KT số, hội nhập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đổi mới sáng tạo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297680"/>
            <a:ext cx="23774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ĐỘC LẬP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(Nội dung quản lý nhà nước)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Xây dựng chiến lược, chính sách, pháp luật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Tổ chức thực hiện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Hỗ trợ xác lập, khai thác, thương mại hóa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Thanh tra, kiểm tra, giám sát, thực thi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5029200"/>
            <a:ext cx="320040" cy="18288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2857500" y="3566160"/>
            <a:ext cx="137160" cy="137160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4297680"/>
            <a:ext cx="22860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(Năng lực quản lý nhà nước)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hoạch định chính sách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tổ chức thực hiện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phối hợp liên ngành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ứng dụng công nghệ số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Năng lực thanh tra, giám sát, thực thi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94960" y="5029200"/>
            <a:ext cx="320040" cy="18288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5554980" y="3566160"/>
            <a:ext cx="137160" cy="137160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4297680"/>
            <a:ext cx="22860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(Chất lượng quản lý nhà nước)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Tính hiệu lực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Tính hiệu quả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Tính phù hợp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Tính đồng bộ và thống nhất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Tính minh bạch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92440" y="5029200"/>
            <a:ext cx="320040" cy="18288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4297680"/>
            <a:ext cx="20116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Bảo vệ hiệu quả quyền SHTT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Thúc đẩy đổi mới sáng tạo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Phát triển tài sản trí tuệ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Nâng cao năng lực cạnh tranh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• Phát triển kinh tế số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6400800"/>
            <a:ext cx="703173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VÒNG PHẢN HỒI CHÍNH SÁCH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Đánh giá hiệu quả   ➔   Điều chỉnh (chính sách, thể chế, công cụ)   ➔   Hoàn thiện hệ thống quản lý</a:t>
            </a:r>
          </a:p>
        </p:txBody>
      </p:sp>
      <p:sp>
        <p:nvSpPr>
          <p:cNvPr id="20" name="Straight Connector 19"/>
          <p:cNvSpPr/>
          <p:nvPr/>
        </p:nvSpPr>
        <p:spPr>
          <a:xfrm>
            <a:off x="9464040" y="5943600"/>
            <a:ext cx="0" cy="82296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9464040" y="6766560"/>
            <a:ext cx="-603504" cy="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raight Connector 21"/>
          <p:cNvSpPr/>
          <p:nvPr/>
        </p:nvSpPr>
        <p:spPr>
          <a:xfrm>
            <a:off x="1828800" y="6766560"/>
            <a:ext cx="-365760" cy="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raight Connector 22"/>
          <p:cNvSpPr/>
          <p:nvPr/>
        </p:nvSpPr>
        <p:spPr>
          <a:xfrm>
            <a:off x="1463040" y="6766560"/>
            <a:ext cx="0" cy="-82296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p Arrow 23"/>
          <p:cNvSpPr/>
          <p:nvPr/>
        </p:nvSpPr>
        <p:spPr>
          <a:xfrm>
            <a:off x="1371600" y="5943600"/>
            <a:ext cx="182880" cy="182880"/>
          </a:xfrm>
          <a:prstGeom prst="up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