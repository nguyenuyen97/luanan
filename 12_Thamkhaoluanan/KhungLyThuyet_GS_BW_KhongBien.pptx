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"/>
            <a:ext cx="977493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LÝ THUYẾT NGHIÊN CỨU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365760"/>
            <a:ext cx="7946136" cy="548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LÝ THUYẾT NỀN TẢNG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Lý thuyết quản lý công  •  Lý thuyết quản lý công mới  •  Lý thuyết quản trị số  •  Lý thuyết quản trị thích ứng  •  Lý thuyết thể chế  •  Lý thuyết về quyền sở hữu trí tuệ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44668" y="9144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371600" y="109728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KHÁI NIỆM CỐT LÕI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Quyền sở hữu trí tuệ  •  Quản lý nhà nước  •  Kinh tế số  •  Quản trị số  •  Quản lý nhà nước về quyền SHTT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44668" y="15544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783080"/>
            <a:ext cx="292608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ĐẦU VÀO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thể chế: Pháp luật, Chính sách, Cơ chế phối hợp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nguồn lực: Nguồn nhân lực, Tài chính, Hạ tầng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Nhóm công nghệ: Dữ liệu số, AI, Nền tảng số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260604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840480" y="178308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QUẢN LÝ NHÀ NƯỚC VỀ QUYỀN SHTT TRONG NỀN KINH TẾ SỐ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1. Xây dựng chiến lược, chính sách, pháp luật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2.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3. Hỗ trợ xác lập, khai thác, chuyển giao, thương mại hóa tài sản trí tuệ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4. Thanh tra, kiểm tra, giám sát, thực thi quyền sở hữu trí tuệ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532120" y="324612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023360" y="3474720"/>
            <a:ext cx="301752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NĂNG LỰC QLNN VỀ QUYỀN SHTT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hoạch định chính sách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tổ chức thực hiện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phối hợp liên ngành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chuyển đổi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thanh tra và thực thi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32120" y="475488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023360" y="4983480"/>
            <a:ext cx="3017520" cy="731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CHẤT LƯỢNG QLNN VỀ QUYỀN SỞ HỮU TRÍ TUỆ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Hiệu lực   • Hiệu quả   • Tính phù hợp   • Tính đồng bộ   • Tính minh bạch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32120" y="57150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5943600"/>
            <a:ext cx="33832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KẾT QUẢ VÀ TÁC ĐỘNG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Bảo vệ hiệu quả quyền SHTT       • Thúc đẩy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Phát triển tài sản trí tuệ         • Nâng cao năng lực cạnh tranh quốc gia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Thúc đẩy phát triển kinh tế số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65176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CÁC YẾU TỐ ẢNH HƯỞNG (ĐIỀU TIẾT)</a:t>
            </a:r>
          </a:p>
          <a:p>
            <a:pPr algn="ctr"/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phát triển kinh tế số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Năng lực đổi mới sáng tạo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Hội nhập quốc tế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Nhận thức xã hội</a:t>
            </a:r>
          </a:p>
          <a:p>
            <a:pPr algn="l"/>
            <a:r>
              <a:rPr sz="1000">
                <a:solidFill>
                  <a:srgbClr val="000000"/>
                </a:solidFill>
                <a:latin typeface="Times New Roman"/>
              </a:rPr>
              <a:t>• Mức độ cạnh tranh thị trường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5532120" y="3360420"/>
            <a:ext cx="20574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532120" y="4869180"/>
            <a:ext cx="20574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89520" y="3360420"/>
            <a:ext cx="0" cy="150876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371600" y="6949440"/>
            <a:ext cx="7946136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Times New Roman"/>
              </a:rPr>
              <a:t>PHẢN HỒI CHÍNH SÁCH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Times New Roman"/>
              </a:rPr>
              <a:t>Kết quả thực hiện  ➔  Đánh giá  ➔  Điều chỉnh chính sách, thể chế, công cụ  ➔  Hoàn thiện QLNN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32120" y="676656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82880" y="7178040"/>
            <a:ext cx="118872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82880" y="1600200"/>
            <a:ext cx="0" cy="557784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" y="1600200"/>
            <a:ext cx="4114800" cy="0"/>
          </a:xfrm>
          <a:prstGeom prst="line">
            <a:avLst/>
          </a:prstGeom>
          <a:ln w="1905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97680" y="160020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