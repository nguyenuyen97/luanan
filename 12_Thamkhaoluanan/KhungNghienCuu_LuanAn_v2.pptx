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1999" y="144000"/>
            <a:ext cx="11689200" cy="6552000"/>
          </a:xfrm>
          <a:prstGeom prst="rect">
            <a:avLst/>
          </a:prstGeom>
          <a:solidFill>
            <a:srgbClr val="F9F9F9"/>
          </a:solidFill>
          <a:ln w="1016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50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555555"/>
                </a:solidFill>
                <a:latin typeface="Times New Roman"/>
              </a:rPr>
              <a:t>PHẠM VI NGHIÊN CỨU: QLNN VỀ QUYỀN SỞ HỮU TRÍ TUỆ TRONG NỀN KINH TẾ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360000"/>
            <a:ext cx="11473200" cy="684000"/>
          </a:xfrm>
          <a:prstGeom prst="rect">
            <a:avLst/>
          </a:prstGeom>
          <a:solidFill>
            <a:srgbClr val="E8E8E8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ctr">
              <a:spcBef>
                <a:spcPts val="400"/>
              </a:spcBef>
              <a:spcAft>
                <a:spcPts val="100"/>
              </a:spcAft>
            </a:p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Times New Roman"/>
              </a:rPr>
              <a:t>Lý thuyết quản lý công mới  •  Lý thuyết thể chế  •  Lý thuyết quản trị số  •  Lý thuyết quyền sở hữu trí tuệ  •  Lý thuyết về SHTT trong KTS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6600" y="1044000"/>
            <a:ext cx="0" cy="180000"/>
          </a:xfrm>
          <a:prstGeom prst="line">
            <a:avLst/>
          </a:prstGeom>
          <a:ln w="19050">
            <a:solidFill>
              <a:srgbClr val="44444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0000" y="1224000"/>
            <a:ext cx="3584400" cy="306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CÁC YẾU TỐ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ẢNH HƯỞNG</a:t>
            </a:r>
          </a:p>
          <a:p>
            <a:pPr algn="ctr">
              <a:spcBef>
                <a:spcPts val="600"/>
              </a:spcBef>
              <a:spcAft>
                <a:spcPts val="100"/>
              </a:spcAft>
            </a:p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(1) Khung pháp lý và chính sách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(2) Năng lực tổ chức và cán bộ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(3) Hạ tầng công nghệ số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(4) Nguồn lực tài chính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(5) Phối hợp thể chế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(6) Nhận thức xã hội về quyền SHTT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44400" y="2754000"/>
            <a:ext cx="360000" cy="0"/>
          </a:xfrm>
          <a:prstGeom prst="line">
            <a:avLst/>
          </a:prstGeom>
          <a:ln w="25400">
            <a:solidFill>
              <a:srgbClr val="44444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304400" y="1224000"/>
            <a:ext cx="3584400" cy="306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NỘI DUNG QLNN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VỀ QUYỀN SHTT</a:t>
            </a:r>
          </a:p>
          <a:p>
            <a:pPr algn="ctr">
              <a:spcBef>
                <a:spcPts val="600"/>
              </a:spcBef>
              <a:spcAft>
                <a:spcPts val="100"/>
              </a:spcAft>
            </a:p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(1) Hoạch định chính sách,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chiến lược quyền SHTT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(2) Xây dựng và hoàn thiện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hệ thống pháp luật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(3) Tổ chức bộ máy quản lý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(4) Thanh tra, kiểm tra,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xử lý vi phạm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(5) Ứng dụng công nghệ số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trong quản lý quyền SHTT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88800" y="2754000"/>
            <a:ext cx="360000" cy="0"/>
          </a:xfrm>
          <a:prstGeom prst="line">
            <a:avLst/>
          </a:prstGeom>
          <a:ln w="25400">
            <a:solidFill>
              <a:srgbClr val="44444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48800" y="1224000"/>
            <a:ext cx="3584400" cy="306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HIỆU QUẢ QLNN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VỀ QUYỀN SHTT</a:t>
            </a:r>
          </a:p>
          <a:p>
            <a:pPr algn="ctr">
              <a:spcBef>
                <a:spcPts val="600"/>
              </a:spcBef>
              <a:spcAft>
                <a:spcPts val="100"/>
              </a:spcAft>
            </a:p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(1) Hiệu lực thực thi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pháp luật về quyền SHTT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(2) Bảo vệ quyền SHTT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trên không gian số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(3) Tính minh bạch,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công khai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(4) Mức độ hài lòng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của chủ thể quyền SHTT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(5) Khả năng thích ứng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     với công nghệ mới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41000" y="4284000"/>
            <a:ext cx="0" cy="180000"/>
          </a:xfrm>
          <a:prstGeom prst="line">
            <a:avLst/>
          </a:prstGeom>
          <a:ln w="22860">
            <a:solidFill>
              <a:srgbClr val="44444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60000" y="4464000"/>
            <a:ext cx="11473200" cy="1007999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KẾT QUẢ VÀ TÁC ĐỘNG</a:t>
            </a:r>
          </a:p>
          <a:p>
            <a:pPr algn="ctr">
              <a:spcBef>
                <a:spcPts val="500"/>
              </a:spcBef>
              <a:spcAft>
                <a:spcPts val="100"/>
              </a:spcAft>
            </a:p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(1) Thúc đẩy đổi mới sáng tạo, phát triển kinh tế tri thức          (2) Phát triển kinh tế số bền vững, đảm bảo công bằng số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(3) Bảo vệ quyền lợi hợp pháp của chủ thể sáng tạo          (4) Nâng cao năng lực cạnh tranh quốc gia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(5) Thu hút đầu tư nước ngoài và thúc đẩy chuyển giao công nghệ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600" y="5472000"/>
            <a:ext cx="0" cy="144000"/>
          </a:xfrm>
          <a:prstGeom prst="line">
            <a:avLst/>
          </a:prstGeom>
          <a:ln w="22860">
            <a:solidFill>
              <a:srgbClr val="44444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0000" y="5616000"/>
            <a:ext cx="11473200" cy="720000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>
              <a:spcBef>
                <a:spcPts val="400"/>
              </a:spcBef>
              <a:spcAft>
                <a:spcPts val="100"/>
              </a:spcAft>
            </a:p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1">
                <a:solidFill>
                  <a:srgbClr val="444444"/>
                </a:solidFill>
                <a:latin typeface="Times New Roman"/>
              </a:rPr>
              <a:t>Thực tiễn thực thi  →  Đánh giá, tổng kết kết quả  →  Điều chỉnh chính sách  →  Hoàn thiện QLNN về quyền SHTT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08000" y="5976000"/>
            <a:ext cx="252000" cy="0"/>
          </a:xfrm>
          <a:prstGeom prst="line">
            <a:avLst/>
          </a:prstGeom>
          <a:ln w="15240">
            <a:solidFill>
              <a:srgbClr val="666666"/>
            </a:solidFill>
            <a:prstDash val="sysDash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8000" y="2754000"/>
            <a:ext cx="0" cy="3222000"/>
          </a:xfrm>
          <a:prstGeom prst="line">
            <a:avLst/>
          </a:prstGeom>
          <a:ln w="15240">
            <a:solidFill>
              <a:srgbClr val="666666"/>
            </a:solidFill>
            <a:prstDash val="sysDash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8000" y="2754000"/>
            <a:ext cx="252000" cy="0"/>
          </a:xfrm>
          <a:prstGeom prst="line">
            <a:avLst/>
          </a:prstGeom>
          <a:ln w="15240">
            <a:solidFill>
              <a:srgbClr val="666666"/>
            </a:solidFill>
            <a:prstDash val="sysDash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-684000" y="4770000"/>
            <a:ext cx="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777777"/>
                </a:solidFill>
                <a:latin typeface="Times New Roman"/>
              </a:rPr>
              <a:t>phản hồi
chính sách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6408000"/>
            <a:ext cx="11473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Times New Roman"/>
              </a:rPr>
              <a:t>Nguồn: Tác giả tự xây dựng trên cơ sở tổng quan lý thuyết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